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 id="2147483672" r:id="rId3"/>
  </p:sldMasterIdLst>
  <p:notesMasterIdLst>
    <p:notesMasterId r:id="rId35"/>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8288000" cy="10287000"/>
  <p:notesSz cx="6858000" cy="9144000"/>
  <p:embeddedFontLst>
    <p:embeddedFont>
      <p:font typeface="Cambria Math" panose="02040503050406030204" pitchFamily="18" charset="0"/>
      <p:regular r:id="rId36"/>
    </p:embeddedFont>
    <p:embeddedFont>
      <p:font typeface="Canva Sans" panose="020B0604020202020204" charset="0"/>
      <p:regular r:id="rId37"/>
    </p:embeddedFont>
    <p:embeddedFont>
      <p:font typeface="Canva Sans Bold" panose="020B0604020202020204" charset="0"/>
      <p:regular r:id="rId38"/>
    </p:embeddedFont>
    <p:embeddedFont>
      <p:font typeface="Times New Roman Bold" panose="02020803070505020304" pitchFamily="18" charset="0"/>
      <p:regular r:id="rId39"/>
      <p:bold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758FB7-9AC5-4552-8A53-C91805E547F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2" autoAdjust="0"/>
  </p:normalViewPr>
  <p:slideViewPr>
    <p:cSldViewPr>
      <p:cViewPr varScale="1">
        <p:scale>
          <a:sx n="52" d="100"/>
          <a:sy n="52" d="100"/>
        </p:scale>
        <p:origin x="87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4.fntdata"/><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2.fntdata"/><Relationship Id="rId40" Type="http://schemas.openxmlformats.org/officeDocument/2006/relationships/font" Target="fonts/font5.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1.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a:t>23.03.2026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26A157-C681-6A1A-C0B8-3D8144473C0A}"/>
              </a:ext>
            </a:extLst>
          </p:cNvPr>
          <p:cNvSpPr>
            <a:spLocks noGrp="1"/>
          </p:cNvSpPr>
          <p:nvPr>
            <p:ph type="dt" sz="half" idx="10"/>
          </p:nvPr>
        </p:nvSpPr>
        <p:spPr/>
        <p:txBody>
          <a:bodyPr/>
          <a:lstStyle/>
          <a:p>
            <a:fld id="{54DEACAD-47AC-43B5-9E14-521094670AF4}" type="datetimeFigureOut">
              <a:rPr lang="en-IN"/>
              <a:t>23-03-2026</a:t>
            </a:fld>
            <a:endParaRPr lang="en-IN"/>
          </a:p>
        </p:txBody>
      </p:sp>
      <p:sp>
        <p:nvSpPr>
          <p:cNvPr id="3" name="Footer Placeholder 2">
            <a:extLst>
              <a:ext uri="{FF2B5EF4-FFF2-40B4-BE49-F238E27FC236}">
                <a16:creationId xmlns:a16="http://schemas.microsoft.com/office/drawing/2014/main" id="{74B6E58E-D8C0-3E16-F756-1FC9FE828F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953F511-67BE-DC7A-6601-7A273C870899}"/>
              </a:ext>
            </a:extLst>
          </p:cNvPr>
          <p:cNvSpPr>
            <a:spLocks noGrp="1"/>
          </p:cNvSpPr>
          <p:nvPr>
            <p:ph type="sldNum" sz="quarter" idx="12"/>
          </p:nvPr>
        </p:nvSpPr>
        <p:spPr/>
        <p:txBody>
          <a:bodyPr/>
          <a:lstStyle/>
          <a:p>
            <a:fld id="{90A3E3D6-6347-4E4D-8355-E7E6E58F1263}" type="slidenum">
              <a:rPr lang="en-IN"/>
              <a:t>‹#›</a:t>
            </a:fld>
            <a:endParaRPr lang="en-IN"/>
          </a:p>
        </p:txBody>
      </p:sp>
    </p:spTree>
    <p:extLst>
      <p:ext uri="{BB962C8B-B14F-4D97-AF65-F5344CB8AC3E}">
        <p14:creationId xmlns:p14="http://schemas.microsoft.com/office/powerpoint/2010/main" val="864036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65006D-D3A3-9AF4-BF1A-36DB2B2E848E}"/>
              </a:ext>
            </a:extLst>
          </p:cNvPr>
          <p:cNvSpPr>
            <a:spLocks noGrp="1"/>
          </p:cNvSpPr>
          <p:nvPr>
            <p:ph type="title"/>
          </p:nvPr>
        </p:nvSpPr>
        <p:spPr>
          <a:xfrm>
            <a:off x="1257300" y="547687"/>
            <a:ext cx="15773400" cy="1988344"/>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9BD13F-6AE5-E911-EA07-355BB777E3BF}"/>
              </a:ext>
            </a:extLst>
          </p:cNvPr>
          <p:cNvSpPr>
            <a:spLocks noGrp="1"/>
          </p:cNvSpPr>
          <p:nvPr>
            <p:ph type="body" idx="1"/>
          </p:nvPr>
        </p:nvSpPr>
        <p:spPr>
          <a:xfrm>
            <a:off x="1257300" y="2738437"/>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B99728-BE62-2F87-0DD2-398D23E04081}"/>
              </a:ext>
            </a:extLst>
          </p:cNvPr>
          <p:cNvSpPr>
            <a:spLocks noGrp="1"/>
          </p:cNvSpPr>
          <p:nvPr>
            <p:ph type="dt" sz="half" idx="2"/>
          </p:nvPr>
        </p:nvSpPr>
        <p:spPr>
          <a:xfrm>
            <a:off x="1257300" y="9534525"/>
            <a:ext cx="4114800" cy="547687"/>
          </a:xfrm>
          <a:prstGeom prst="rect">
            <a:avLst/>
          </a:prstGeom>
        </p:spPr>
        <p:txBody>
          <a:bodyPr vert="horz" lIns="91440" tIns="45720" rIns="91440" bIns="45720" rtlCol="0" anchor="ctr"/>
          <a:lstStyle>
            <a:lvl1pPr algn="l">
              <a:defRPr sz="1800">
                <a:solidFill>
                  <a:schemeClr val="tx1">
                    <a:tint val="75000"/>
                  </a:schemeClr>
                </a:solidFill>
              </a:defRPr>
            </a:lvl1pPr>
          </a:lstStyle>
          <a:p>
            <a:fld id="{54DEACAD-47AC-43B5-9E14-521094670AF4}" type="datetimeFigureOut">
              <a:rPr lang="en-IN"/>
              <a:t>23-03-2026</a:t>
            </a:fld>
            <a:endParaRPr lang="en-IN"/>
          </a:p>
        </p:txBody>
      </p:sp>
      <p:sp>
        <p:nvSpPr>
          <p:cNvPr id="5" name="Footer Placeholder 4">
            <a:extLst>
              <a:ext uri="{FF2B5EF4-FFF2-40B4-BE49-F238E27FC236}">
                <a16:creationId xmlns:a16="http://schemas.microsoft.com/office/drawing/2014/main" id="{783C35CC-C1BA-8922-7CEA-B8FAE9DB0BC1}"/>
              </a:ext>
            </a:extLst>
          </p:cNvPr>
          <p:cNvSpPr>
            <a:spLocks noGrp="1"/>
          </p:cNvSpPr>
          <p:nvPr>
            <p:ph type="ftr" sz="quarter" idx="3"/>
          </p:nvPr>
        </p:nvSpPr>
        <p:spPr>
          <a:xfrm>
            <a:off x="6057900" y="9534525"/>
            <a:ext cx="6172200" cy="547687"/>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4F7BCD-8731-7585-6239-E7355648CAC1}"/>
              </a:ext>
            </a:extLst>
          </p:cNvPr>
          <p:cNvSpPr>
            <a:spLocks noGrp="1"/>
          </p:cNvSpPr>
          <p:nvPr>
            <p:ph type="sldNum" sz="quarter" idx="4"/>
          </p:nvPr>
        </p:nvSpPr>
        <p:spPr>
          <a:xfrm>
            <a:off x="12915900" y="9534525"/>
            <a:ext cx="4114800" cy="547687"/>
          </a:xfrm>
          <a:prstGeom prst="rect">
            <a:avLst/>
          </a:prstGeom>
        </p:spPr>
        <p:txBody>
          <a:bodyPr vert="horz" lIns="91440" tIns="45720" rIns="91440" bIns="45720" rtlCol="0" anchor="ctr"/>
          <a:lstStyle>
            <a:lvl1pPr algn="r">
              <a:defRPr sz="1800">
                <a:solidFill>
                  <a:schemeClr val="tx1">
                    <a:tint val="75000"/>
                  </a:schemeClr>
                </a:solidFill>
              </a:defRPr>
            </a:lvl1pPr>
          </a:lstStyle>
          <a:p>
            <a:fld id="{90A3E3D6-6347-4E4D-8355-E7E6E58F1263}" type="slidenum">
              <a:rPr lang="en-IN"/>
              <a:t>‹#›</a:t>
            </a:fld>
            <a:endParaRPr lang="en-IN"/>
          </a:p>
        </p:txBody>
      </p:sp>
    </p:spTree>
    <p:extLst>
      <p:ext uri="{BB962C8B-B14F-4D97-AF65-F5344CB8AC3E}">
        <p14:creationId xmlns:p14="http://schemas.microsoft.com/office/powerpoint/2010/main" val="1221343394"/>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914400" rtl="0" eaLnBrk="1" latinLnBrk="0" hangingPunct="1">
        <a:defRPr sz="2700" kern="1200">
          <a:solidFill>
            <a:schemeClr val="tx1"/>
          </a:solidFill>
          <a:latin typeface="+mn-lt"/>
          <a:ea typeface="+mn-ea"/>
          <a:cs typeface="+mn-cs"/>
        </a:defRPr>
      </a:lvl1pPr>
      <a:lvl2pPr marL="457200" algn="l" defTabSz="914400" rtl="0" eaLnBrk="1" latinLnBrk="0" hangingPunct="1">
        <a:defRPr sz="2700" kern="1200">
          <a:solidFill>
            <a:schemeClr val="tx1"/>
          </a:solidFill>
          <a:latin typeface="+mn-lt"/>
          <a:ea typeface="+mn-ea"/>
          <a:cs typeface="+mn-cs"/>
        </a:defRPr>
      </a:lvl2pPr>
      <a:lvl3pPr marL="914400" algn="l" defTabSz="914400" rtl="0" eaLnBrk="1" latinLnBrk="0" hangingPunct="1">
        <a:defRPr sz="2700" kern="1200">
          <a:solidFill>
            <a:schemeClr val="tx1"/>
          </a:solidFill>
          <a:latin typeface="+mn-lt"/>
          <a:ea typeface="+mn-ea"/>
          <a:cs typeface="+mn-cs"/>
        </a:defRPr>
      </a:lvl3pPr>
      <a:lvl4pPr marL="1371600" algn="l" defTabSz="914400" rtl="0" eaLnBrk="1" latinLnBrk="0" hangingPunct="1">
        <a:defRPr sz="2700" kern="1200">
          <a:solidFill>
            <a:schemeClr val="tx1"/>
          </a:solidFill>
          <a:latin typeface="+mn-lt"/>
          <a:ea typeface="+mn-ea"/>
          <a:cs typeface="+mn-cs"/>
        </a:defRPr>
      </a:lvl4pPr>
      <a:lvl5pPr marL="1828800" algn="l" defTabSz="914400" rtl="0" eaLnBrk="1" latinLnBrk="0" hangingPunct="1">
        <a:defRPr sz="2700" kern="1200">
          <a:solidFill>
            <a:schemeClr val="tx1"/>
          </a:solidFill>
          <a:latin typeface="+mn-lt"/>
          <a:ea typeface="+mn-ea"/>
          <a:cs typeface="+mn-cs"/>
        </a:defRPr>
      </a:lvl5pPr>
      <a:lvl6pPr marL="2286000" algn="l" defTabSz="914400" rtl="0" eaLnBrk="1" latinLnBrk="0" hangingPunct="1">
        <a:defRPr sz="2700" kern="1200">
          <a:solidFill>
            <a:schemeClr val="tx1"/>
          </a:solidFill>
          <a:latin typeface="+mn-lt"/>
          <a:ea typeface="+mn-ea"/>
          <a:cs typeface="+mn-cs"/>
        </a:defRPr>
      </a:lvl6pPr>
      <a:lvl7pPr marL="2743200" algn="l" defTabSz="914400" rtl="0" eaLnBrk="1" latinLnBrk="0" hangingPunct="1">
        <a:defRPr sz="2700" kern="1200">
          <a:solidFill>
            <a:schemeClr val="tx1"/>
          </a:solidFill>
          <a:latin typeface="+mn-lt"/>
          <a:ea typeface="+mn-ea"/>
          <a:cs typeface="+mn-cs"/>
        </a:defRPr>
      </a:lvl7pPr>
      <a:lvl8pPr marL="3200400" algn="l" defTabSz="914400" rtl="0" eaLnBrk="1" latinLnBrk="0" hangingPunct="1">
        <a:defRPr sz="2700" kern="1200">
          <a:solidFill>
            <a:schemeClr val="tx1"/>
          </a:solidFill>
          <a:latin typeface="+mn-lt"/>
          <a:ea typeface="+mn-ea"/>
          <a:cs typeface="+mn-cs"/>
        </a:defRPr>
      </a:lvl8pPr>
      <a:lvl9pPr marL="3657600" algn="l" defTabSz="9144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Excel_Worksheet.xlsx"/></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cf5510b39256434e" Type="http://schemas.openxmlformats.org/officeDocument/2006/relationships/image" Target="../media/image3.png"/><Relationship Id="R7a935045af8d420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8bd70968d6fe458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0ebba8d6b6244d7b"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 Id="Rca8a5df6c9094262"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94bcd5b0b2cd43a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0ffbb463c92544f4" Type="http://schemas.openxmlformats.org/officeDocument/2006/relationships/image" Target="../media/image14.png"/><Relationship Id="R00be9bf05d894aca"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2.xml"/><Relationship Id="R50a15aca50994e45" Type="http://schemas.openxmlformats.org/officeDocument/2006/relationships/image" Target="../media/image13.png"/></Relationships>
</file>

<file path=ppt/slides/_rels/slide17.xml.rels><?xml version="1.0" encoding="UTF-8" standalone="yes"?>
<Relationships xmlns="http://schemas.openxmlformats.org/package/2006/relationships"><Relationship Id="R9d987d66edf9472e"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2.xml"/><Relationship Id="Rd3c497e60ecf40c0"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6fc5f7bffca8460f"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5050327ced8f4387"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2fd59e8df1934053" Type="http://schemas.openxmlformats.org/officeDocument/2006/relationships/image" Target="../media/image22.png"/><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2.xml"/><Relationship Id="Re9fac5db664b4906" Type="http://schemas.openxmlformats.org/officeDocument/2006/relationships/image" Target="../media/image21.png"/></Relationships>
</file>

<file path=ppt/slides/_rels/slide21.xml.rels><?xml version="1.0" encoding="UTF-8" standalone="yes"?>
<Relationships xmlns="http://schemas.openxmlformats.org/package/2006/relationships"><Relationship Id="R863b0be723a743a1" Type="http://schemas.openxmlformats.org/officeDocument/2006/relationships/image" Target="../media/image24.png"/><Relationship Id="rId3"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c70e4db33434464b" Type="http://schemas.openxmlformats.org/officeDocument/2006/relationships/image" Target="../media/image27.png"/><Relationship Id="rId2" Type="http://schemas.openxmlformats.org/officeDocument/2006/relationships/image" Target="../media/image6.png"/><Relationship Id="rId1" Type="http://schemas.openxmlformats.org/officeDocument/2006/relationships/slideLayout" Target="../slideLayouts/slideLayout2.xml"/><Relationship Id="R2b284fbd336c4d66"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2.xml"/><Relationship Id="R067f47ab8afa4486" Type="http://schemas.openxmlformats.org/officeDocument/2006/relationships/image" Target="../media/image29.png"/><Relationship Id="R54c8fd46866d4a69"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3.png"/><Relationship Id="rId7" Type="http://schemas.openxmlformats.org/officeDocument/2006/relationships/image" Target="../media/image39.pn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3.png"/><Relationship Id="rId7" Type="http://schemas.openxmlformats.org/officeDocument/2006/relationships/image" Target="../media/image43.pn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4.png"/><Relationship Id="rId9"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48.pn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830999"/>
            <a:ext cx="13716000" cy="617209"/>
            <a:chOff x="0" y="0"/>
            <a:chExt cx="18288000" cy="822945"/>
          </a:xfrm>
        </p:grpSpPr>
        <p:sp>
          <p:nvSpPr>
            <p:cNvPr id="3" name="Freeform 3"/>
            <p:cNvSpPr/>
            <p:nvPr/>
          </p:nvSpPr>
          <p:spPr>
            <a:xfrm>
              <a:off x="0" y="0"/>
              <a:ext cx="18288000" cy="822958"/>
            </a:xfrm>
            <a:custGeom>
              <a:avLst/>
              <a:gdLst/>
              <a:ahLst/>
              <a:cxnLst/>
              <a:rect l="l" t="t" r="r" b="b"/>
              <a:pathLst>
                <a:path w="18288000" h="822958">
                  <a:moveTo>
                    <a:pt x="0" y="0"/>
                  </a:moveTo>
                  <a:lnTo>
                    <a:pt x="18288000" y="0"/>
                  </a:lnTo>
                  <a:lnTo>
                    <a:pt x="18288000" y="822958"/>
                  </a:lnTo>
                  <a:lnTo>
                    <a:pt x="0" y="822958"/>
                  </a:lnTo>
                  <a:close/>
                </a:path>
              </a:pathLst>
            </a:custGeom>
            <a:solidFill>
              <a:srgbClr val="E59EDD">
                <a:alpha val="27059"/>
              </a:srgbClr>
            </a:solidFill>
            <a:ln w="12700">
              <a:solidFill>
                <a:srgbClr val="000000"/>
              </a:solidFill>
            </a:ln>
          </p:spPr>
        </p:sp>
        <p:sp>
          <p:nvSpPr>
            <p:cNvPr id="4" name="TextBox 4"/>
            <p:cNvSpPr txBox="1"/>
            <p:nvPr/>
          </p:nvSpPr>
          <p:spPr>
            <a:xfrm>
              <a:off x="0" y="-19050"/>
              <a:ext cx="18288000" cy="841995"/>
            </a:xfrm>
            <a:prstGeom prst="rect">
              <a:avLst/>
            </a:prstGeom>
          </p:spPr>
          <p:txBody>
            <a:bodyPr lIns="50800" tIns="50800" rIns="50800" bIns="50800" rtlCol="0" anchor="t"/>
            <a:lstStyle/>
            <a:p>
              <a:pPr algn="ctr">
                <a:lnSpc>
                  <a:spcPts val="3240"/>
                </a:lnSpc>
              </a:pPr>
              <a:r>
                <a:rPr lang="en-US" sz="2700" b="1">
                  <a:solidFill>
                    <a:srgbClr val="000000"/>
                  </a:solidFill>
                  <a:latin typeface="Times New Roman Bold"/>
                  <a:ea typeface="Times New Roman Bold"/>
                  <a:cs typeface="Times New Roman Bold"/>
                  <a:sym typeface="Times New Roman Bold"/>
                </a:rPr>
                <a:t> 3Φ Induction Motor</a:t>
              </a:r>
            </a:p>
          </p:txBody>
        </p:sp>
      </p:grpSp>
      <p:grpSp>
        <p:nvGrpSpPr>
          <p:cNvPr id="5" name="Group 5"/>
          <p:cNvGrpSpPr/>
          <p:nvPr/>
        </p:nvGrpSpPr>
        <p:grpSpPr>
          <a:xfrm>
            <a:off x="2286000" y="1"/>
            <a:ext cx="13716000" cy="747998"/>
            <a:chOff x="0" y="0"/>
            <a:chExt cx="18288000" cy="997331"/>
          </a:xfrm>
        </p:grpSpPr>
        <p:sp>
          <p:nvSpPr>
            <p:cNvPr id="6" name="Freeform 6"/>
            <p:cNvSpPr/>
            <p:nvPr/>
          </p:nvSpPr>
          <p:spPr>
            <a:xfrm>
              <a:off x="0" y="0"/>
              <a:ext cx="18288000" cy="997331"/>
            </a:xfrm>
            <a:custGeom>
              <a:avLst/>
              <a:gdLst/>
              <a:ahLst/>
              <a:cxnLst/>
              <a:rect l="l" t="t" r="r" b="b"/>
              <a:pathLst>
                <a:path w="18288000" h="997331">
                  <a:moveTo>
                    <a:pt x="0" y="0"/>
                  </a:moveTo>
                  <a:lnTo>
                    <a:pt x="18288000" y="0"/>
                  </a:lnTo>
                  <a:lnTo>
                    <a:pt x="18288000" y="997331"/>
                  </a:lnTo>
                  <a:lnTo>
                    <a:pt x="0" y="997331"/>
                  </a:lnTo>
                  <a:close/>
                </a:path>
              </a:pathLst>
            </a:custGeom>
            <a:solidFill>
              <a:srgbClr val="E97132"/>
            </a:solidFill>
            <a:ln w="12700">
              <a:solidFill>
                <a:srgbClr val="000000"/>
              </a:solidFill>
            </a:ln>
          </p:spPr>
        </p:sp>
        <p:sp>
          <p:nvSpPr>
            <p:cNvPr id="7" name="TextBox 7"/>
            <p:cNvSpPr txBox="1"/>
            <p:nvPr/>
          </p:nvSpPr>
          <p:spPr>
            <a:xfrm>
              <a:off x="0" y="-200025"/>
              <a:ext cx="18288000" cy="1197356"/>
            </a:xfrm>
            <a:prstGeom prst="rect">
              <a:avLst/>
            </a:prstGeom>
          </p:spPr>
          <p:txBody>
            <a:bodyPr lIns="50800" tIns="50800" rIns="50800" bIns="50800" rtlCol="0" anchor="t"/>
            <a:lstStyle/>
            <a:p>
              <a:pPr algn="ctr">
                <a:lnSpc>
                  <a:spcPts val="5400"/>
                </a:lnSpc>
              </a:pPr>
              <a:r>
                <a:rPr lang="en-US" sz="3000" b="1">
                  <a:solidFill>
                    <a:srgbClr val="EEECE1"/>
                  </a:solidFill>
                  <a:latin typeface="Times New Roman Bold"/>
                  <a:ea typeface="Times New Roman Bold"/>
                  <a:cs typeface="Times New Roman Bold"/>
                  <a:sym typeface="Times New Roman Bold"/>
                </a:rPr>
                <a:t>SECTION : I</a:t>
              </a:r>
            </a:p>
          </p:txBody>
        </p:sp>
      </p:grpSp>
      <p:sp>
        <p:nvSpPr>
          <p:cNvPr id="11" name="Freeform 11"/>
          <p:cNvSpPr/>
          <p:nvPr/>
        </p:nvSpPr>
        <p:spPr>
          <a:xfrm>
            <a:off x="15001875" y="101184"/>
            <a:ext cx="1000125" cy="1000125"/>
          </a:xfrm>
          <a:custGeom>
            <a:avLst/>
            <a:gdLst/>
            <a:ahLst/>
            <a:cxnLst/>
            <a:rect l="l" t="t" r="r" b="b"/>
            <a:pathLst>
              <a:path w="1000125" h="1000125">
                <a:moveTo>
                  <a:pt x="0" y="0"/>
                </a:moveTo>
                <a:lnTo>
                  <a:pt x="1000125" y="0"/>
                </a:lnTo>
                <a:lnTo>
                  <a:pt x="1000125" y="1000125"/>
                </a:lnTo>
                <a:lnTo>
                  <a:pt x="0" y="1000125"/>
                </a:lnTo>
                <a:lnTo>
                  <a:pt x="0" y="0"/>
                </a:lnTo>
                <a:close/>
              </a:path>
            </a:pathLst>
          </a:custGeom>
          <a:blipFill>
            <a:blip r:embed="rId3"/>
            <a:stretch>
              <a:fillRect/>
            </a:stretch>
          </a:blipFill>
        </p:spPr>
      </p:sp>
      <p:sp>
        <p:nvSpPr>
          <p:cNvPr id="13" name="TextBox 13"/>
          <p:cNvSpPr txBox="1"/>
          <p:nvPr/>
        </p:nvSpPr>
        <p:spPr>
          <a:xfrm>
            <a:off x="2506603" y="1710316"/>
            <a:ext cx="13896344" cy="3604785"/>
          </a:xfrm>
          <a:prstGeom prst="rect">
            <a:avLst/>
          </a:prstGeom>
        </p:spPr>
        <p:txBody>
          <a:bodyPr lIns="0" tIns="0" rIns="0" bIns="0" rtlCol="0" anchor="t">
            <a:spAutoFit/>
          </a:bodyPr>
          <a:lstStyle/>
          <a:p>
            <a:pPr algn="l">
              <a:lnSpc>
                <a:spcPts val="3164"/>
              </a:lnSpc>
            </a:pPr>
            <a:r>
              <a:rPr lang="en-US" sz="2728">
                <a:solidFill>
                  <a:srgbClr val="000000"/>
                </a:solidFill>
                <a:latin typeface="Canva Sans"/>
                <a:ea typeface="Canva Sans"/>
                <a:cs typeface="Canva Sans"/>
                <a:sym typeface="Canva Sans"/>
              </a:rPr>
              <a:t>1.A machine which converts electrical energy into mechanical energy is called an induction motor.</a:t>
            </a:r>
          </a:p>
          <a:p>
            <a:pPr algn="l">
              <a:lnSpc>
                <a:spcPts val="3164"/>
              </a:lnSpc>
            </a:pPr>
            <a:r>
              <a:rPr lang="en-US" sz="2728">
                <a:solidFill>
                  <a:srgbClr val="000000"/>
                </a:solidFill>
                <a:latin typeface="Canva Sans"/>
                <a:ea typeface="Canva Sans"/>
                <a:cs typeface="Canva Sans"/>
                <a:sym typeface="Canva Sans"/>
              </a:rPr>
              <a:t>2.IM can operated two modes </a:t>
            </a:r>
          </a:p>
          <a:p>
            <a:pPr algn="l">
              <a:lnSpc>
                <a:spcPts val="3164"/>
              </a:lnSpc>
            </a:pPr>
            <a:r>
              <a:rPr lang="en-US" sz="2728">
                <a:solidFill>
                  <a:srgbClr val="000000"/>
                </a:solidFill>
                <a:latin typeface="Canva Sans"/>
                <a:ea typeface="Canva Sans"/>
                <a:cs typeface="Canva Sans"/>
                <a:sym typeface="Canva Sans"/>
              </a:rPr>
              <a:t>              a)Motoring mode (N&lt;Ns)</a:t>
            </a:r>
          </a:p>
          <a:p>
            <a:pPr algn="l">
              <a:lnSpc>
                <a:spcPts val="3164"/>
              </a:lnSpc>
            </a:pPr>
            <a:r>
              <a:rPr lang="en-US" sz="2728">
                <a:solidFill>
                  <a:srgbClr val="000000"/>
                </a:solidFill>
                <a:latin typeface="Canva Sans"/>
                <a:ea typeface="Canva Sans"/>
                <a:cs typeface="Canva Sans"/>
                <a:sym typeface="Canva Sans"/>
              </a:rPr>
              <a:t>              b)Generating mode (N&gt;Ns)</a:t>
            </a:r>
          </a:p>
          <a:p>
            <a:pPr algn="l">
              <a:lnSpc>
                <a:spcPts val="3164"/>
              </a:lnSpc>
            </a:pPr>
            <a:r>
              <a:rPr lang="en-US" sz="2728">
                <a:solidFill>
                  <a:srgbClr val="000000"/>
                </a:solidFill>
                <a:latin typeface="Canva Sans"/>
                <a:ea typeface="Canva Sans"/>
                <a:cs typeface="Canva Sans"/>
                <a:sym typeface="Canva Sans"/>
              </a:rPr>
              <a:t>3.IM is called Asynchronous speed.At ‘Ns’ it cann’t convet any electrical power or</a:t>
            </a:r>
          </a:p>
          <a:p>
            <a:pPr algn="l">
              <a:lnSpc>
                <a:spcPts val="3164"/>
              </a:lnSpc>
            </a:pPr>
            <a:r>
              <a:rPr lang="en-US" sz="2728">
                <a:solidFill>
                  <a:srgbClr val="000000"/>
                </a:solidFill>
                <a:latin typeface="Canva Sans"/>
                <a:ea typeface="Canva Sans"/>
                <a:cs typeface="Canva Sans"/>
                <a:sym typeface="Canva Sans"/>
              </a:rPr>
              <a:t>mechanical power.</a:t>
            </a:r>
          </a:p>
          <a:p>
            <a:pPr algn="l">
              <a:lnSpc>
                <a:spcPts val="3164"/>
              </a:lnSpc>
            </a:pPr>
            <a:r>
              <a:rPr lang="en-US" sz="2728">
                <a:solidFill>
                  <a:srgbClr val="000000"/>
                </a:solidFill>
                <a:latin typeface="Canva Sans"/>
                <a:ea typeface="Canva Sans"/>
                <a:cs typeface="Canva Sans"/>
                <a:sym typeface="Canva Sans"/>
              </a:rPr>
              <a:t>4.By synchronous m/c can produce electrical power or mech power only at Ns system.</a:t>
            </a:r>
          </a:p>
        </p:txBody>
      </p:sp>
      <p:graphicFrame>
        <p:nvGraphicFramePr>
          <p:cNvPr id="26" name="Table 25">
            <a:extLst>
              <a:ext uri="{FF2B5EF4-FFF2-40B4-BE49-F238E27FC236}">
                <a16:creationId xmlns:a16="http://schemas.microsoft.com/office/drawing/2014/main" id="{886E4277-6FA3-1378-70A5-EC460B13B930}"/>
              </a:ext>
            </a:extLst>
          </p:cNvPr>
          <p:cNvGraphicFramePr>
            <a:graphicFrameLocks noGrp="1"/>
          </p:cNvGraphicFramePr>
          <p:nvPr>
            <p:extLst>
              <p:ext uri="{D42A27DB-BD31-4B8C-83A1-F6EECF244321}">
                <p14:modId xmlns:p14="http://schemas.microsoft.com/office/powerpoint/2010/main" val="2657041494"/>
              </p:ext>
            </p:extLst>
          </p:nvPr>
        </p:nvGraphicFramePr>
        <p:xfrm>
          <a:off x="4495800" y="5707825"/>
          <a:ext cx="8229600" cy="365760"/>
        </p:xfrm>
        <a:graphic>
          <a:graphicData uri="http://schemas.openxmlformats.org/drawingml/2006/table">
            <a:tbl>
              <a:tblPr/>
              <a:tblGrid>
                <a:gridCol w="4114800">
                  <a:extLst>
                    <a:ext uri="{9D8B030D-6E8A-4147-A177-3AD203B41FA5}">
                      <a16:colId xmlns:a16="http://schemas.microsoft.com/office/drawing/2014/main" val="3714091748"/>
                    </a:ext>
                  </a:extLst>
                </a:gridCol>
                <a:gridCol w="4114800">
                  <a:extLst>
                    <a:ext uri="{9D8B030D-6E8A-4147-A177-3AD203B41FA5}">
                      <a16:colId xmlns:a16="http://schemas.microsoft.com/office/drawing/2014/main" val="3011815984"/>
                    </a:ext>
                  </a:extLst>
                </a:gridCol>
              </a:tblGrid>
              <a:tr h="0">
                <a:tc>
                  <a:txBody>
                    <a:bodyPr/>
                    <a:lstStyle/>
                    <a:p>
                      <a:pPr>
                        <a:buNone/>
                      </a:pPr>
                      <a:r>
                        <a:rPr lang="en-IN" dirty="0"/>
                        <a:t>T/F (Transformer)</a:t>
                      </a:r>
                    </a:p>
                  </a:txBody>
                  <a:tcPr anchor="ctr">
                    <a:lnL>
                      <a:noFill/>
                    </a:lnL>
                    <a:lnR>
                      <a:noFill/>
                    </a:lnR>
                    <a:lnT>
                      <a:noFill/>
                    </a:lnT>
                    <a:lnB>
                      <a:noFill/>
                    </a:lnB>
                    <a:noFill/>
                  </a:tcPr>
                </a:tc>
                <a:tc>
                  <a:txBody>
                    <a:bodyPr/>
                    <a:lstStyle/>
                    <a:p>
                      <a:pPr>
                        <a:buNone/>
                      </a:pPr>
                      <a:r>
                        <a:rPr lang="en-IN" dirty="0"/>
                        <a:t>I.M (Induction Motor)</a:t>
                      </a:r>
                    </a:p>
                  </a:txBody>
                  <a:tcPr anchor="ctr">
                    <a:lnL>
                      <a:noFill/>
                    </a:lnL>
                    <a:lnR>
                      <a:noFill/>
                    </a:lnR>
                    <a:lnT>
                      <a:noFill/>
                    </a:lnT>
                    <a:lnB>
                      <a:noFill/>
                    </a:lnB>
                    <a:noFill/>
                  </a:tcPr>
                </a:tc>
                <a:extLst>
                  <a:ext uri="{0D108BD9-81ED-4DB2-BD59-A6C34878D82A}">
                    <a16:rowId xmlns:a16="http://schemas.microsoft.com/office/drawing/2014/main" val="2524545152"/>
                  </a:ext>
                </a:extLst>
              </a:tr>
            </a:tbl>
          </a:graphicData>
        </a:graphic>
      </p:graphicFrame>
      <p:graphicFrame>
        <p:nvGraphicFramePr>
          <p:cNvPr id="27" name="Table 26">
            <a:extLst>
              <a:ext uri="{FF2B5EF4-FFF2-40B4-BE49-F238E27FC236}">
                <a16:creationId xmlns:a16="http://schemas.microsoft.com/office/drawing/2014/main" id="{F90EC914-30F1-F2F6-FB2E-CAB2EC12BC73}"/>
              </a:ext>
            </a:extLst>
          </p:cNvPr>
          <p:cNvGraphicFramePr>
            <a:graphicFrameLocks noGrp="1"/>
          </p:cNvGraphicFramePr>
          <p:nvPr>
            <p:extLst>
              <p:ext uri="{D42A27DB-BD31-4B8C-83A1-F6EECF244321}">
                <p14:modId xmlns:p14="http://schemas.microsoft.com/office/powerpoint/2010/main" val="2011782390"/>
              </p:ext>
            </p:extLst>
          </p:nvPr>
        </p:nvGraphicFramePr>
        <p:xfrm>
          <a:off x="3591232" y="6465080"/>
          <a:ext cx="8229600" cy="365760"/>
        </p:xfrm>
        <a:graphic>
          <a:graphicData uri="http://schemas.openxmlformats.org/drawingml/2006/table">
            <a:tbl>
              <a:tblPr/>
              <a:tblGrid>
                <a:gridCol w="4114800">
                  <a:extLst>
                    <a:ext uri="{9D8B030D-6E8A-4147-A177-3AD203B41FA5}">
                      <a16:colId xmlns:a16="http://schemas.microsoft.com/office/drawing/2014/main" val="273982860"/>
                    </a:ext>
                  </a:extLst>
                </a:gridCol>
                <a:gridCol w="4114800">
                  <a:extLst>
                    <a:ext uri="{9D8B030D-6E8A-4147-A177-3AD203B41FA5}">
                      <a16:colId xmlns:a16="http://schemas.microsoft.com/office/drawing/2014/main" val="3981151803"/>
                    </a:ext>
                  </a:extLst>
                </a:gridCol>
              </a:tblGrid>
              <a:tr h="0">
                <a:tc>
                  <a:txBody>
                    <a:bodyPr/>
                    <a:lstStyle/>
                    <a:p>
                      <a:pPr>
                        <a:buNone/>
                      </a:pPr>
                      <a:r>
                        <a:rPr lang="en-IN"/>
                        <a:t>1) Stator winding (Primary)</a:t>
                      </a:r>
                    </a:p>
                  </a:txBody>
                  <a:tcPr anchor="ctr">
                    <a:lnL>
                      <a:noFill/>
                    </a:lnL>
                    <a:lnR>
                      <a:noFill/>
                    </a:lnR>
                    <a:lnT>
                      <a:noFill/>
                    </a:lnT>
                    <a:lnB>
                      <a:noFill/>
                    </a:lnB>
                    <a:noFill/>
                  </a:tcPr>
                </a:tc>
                <a:tc>
                  <a:txBody>
                    <a:bodyPr/>
                    <a:lstStyle/>
                    <a:p>
                      <a:pPr>
                        <a:buNone/>
                      </a:pPr>
                      <a:r>
                        <a:rPr lang="en-US" dirty="0"/>
                        <a:t>1) The rotor winding (secondary winding)</a:t>
                      </a:r>
                    </a:p>
                  </a:txBody>
                  <a:tcPr anchor="ctr">
                    <a:lnL>
                      <a:noFill/>
                    </a:lnL>
                    <a:lnR>
                      <a:noFill/>
                    </a:lnR>
                    <a:lnT>
                      <a:noFill/>
                    </a:lnT>
                    <a:lnB>
                      <a:noFill/>
                    </a:lnB>
                    <a:noFill/>
                  </a:tcPr>
                </a:tc>
                <a:extLst>
                  <a:ext uri="{0D108BD9-81ED-4DB2-BD59-A6C34878D82A}">
                    <a16:rowId xmlns:a16="http://schemas.microsoft.com/office/drawing/2014/main" val="1315552336"/>
                  </a:ext>
                </a:extLst>
              </a:tr>
            </a:tbl>
          </a:graphicData>
        </a:graphic>
      </p:graphicFrame>
      <p:graphicFrame>
        <p:nvGraphicFramePr>
          <p:cNvPr id="28" name="Table 27">
            <a:extLst>
              <a:ext uri="{FF2B5EF4-FFF2-40B4-BE49-F238E27FC236}">
                <a16:creationId xmlns:a16="http://schemas.microsoft.com/office/drawing/2014/main" id="{72EC7DD8-B9F2-9288-349E-BA625A1FE0CF}"/>
              </a:ext>
            </a:extLst>
          </p:cNvPr>
          <p:cNvGraphicFramePr>
            <a:graphicFrameLocks noGrp="1"/>
          </p:cNvGraphicFramePr>
          <p:nvPr>
            <p:extLst>
              <p:ext uri="{D42A27DB-BD31-4B8C-83A1-F6EECF244321}">
                <p14:modId xmlns:p14="http://schemas.microsoft.com/office/powerpoint/2010/main" val="3807711522"/>
              </p:ext>
            </p:extLst>
          </p:nvPr>
        </p:nvGraphicFramePr>
        <p:xfrm>
          <a:off x="3591232" y="7208816"/>
          <a:ext cx="8229600" cy="640080"/>
        </p:xfrm>
        <a:graphic>
          <a:graphicData uri="http://schemas.openxmlformats.org/drawingml/2006/table">
            <a:tbl>
              <a:tblPr/>
              <a:tblGrid>
                <a:gridCol w="4114800">
                  <a:extLst>
                    <a:ext uri="{9D8B030D-6E8A-4147-A177-3AD203B41FA5}">
                      <a16:colId xmlns:a16="http://schemas.microsoft.com/office/drawing/2014/main" val="1474734498"/>
                    </a:ext>
                  </a:extLst>
                </a:gridCol>
                <a:gridCol w="4114800">
                  <a:extLst>
                    <a:ext uri="{9D8B030D-6E8A-4147-A177-3AD203B41FA5}">
                      <a16:colId xmlns:a16="http://schemas.microsoft.com/office/drawing/2014/main" val="765407199"/>
                    </a:ext>
                  </a:extLst>
                </a:gridCol>
              </a:tblGrid>
              <a:tr h="0">
                <a:tc>
                  <a:txBody>
                    <a:bodyPr/>
                    <a:lstStyle/>
                    <a:p>
                      <a:pPr>
                        <a:buNone/>
                      </a:pPr>
                      <a:r>
                        <a:rPr lang="en-US" dirty="0"/>
                        <a:t>2) A.C generated to with short circuit rotating secondary</a:t>
                      </a:r>
                    </a:p>
                  </a:txBody>
                  <a:tcPr anchor="ctr">
                    <a:lnL>
                      <a:noFill/>
                    </a:lnL>
                    <a:lnR>
                      <a:noFill/>
                    </a:lnR>
                    <a:lnT>
                      <a:noFill/>
                    </a:lnT>
                    <a:lnB>
                      <a:noFill/>
                    </a:lnB>
                    <a:noFill/>
                  </a:tcPr>
                </a:tc>
                <a:tc>
                  <a:txBody>
                    <a:bodyPr/>
                    <a:lstStyle/>
                    <a:p>
                      <a:pPr>
                        <a:buNone/>
                      </a:pPr>
                      <a:r>
                        <a:rPr lang="en-US" dirty="0"/>
                        <a:t>2) Rotor is always rotating and always short </a:t>
                      </a:r>
                      <a:r>
                        <a:rPr lang="en-US" dirty="0" err="1"/>
                        <a:t>ckt</a:t>
                      </a:r>
                      <a:r>
                        <a:rPr lang="en-US" dirty="0"/>
                        <a:t>. short </a:t>
                      </a:r>
                      <a:r>
                        <a:rPr lang="en-US" dirty="0" err="1"/>
                        <a:t>ckt</a:t>
                      </a:r>
                      <a:r>
                        <a:rPr lang="en-US" dirty="0"/>
                        <a:t> rotating secondary</a:t>
                      </a:r>
                    </a:p>
                  </a:txBody>
                  <a:tcPr anchor="ctr">
                    <a:lnL>
                      <a:noFill/>
                    </a:lnL>
                    <a:lnR>
                      <a:noFill/>
                    </a:lnR>
                    <a:lnT>
                      <a:noFill/>
                    </a:lnT>
                    <a:lnB>
                      <a:noFill/>
                    </a:lnB>
                    <a:noFill/>
                  </a:tcPr>
                </a:tc>
                <a:extLst>
                  <a:ext uri="{0D108BD9-81ED-4DB2-BD59-A6C34878D82A}">
                    <a16:rowId xmlns:a16="http://schemas.microsoft.com/office/drawing/2014/main" val="1397217198"/>
                  </a:ext>
                </a:extLst>
              </a:tr>
            </a:tbl>
          </a:graphicData>
        </a:graphic>
      </p:graphicFrame>
      <p:graphicFrame>
        <p:nvGraphicFramePr>
          <p:cNvPr id="29" name="Table 28">
            <a:extLst>
              <a:ext uri="{FF2B5EF4-FFF2-40B4-BE49-F238E27FC236}">
                <a16:creationId xmlns:a16="http://schemas.microsoft.com/office/drawing/2014/main" id="{3DAC180F-3573-CCA2-C905-C44241806F6F}"/>
              </a:ext>
            </a:extLst>
          </p:cNvPr>
          <p:cNvGraphicFramePr>
            <a:graphicFrameLocks noGrp="1"/>
          </p:cNvGraphicFramePr>
          <p:nvPr>
            <p:extLst>
              <p:ext uri="{D42A27DB-BD31-4B8C-83A1-F6EECF244321}">
                <p14:modId xmlns:p14="http://schemas.microsoft.com/office/powerpoint/2010/main" val="308198566"/>
              </p:ext>
            </p:extLst>
          </p:nvPr>
        </p:nvGraphicFramePr>
        <p:xfrm>
          <a:off x="3591232" y="8151938"/>
          <a:ext cx="8229600" cy="640080"/>
        </p:xfrm>
        <a:graphic>
          <a:graphicData uri="http://schemas.openxmlformats.org/drawingml/2006/table">
            <a:tbl>
              <a:tblPr/>
              <a:tblGrid>
                <a:gridCol w="4114800">
                  <a:extLst>
                    <a:ext uri="{9D8B030D-6E8A-4147-A177-3AD203B41FA5}">
                      <a16:colId xmlns:a16="http://schemas.microsoft.com/office/drawing/2014/main" val="4075197480"/>
                    </a:ext>
                  </a:extLst>
                </a:gridCol>
                <a:gridCol w="4114800">
                  <a:extLst>
                    <a:ext uri="{9D8B030D-6E8A-4147-A177-3AD203B41FA5}">
                      <a16:colId xmlns:a16="http://schemas.microsoft.com/office/drawing/2014/main" val="2903348620"/>
                    </a:ext>
                  </a:extLst>
                </a:gridCol>
              </a:tblGrid>
              <a:tr h="0">
                <a:tc>
                  <a:txBody>
                    <a:bodyPr/>
                    <a:lstStyle/>
                    <a:p>
                      <a:pPr>
                        <a:buNone/>
                      </a:pPr>
                      <a:r>
                        <a:rPr lang="en-US" dirty="0"/>
                        <a:t>3) T/F does not change freq.</a:t>
                      </a:r>
                    </a:p>
                  </a:txBody>
                  <a:tcPr anchor="ctr">
                    <a:lnL>
                      <a:noFill/>
                    </a:lnL>
                    <a:lnR>
                      <a:noFill/>
                    </a:lnR>
                    <a:lnT>
                      <a:noFill/>
                    </a:lnT>
                    <a:lnB>
                      <a:noFill/>
                    </a:lnB>
                    <a:noFill/>
                  </a:tcPr>
                </a:tc>
                <a:tc>
                  <a:txBody>
                    <a:bodyPr/>
                    <a:lstStyle/>
                    <a:p>
                      <a:pPr>
                        <a:buNone/>
                      </a:pPr>
                      <a:r>
                        <a:rPr lang="en-IN" dirty="0"/>
                        <a:t>3) </a:t>
                      </a:r>
                      <a:r>
                        <a:rPr lang="en-IN" dirty="0" err="1"/>
                        <a:t>freq</a:t>
                      </a:r>
                      <a:r>
                        <a:rPr lang="en-IN" dirty="0"/>
                        <a:t> (I.M) power transform from stator to rotor at different freq.</a:t>
                      </a:r>
                    </a:p>
                  </a:txBody>
                  <a:tcPr anchor="ctr">
                    <a:lnL>
                      <a:noFill/>
                    </a:lnL>
                    <a:lnR>
                      <a:noFill/>
                    </a:lnR>
                    <a:lnT>
                      <a:noFill/>
                    </a:lnT>
                    <a:lnB>
                      <a:noFill/>
                    </a:lnB>
                    <a:noFill/>
                  </a:tcPr>
                </a:tc>
                <a:extLst>
                  <a:ext uri="{0D108BD9-81ED-4DB2-BD59-A6C34878D82A}">
                    <a16:rowId xmlns:a16="http://schemas.microsoft.com/office/drawing/2014/main" val="1980546903"/>
                  </a:ext>
                </a:extLst>
              </a:tr>
            </a:tbl>
          </a:graphicData>
        </a:graphic>
      </p:graphicFrame>
      <p:graphicFrame>
        <p:nvGraphicFramePr>
          <p:cNvPr id="30" name="Table 29">
            <a:extLst>
              <a:ext uri="{FF2B5EF4-FFF2-40B4-BE49-F238E27FC236}">
                <a16:creationId xmlns:a16="http://schemas.microsoft.com/office/drawing/2014/main" id="{F5E3610A-AD92-E978-02DB-0FE3A8DF2DCD}"/>
              </a:ext>
            </a:extLst>
          </p:cNvPr>
          <p:cNvGraphicFramePr>
            <a:graphicFrameLocks noGrp="1"/>
          </p:cNvGraphicFramePr>
          <p:nvPr>
            <p:extLst>
              <p:ext uri="{D42A27DB-BD31-4B8C-83A1-F6EECF244321}">
                <p14:modId xmlns:p14="http://schemas.microsoft.com/office/powerpoint/2010/main" val="3113790164"/>
              </p:ext>
            </p:extLst>
          </p:nvPr>
        </p:nvGraphicFramePr>
        <p:xfrm>
          <a:off x="3591232" y="9150249"/>
          <a:ext cx="8229600" cy="640080"/>
        </p:xfrm>
        <a:graphic>
          <a:graphicData uri="http://schemas.openxmlformats.org/drawingml/2006/table">
            <a:tbl>
              <a:tblPr/>
              <a:tblGrid>
                <a:gridCol w="4114800">
                  <a:extLst>
                    <a:ext uri="{9D8B030D-6E8A-4147-A177-3AD203B41FA5}">
                      <a16:colId xmlns:a16="http://schemas.microsoft.com/office/drawing/2014/main" val="1809080043"/>
                    </a:ext>
                  </a:extLst>
                </a:gridCol>
                <a:gridCol w="4114800">
                  <a:extLst>
                    <a:ext uri="{9D8B030D-6E8A-4147-A177-3AD203B41FA5}">
                      <a16:colId xmlns:a16="http://schemas.microsoft.com/office/drawing/2014/main" val="2597477942"/>
                    </a:ext>
                  </a:extLst>
                </a:gridCol>
              </a:tblGrid>
              <a:tr h="0">
                <a:tc>
                  <a:txBody>
                    <a:bodyPr/>
                    <a:lstStyle/>
                    <a:p>
                      <a:pPr>
                        <a:buNone/>
                      </a:pPr>
                      <a:r>
                        <a:rPr lang="en-US" dirty="0"/>
                        <a:t>4) Magnetic </a:t>
                      </a:r>
                      <a:r>
                        <a:rPr lang="en-US" dirty="0" err="1"/>
                        <a:t>ckt</a:t>
                      </a:r>
                      <a:r>
                        <a:rPr lang="en-US" dirty="0"/>
                        <a:t> is continuous, magnetic </a:t>
                      </a:r>
                      <a:r>
                        <a:rPr lang="en-US" dirty="0" err="1"/>
                        <a:t>ckt</a:t>
                      </a:r>
                      <a:r>
                        <a:rPr lang="en-US" dirty="0"/>
                        <a:t> (no air gap)</a:t>
                      </a:r>
                    </a:p>
                  </a:txBody>
                  <a:tcPr anchor="ctr">
                    <a:lnL>
                      <a:noFill/>
                    </a:lnL>
                    <a:lnR>
                      <a:noFill/>
                    </a:lnR>
                    <a:lnT>
                      <a:noFill/>
                    </a:lnT>
                    <a:lnB>
                      <a:noFill/>
                    </a:lnB>
                    <a:noFill/>
                  </a:tcPr>
                </a:tc>
                <a:tc>
                  <a:txBody>
                    <a:bodyPr/>
                    <a:lstStyle/>
                    <a:p>
                      <a:pPr>
                        <a:buNone/>
                      </a:pPr>
                      <a:r>
                        <a:rPr lang="en-US" dirty="0"/>
                        <a:t>4) Magnetic </a:t>
                      </a:r>
                      <a:r>
                        <a:rPr lang="en-US" dirty="0" err="1"/>
                        <a:t>ckt</a:t>
                      </a:r>
                      <a:r>
                        <a:rPr lang="en-US" dirty="0"/>
                        <a:t> is composite magnetic </a:t>
                      </a:r>
                      <a:r>
                        <a:rPr lang="en-US" dirty="0" err="1"/>
                        <a:t>ckt</a:t>
                      </a:r>
                      <a:r>
                        <a:rPr lang="en-US" dirty="0"/>
                        <a:t> (having air gap)</a:t>
                      </a:r>
                    </a:p>
                  </a:txBody>
                  <a:tcPr anchor="ctr">
                    <a:lnL>
                      <a:noFill/>
                    </a:lnL>
                    <a:lnR>
                      <a:noFill/>
                    </a:lnR>
                    <a:lnT>
                      <a:noFill/>
                    </a:lnT>
                    <a:lnB>
                      <a:noFill/>
                    </a:lnB>
                    <a:noFill/>
                  </a:tcPr>
                </a:tc>
                <a:extLst>
                  <a:ext uri="{0D108BD9-81ED-4DB2-BD59-A6C34878D82A}">
                    <a16:rowId xmlns:a16="http://schemas.microsoft.com/office/drawing/2014/main" val="2106344963"/>
                  </a:ext>
                </a:extLst>
              </a:tr>
            </a:tbl>
          </a:graphicData>
        </a:graphic>
      </p:graphicFrame>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830999"/>
            <a:ext cx="13716000" cy="617209"/>
            <a:chOff x="0" y="0"/>
            <a:chExt cx="18288000" cy="822945"/>
          </a:xfrm>
        </p:grpSpPr>
        <p:sp>
          <p:nvSpPr>
            <p:cNvPr id="3" name="Freeform 3"/>
            <p:cNvSpPr/>
            <p:nvPr/>
          </p:nvSpPr>
          <p:spPr>
            <a:xfrm>
              <a:off x="0" y="0"/>
              <a:ext cx="18288000" cy="822958"/>
            </a:xfrm>
            <a:custGeom>
              <a:avLst/>
              <a:gdLst/>
              <a:ahLst/>
              <a:cxnLst/>
              <a:rect l="l" t="t" r="r" b="b"/>
              <a:pathLst>
                <a:path w="18288000" h="822958">
                  <a:moveTo>
                    <a:pt x="0" y="0"/>
                  </a:moveTo>
                  <a:lnTo>
                    <a:pt x="18288000" y="0"/>
                  </a:lnTo>
                  <a:lnTo>
                    <a:pt x="18288000" y="822958"/>
                  </a:lnTo>
                  <a:lnTo>
                    <a:pt x="0" y="822958"/>
                  </a:lnTo>
                  <a:close/>
                </a:path>
              </a:pathLst>
            </a:custGeom>
            <a:solidFill>
              <a:srgbClr val="E59EDD">
                <a:alpha val="27059"/>
              </a:srgbClr>
            </a:solidFill>
            <a:ln w="12700">
              <a:solidFill>
                <a:srgbClr val="000000"/>
              </a:solidFill>
            </a:ln>
          </p:spPr>
        </p:sp>
        <p:sp>
          <p:nvSpPr>
            <p:cNvPr id="4" name="TextBox 4"/>
            <p:cNvSpPr txBox="1"/>
            <p:nvPr/>
          </p:nvSpPr>
          <p:spPr>
            <a:xfrm>
              <a:off x="0" y="-19050"/>
              <a:ext cx="18288000" cy="841995"/>
            </a:xfrm>
            <a:prstGeom prst="rect">
              <a:avLst/>
            </a:prstGeom>
          </p:spPr>
          <p:txBody>
            <a:bodyPr lIns="50800" tIns="50800" rIns="50800" bIns="50800" rtlCol="0" anchor="t"/>
            <a:lstStyle/>
            <a:p>
              <a:pPr algn="ctr">
                <a:lnSpc>
                  <a:spcPts val="3240"/>
                </a:lnSpc>
              </a:pPr>
              <a:r>
                <a:rPr lang="en-US" sz="2700" b="1">
                  <a:solidFill>
                    <a:srgbClr val="000000"/>
                  </a:solidFill>
                  <a:latin typeface="Times New Roman Bold"/>
                  <a:ea typeface="Times New Roman Bold"/>
                  <a:cs typeface="Times New Roman Bold"/>
                  <a:sym typeface="Times New Roman Bold"/>
                </a:rPr>
                <a:t> </a:t>
              </a:r>
            </a:p>
          </p:txBody>
        </p:sp>
      </p:grpSp>
      <p:grpSp>
        <p:nvGrpSpPr>
          <p:cNvPr id="5" name="Group 5"/>
          <p:cNvGrpSpPr/>
          <p:nvPr/>
        </p:nvGrpSpPr>
        <p:grpSpPr>
          <a:xfrm>
            <a:off x="2286000" y="1"/>
            <a:ext cx="13716000" cy="747998"/>
            <a:chOff x="0" y="0"/>
            <a:chExt cx="18288000" cy="997331"/>
          </a:xfrm>
        </p:grpSpPr>
        <p:sp>
          <p:nvSpPr>
            <p:cNvPr id="6" name="Freeform 6"/>
            <p:cNvSpPr/>
            <p:nvPr/>
          </p:nvSpPr>
          <p:spPr>
            <a:xfrm>
              <a:off x="0" y="0"/>
              <a:ext cx="18288000" cy="997331"/>
            </a:xfrm>
            <a:custGeom>
              <a:avLst/>
              <a:gdLst/>
              <a:ahLst/>
              <a:cxnLst/>
              <a:rect l="l" t="t" r="r" b="b"/>
              <a:pathLst>
                <a:path w="18288000" h="997331">
                  <a:moveTo>
                    <a:pt x="0" y="0"/>
                  </a:moveTo>
                  <a:lnTo>
                    <a:pt x="18288000" y="0"/>
                  </a:lnTo>
                  <a:lnTo>
                    <a:pt x="18288000" y="997331"/>
                  </a:lnTo>
                  <a:lnTo>
                    <a:pt x="0" y="997331"/>
                  </a:lnTo>
                  <a:close/>
                </a:path>
              </a:pathLst>
            </a:custGeom>
            <a:solidFill>
              <a:srgbClr val="E97132"/>
            </a:solidFill>
            <a:ln w="12700">
              <a:solidFill>
                <a:srgbClr val="000000"/>
              </a:solidFill>
            </a:ln>
          </p:spPr>
        </p:sp>
        <p:sp>
          <p:nvSpPr>
            <p:cNvPr id="7" name="TextBox 7"/>
            <p:cNvSpPr txBox="1"/>
            <p:nvPr/>
          </p:nvSpPr>
          <p:spPr>
            <a:xfrm>
              <a:off x="0" y="-200025"/>
              <a:ext cx="18288000" cy="1197356"/>
            </a:xfrm>
            <a:prstGeom prst="rect">
              <a:avLst/>
            </a:prstGeom>
          </p:spPr>
          <p:txBody>
            <a:bodyPr lIns="50800" tIns="50800" rIns="50800" bIns="50800" rtlCol="0" anchor="t"/>
            <a:lstStyle/>
            <a:p>
              <a:pPr algn="ctr">
                <a:lnSpc>
                  <a:spcPts val="5400"/>
                </a:lnSpc>
              </a:pPr>
              <a:r>
                <a:rPr lang="en-US" sz="3000" b="1">
                  <a:solidFill>
                    <a:srgbClr val="EEECE1"/>
                  </a:solidFill>
                  <a:latin typeface="Times New Roman Bold"/>
                  <a:ea typeface="Times New Roman Bold"/>
                  <a:cs typeface="Times New Roman Bold"/>
                  <a:sym typeface="Times New Roman Bold"/>
                </a:rPr>
                <a:t>SECTION : I</a:t>
              </a:r>
            </a:p>
          </p:txBody>
        </p:sp>
      </p:grpSp>
      <p:sp>
        <p:nvSpPr>
          <p:cNvPr id="8" name="Freeform 8"/>
          <p:cNvSpPr/>
          <p:nvPr/>
        </p:nvSpPr>
        <p:spPr>
          <a:xfrm>
            <a:off x="15001875" y="101184"/>
            <a:ext cx="1000125" cy="1000125"/>
          </a:xfrm>
          <a:custGeom>
            <a:avLst/>
            <a:gdLst/>
            <a:ahLst/>
            <a:cxnLst/>
            <a:rect l="l" t="t" r="r" b="b"/>
            <a:pathLst>
              <a:path w="1000125" h="1000125">
                <a:moveTo>
                  <a:pt x="0" y="0"/>
                </a:moveTo>
                <a:lnTo>
                  <a:pt x="1000125" y="0"/>
                </a:lnTo>
                <a:lnTo>
                  <a:pt x="1000125" y="1000125"/>
                </a:lnTo>
                <a:lnTo>
                  <a:pt x="0" y="1000125"/>
                </a:lnTo>
                <a:lnTo>
                  <a:pt x="0" y="0"/>
                </a:lnTo>
                <a:close/>
              </a:path>
            </a:pathLst>
          </a:custGeom>
          <a:blipFill>
            <a:blip r:embed="rId3"/>
            <a:stretch>
              <a:fillRect/>
            </a:stretch>
          </a:blipFill>
        </p:spPr>
      </p:sp>
      <p:graphicFrame>
        <p:nvGraphicFramePr>
          <p:cNvPr id="9" name="Object 9"/>
          <p:cNvGraphicFramePr/>
          <p:nvPr>
            <p:extLst>
              <p:ext uri="{D42A27DB-BD31-4B8C-83A1-F6EECF244321}">
                <p14:modId xmlns:p14="http://schemas.microsoft.com/office/powerpoint/2010/main" val="849115421"/>
              </p:ext>
            </p:extLst>
          </p:nvPr>
        </p:nvGraphicFramePr>
        <p:xfrm>
          <a:off x="850901" y="1903413"/>
          <a:ext cx="17360899" cy="2659062"/>
        </p:xfrm>
        <a:graphic>
          <a:graphicData uri="http://schemas.openxmlformats.org/presentationml/2006/ole">
            <mc:AlternateContent xmlns:mc="http://schemas.openxmlformats.org/markup-compatibility/2006">
              <mc:Choice xmlns:v="urn:schemas-microsoft-com:vml" Requires="v">
                <p:oleObj name="Worksheet" r:id="rId4" imgW="23523046" imgH="5021753" progId="Excel.Sheet.12">
                  <p:embed/>
                </p:oleObj>
              </mc:Choice>
              <mc:Fallback>
                <p:oleObj name="Worksheet" r:id="rId4" imgW="23523046" imgH="5021753" progId="Excel.Sheet.12">
                  <p:embed/>
                  <p:pic>
                    <p:nvPicPr>
                      <p:cNvPr id="0" name=""/>
                      <p:cNvPicPr/>
                      <p:nvPr/>
                    </p:nvPicPr>
                    <p:blipFill>
                      <a:blip r:embed="rId5"/>
                      <a:stretch>
                        <a:fillRect/>
                      </a:stretch>
                    </p:blipFill>
                    <p:spPr>
                      <a:xfrm>
                        <a:off x="850901" y="1903413"/>
                        <a:ext cx="17360899" cy="2659062"/>
                      </a:xfrm>
                      <a:prstGeom prst="rect">
                        <a:avLst/>
                      </a:prstGeom>
                    </p:spPr>
                  </p:pic>
                </p:oleObj>
              </mc:Fallback>
            </mc:AlternateContent>
          </a:graphicData>
        </a:graphic>
      </p:graphicFrame>
      <p:graphicFrame>
        <p:nvGraphicFramePr>
          <p:cNvPr id="10" name="Table 10"/>
          <p:cNvGraphicFramePr>
            <a:graphicFrameLocks noGrp="1"/>
          </p:cNvGraphicFramePr>
          <p:nvPr/>
        </p:nvGraphicFramePr>
        <p:xfrm>
          <a:off x="854883" y="4788694"/>
          <a:ext cx="17107682" cy="5019672"/>
        </p:xfrm>
        <a:graphic>
          <a:graphicData uri="http://schemas.openxmlformats.org/drawingml/2006/table">
            <a:tbl>
              <a:tblPr/>
              <a:tblGrid>
                <a:gridCol w="8553841">
                  <a:extLst>
                    <a:ext uri="{9D8B030D-6E8A-4147-A177-3AD203B41FA5}">
                      <a16:colId xmlns:a16="http://schemas.microsoft.com/office/drawing/2014/main" val="20000"/>
                    </a:ext>
                  </a:extLst>
                </a:gridCol>
                <a:gridCol w="8553841">
                  <a:extLst>
                    <a:ext uri="{9D8B030D-6E8A-4147-A177-3AD203B41FA5}">
                      <a16:colId xmlns:a16="http://schemas.microsoft.com/office/drawing/2014/main" val="20001"/>
                    </a:ext>
                  </a:extLst>
                </a:gridCol>
              </a:tblGrid>
              <a:tr h="627459">
                <a:tc>
                  <a:txBody>
                    <a:bodyPr/>
                    <a:lstStyle/>
                    <a:p>
                      <a:pPr algn="l">
                        <a:lnSpc>
                          <a:spcPts val="2100"/>
                        </a:lnSpc>
                        <a:defRPr/>
                      </a:pPr>
                      <a:r>
                        <a:rPr lang="en-US" sz="1500" b="1">
                          <a:solidFill>
                            <a:srgbClr val="000000"/>
                          </a:solidFill>
                          <a:latin typeface="Canva Sans Bold"/>
                          <a:ea typeface="Canva Sans Bold"/>
                          <a:cs typeface="Canva Sans Bold"/>
                          <a:sym typeface="Canva Sans Bold"/>
                        </a:rPr>
                        <a:t>Synchronous Generator</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tc>
                  <a:txBody>
                    <a:bodyPr/>
                    <a:lstStyle/>
                    <a:p>
                      <a:pPr algn="l">
                        <a:lnSpc>
                          <a:spcPts val="2100"/>
                        </a:lnSpc>
                        <a:defRPr/>
                      </a:pPr>
                      <a:r>
                        <a:rPr lang="en-US" sz="1500" b="1">
                          <a:solidFill>
                            <a:srgbClr val="000000"/>
                          </a:solidFill>
                          <a:latin typeface="Canva Sans Bold"/>
                          <a:ea typeface="Canva Sans Bold"/>
                          <a:cs typeface="Canva Sans Bold"/>
                          <a:sym typeface="Canva Sans Bold"/>
                        </a:rPr>
                        <a:t>Induction Generator</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extLst>
                  <a:ext uri="{0D108BD9-81ED-4DB2-BD59-A6C34878D82A}">
                    <a16:rowId xmlns:a16="http://schemas.microsoft.com/office/drawing/2014/main" val="10000"/>
                  </a:ext>
                </a:extLst>
              </a:tr>
              <a:tr h="627459">
                <a:tc>
                  <a:txBody>
                    <a:bodyPr/>
                    <a:lstStyle/>
                    <a:p>
                      <a:pPr algn="l">
                        <a:lnSpc>
                          <a:spcPts val="2100"/>
                        </a:lnSpc>
                        <a:defRPr/>
                      </a:pPr>
                      <a:r>
                        <a:rPr lang="en-US" sz="1500">
                          <a:solidFill>
                            <a:srgbClr val="000000"/>
                          </a:solidFill>
                          <a:latin typeface="Canva Sans"/>
                          <a:ea typeface="Canva Sans"/>
                          <a:cs typeface="Canva Sans"/>
                          <a:sym typeface="Canva Sans"/>
                        </a:rPr>
                        <a:t>1) Generate electrical power at Ns speed</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tc>
                  <a:txBody>
                    <a:bodyPr/>
                    <a:lstStyle/>
                    <a:p>
                      <a:pPr algn="l">
                        <a:lnSpc>
                          <a:spcPts val="2100"/>
                        </a:lnSpc>
                        <a:defRPr/>
                      </a:pPr>
                      <a:r>
                        <a:rPr lang="en-US" sz="1500">
                          <a:solidFill>
                            <a:srgbClr val="000000"/>
                          </a:solidFill>
                          <a:latin typeface="Canva Sans"/>
                          <a:ea typeface="Canva Sans"/>
                          <a:cs typeface="Canva Sans"/>
                          <a:sym typeface="Canva Sans"/>
                        </a:rPr>
                        <a:t>1) Speed N &gt; Ns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extLst>
                  <a:ext uri="{0D108BD9-81ED-4DB2-BD59-A6C34878D82A}">
                    <a16:rowId xmlns:a16="http://schemas.microsoft.com/office/drawing/2014/main" val="10001"/>
                  </a:ext>
                </a:extLst>
              </a:tr>
              <a:tr h="627459">
                <a:tc>
                  <a:txBody>
                    <a:bodyPr/>
                    <a:lstStyle/>
                    <a:p>
                      <a:pPr algn="l">
                        <a:lnSpc>
                          <a:spcPts val="2100"/>
                        </a:lnSpc>
                        <a:defRPr/>
                      </a:pPr>
                      <a:r>
                        <a:rPr lang="en-US" sz="1500">
                          <a:solidFill>
                            <a:srgbClr val="000000"/>
                          </a:solidFill>
                          <a:latin typeface="Canva Sans"/>
                          <a:ea typeface="Canva Sans"/>
                          <a:cs typeface="Canva Sans"/>
                          <a:sym typeface="Canva Sans"/>
                        </a:rPr>
                        <a:t>2) Ns speed means N = Ns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tc>
                  <a:txBody>
                    <a:bodyPr/>
                    <a:lstStyle/>
                    <a:p>
                      <a:pPr algn="l">
                        <a:lnSpc>
                          <a:spcPts val="1679"/>
                        </a:lnSpc>
                        <a:defRPr/>
                      </a:pP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extLst>
                  <a:ext uri="{0D108BD9-81ED-4DB2-BD59-A6C34878D82A}">
                    <a16:rowId xmlns:a16="http://schemas.microsoft.com/office/drawing/2014/main" val="10002"/>
                  </a:ext>
                </a:extLst>
              </a:tr>
              <a:tr h="627459">
                <a:tc>
                  <a:txBody>
                    <a:bodyPr/>
                    <a:lstStyle/>
                    <a:p>
                      <a:pPr algn="l">
                        <a:lnSpc>
                          <a:spcPts val="2100"/>
                        </a:lnSpc>
                        <a:defRPr/>
                      </a:pPr>
                      <a:r>
                        <a:rPr lang="en-US" sz="1500">
                          <a:solidFill>
                            <a:srgbClr val="000000"/>
                          </a:solidFill>
                          <a:latin typeface="Canva Sans"/>
                          <a:ea typeface="Canva Sans"/>
                          <a:cs typeface="Canva Sans"/>
                          <a:sym typeface="Canva Sans"/>
                        </a:rPr>
                        <a:t>3) Const speed = synchronous speed</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tc>
                  <a:txBody>
                    <a:bodyPr/>
                    <a:lstStyle/>
                    <a:p>
                      <a:pPr algn="l">
                        <a:lnSpc>
                          <a:spcPts val="1679"/>
                        </a:lnSpc>
                        <a:defRPr/>
                      </a:pP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extLst>
                  <a:ext uri="{0D108BD9-81ED-4DB2-BD59-A6C34878D82A}">
                    <a16:rowId xmlns:a16="http://schemas.microsoft.com/office/drawing/2014/main" val="10003"/>
                  </a:ext>
                </a:extLst>
              </a:tr>
              <a:tr h="627459">
                <a:tc>
                  <a:txBody>
                    <a:bodyPr/>
                    <a:lstStyle/>
                    <a:p>
                      <a:pPr algn="l">
                        <a:lnSpc>
                          <a:spcPts val="2100"/>
                        </a:lnSpc>
                        <a:defRPr/>
                      </a:pPr>
                      <a:r>
                        <a:rPr lang="en-US" sz="1500">
                          <a:solidFill>
                            <a:srgbClr val="000000"/>
                          </a:solidFill>
                          <a:latin typeface="Canva Sans"/>
                          <a:ea typeface="Canva Sans"/>
                          <a:cs typeface="Canva Sans"/>
                          <a:sym typeface="Canva Sans"/>
                        </a:rPr>
                        <a:t>4) Generally used const speed prime mover</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tc>
                  <a:txBody>
                    <a:bodyPr/>
                    <a:lstStyle/>
                    <a:p>
                      <a:pPr algn="l">
                        <a:lnSpc>
                          <a:spcPts val="2100"/>
                        </a:lnSpc>
                        <a:defRPr/>
                      </a:pPr>
                      <a:r>
                        <a:rPr lang="en-US" sz="1500">
                          <a:solidFill>
                            <a:srgbClr val="000000"/>
                          </a:solidFill>
                          <a:latin typeface="Canva Sans"/>
                          <a:ea typeface="Canva Sans"/>
                          <a:cs typeface="Canva Sans"/>
                          <a:sym typeface="Canva Sans"/>
                        </a:rPr>
                        <a:t>2) In order to produce synchronous speed variable speed prime mover used</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extLst>
                  <a:ext uri="{0D108BD9-81ED-4DB2-BD59-A6C34878D82A}">
                    <a16:rowId xmlns:a16="http://schemas.microsoft.com/office/drawing/2014/main" val="10004"/>
                  </a:ext>
                </a:extLst>
              </a:tr>
              <a:tr h="627459">
                <a:tc>
                  <a:txBody>
                    <a:bodyPr/>
                    <a:lstStyle/>
                    <a:p>
                      <a:pPr algn="l">
                        <a:lnSpc>
                          <a:spcPts val="2100"/>
                        </a:lnSpc>
                        <a:defRPr/>
                      </a:pPr>
                      <a:r>
                        <a:rPr lang="en-US" sz="1500">
                          <a:solidFill>
                            <a:srgbClr val="000000"/>
                          </a:solidFill>
                          <a:latin typeface="Canva Sans"/>
                          <a:ea typeface="Canva Sans"/>
                          <a:cs typeface="Canva Sans"/>
                          <a:sym typeface="Canva Sans"/>
                        </a:rPr>
                        <a:t>5) (steam turbine, diesel engine)</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tc>
                  <a:txBody>
                    <a:bodyPr/>
                    <a:lstStyle/>
                    <a:p>
                      <a:pPr algn="l">
                        <a:lnSpc>
                          <a:spcPts val="2100"/>
                        </a:lnSpc>
                        <a:defRPr/>
                      </a:pPr>
                      <a:r>
                        <a:rPr lang="en-US" sz="1500">
                          <a:solidFill>
                            <a:srgbClr val="000000"/>
                          </a:solidFill>
                          <a:latin typeface="Canva Sans"/>
                          <a:ea typeface="Canva Sans"/>
                          <a:cs typeface="Canva Sans"/>
                          <a:sym typeface="Canva Sans"/>
                        </a:rPr>
                        <a:t>3) e.g. wind mill or fluctuating prime mover</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extLst>
                  <a:ext uri="{0D108BD9-81ED-4DB2-BD59-A6C34878D82A}">
                    <a16:rowId xmlns:a16="http://schemas.microsoft.com/office/drawing/2014/main" val="10005"/>
                  </a:ext>
                </a:extLst>
              </a:tr>
              <a:tr h="627459">
                <a:tc>
                  <a:txBody>
                    <a:bodyPr/>
                    <a:lstStyle/>
                    <a:p>
                      <a:pPr algn="l">
                        <a:lnSpc>
                          <a:spcPts val="2100"/>
                        </a:lnSpc>
                        <a:defRPr/>
                      </a:pPr>
                      <a:r>
                        <a:rPr lang="en-US" sz="1500">
                          <a:solidFill>
                            <a:srgbClr val="000000"/>
                          </a:solidFill>
                          <a:latin typeface="Canva Sans"/>
                          <a:ea typeface="Canva Sans"/>
                          <a:cs typeface="Canva Sans"/>
                          <a:sym typeface="Canva Sans"/>
                        </a:rPr>
                        <a:t>6) large hydro turbine by using governor arrangement we can get const speed prime mover</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tc>
                  <a:txBody>
                    <a:bodyPr/>
                    <a:lstStyle/>
                    <a:p>
                      <a:pPr algn="l">
                        <a:lnSpc>
                          <a:spcPts val="2100"/>
                        </a:lnSpc>
                        <a:defRPr/>
                      </a:pPr>
                      <a:r>
                        <a:rPr lang="en-US" sz="1500">
                          <a:solidFill>
                            <a:srgbClr val="000000"/>
                          </a:solidFill>
                          <a:latin typeface="Canva Sans"/>
                          <a:ea typeface="Canva Sans"/>
                          <a:cs typeface="Canva Sans"/>
                          <a:sym typeface="Canva Sans"/>
                        </a:rPr>
                        <a:t>4) Low &amp; head hydropower station</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extLst>
                  <a:ext uri="{0D108BD9-81ED-4DB2-BD59-A6C34878D82A}">
                    <a16:rowId xmlns:a16="http://schemas.microsoft.com/office/drawing/2014/main" val="10006"/>
                  </a:ext>
                </a:extLst>
              </a:tr>
              <a:tr h="627459">
                <a:tc>
                  <a:txBody>
                    <a:bodyPr/>
                    <a:lstStyle/>
                    <a:p>
                      <a:pPr algn="l">
                        <a:lnSpc>
                          <a:spcPts val="1679"/>
                        </a:lnSpc>
                        <a:defRPr/>
                      </a:pP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tc>
                  <a:txBody>
                    <a:bodyPr/>
                    <a:lstStyle/>
                    <a:p>
                      <a:pPr algn="l">
                        <a:lnSpc>
                          <a:spcPts val="2100"/>
                        </a:lnSpc>
                        <a:defRPr/>
                      </a:pPr>
                      <a:r>
                        <a:rPr lang="en-US" sz="1500">
                          <a:solidFill>
                            <a:srgbClr val="000000"/>
                          </a:solidFill>
                          <a:latin typeface="Canva Sans"/>
                          <a:ea typeface="Canva Sans"/>
                          <a:cs typeface="Canva Sans"/>
                          <a:sym typeface="Canva Sans"/>
                        </a:rPr>
                        <a:t>5) less than 30 meter head has variable speed prime mover</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9EDD"/>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830999"/>
            <a:ext cx="13716000" cy="617209"/>
            <a:chOff x="0" y="0"/>
            <a:chExt cx="18288000" cy="822945"/>
          </a:xfrm>
        </p:grpSpPr>
        <p:sp>
          <p:nvSpPr>
            <p:cNvPr id="3" name="Freeform 3"/>
            <p:cNvSpPr/>
            <p:nvPr/>
          </p:nvSpPr>
          <p:spPr>
            <a:xfrm>
              <a:off x="0" y="0"/>
              <a:ext cx="18288000" cy="822958"/>
            </a:xfrm>
            <a:custGeom>
              <a:avLst/>
              <a:gdLst/>
              <a:ahLst/>
              <a:cxnLst/>
              <a:rect l="l" t="t" r="r" b="b"/>
              <a:pathLst>
                <a:path w="18288000" h="822958">
                  <a:moveTo>
                    <a:pt x="0" y="0"/>
                  </a:moveTo>
                  <a:lnTo>
                    <a:pt x="18288000" y="0"/>
                  </a:lnTo>
                  <a:lnTo>
                    <a:pt x="18288000" y="822958"/>
                  </a:lnTo>
                  <a:lnTo>
                    <a:pt x="0" y="822958"/>
                  </a:lnTo>
                  <a:close/>
                </a:path>
              </a:pathLst>
            </a:custGeom>
            <a:solidFill>
              <a:srgbClr val="E59EDD">
                <a:alpha val="27059"/>
              </a:srgbClr>
            </a:solidFill>
            <a:ln w="12700">
              <a:solidFill>
                <a:srgbClr val="000000"/>
              </a:solidFill>
            </a:ln>
          </p:spPr>
        </p:sp>
        <p:sp>
          <p:nvSpPr>
            <p:cNvPr id="4" name="TextBox 4"/>
            <p:cNvSpPr txBox="1"/>
            <p:nvPr/>
          </p:nvSpPr>
          <p:spPr>
            <a:xfrm>
              <a:off x="0" y="-19050"/>
              <a:ext cx="18288000" cy="841995"/>
            </a:xfrm>
            <a:prstGeom prst="rect">
              <a:avLst/>
            </a:prstGeom>
          </p:spPr>
          <p:txBody>
            <a:bodyPr lIns="50800" tIns="50800" rIns="50800" bIns="50800" rtlCol="0" anchor="t"/>
            <a:lstStyle/>
            <a:p>
              <a:pPr algn="ctr">
                <a:lnSpc>
                  <a:spcPts val="3240"/>
                </a:lnSpc>
              </a:pPr>
              <a:r>
                <a:rPr lang="en-US" sz="2700" b="1">
                  <a:solidFill>
                    <a:srgbClr val="000000"/>
                  </a:solidFill>
                  <a:latin typeface="Times New Roman Bold"/>
                  <a:ea typeface="Times New Roman Bold"/>
                  <a:cs typeface="Times New Roman Bold"/>
                  <a:sym typeface="Times New Roman Bold"/>
                </a:rPr>
                <a:t> </a:t>
              </a:r>
            </a:p>
          </p:txBody>
        </p:sp>
      </p:grpSp>
      <p:grpSp>
        <p:nvGrpSpPr>
          <p:cNvPr id="5" name="Group 5"/>
          <p:cNvGrpSpPr/>
          <p:nvPr/>
        </p:nvGrpSpPr>
        <p:grpSpPr>
          <a:xfrm>
            <a:off x="2286000" y="1"/>
            <a:ext cx="13716000" cy="747998"/>
            <a:chOff x="0" y="0"/>
            <a:chExt cx="18288000" cy="997331"/>
          </a:xfrm>
        </p:grpSpPr>
        <p:sp>
          <p:nvSpPr>
            <p:cNvPr id="6" name="Freeform 6"/>
            <p:cNvSpPr/>
            <p:nvPr/>
          </p:nvSpPr>
          <p:spPr>
            <a:xfrm>
              <a:off x="0" y="0"/>
              <a:ext cx="18288000" cy="997331"/>
            </a:xfrm>
            <a:custGeom>
              <a:avLst/>
              <a:gdLst/>
              <a:ahLst/>
              <a:cxnLst/>
              <a:rect l="l" t="t" r="r" b="b"/>
              <a:pathLst>
                <a:path w="18288000" h="997331">
                  <a:moveTo>
                    <a:pt x="0" y="0"/>
                  </a:moveTo>
                  <a:lnTo>
                    <a:pt x="18288000" y="0"/>
                  </a:lnTo>
                  <a:lnTo>
                    <a:pt x="18288000" y="997331"/>
                  </a:lnTo>
                  <a:lnTo>
                    <a:pt x="0" y="997331"/>
                  </a:lnTo>
                  <a:close/>
                </a:path>
              </a:pathLst>
            </a:custGeom>
            <a:solidFill>
              <a:srgbClr val="E97132"/>
            </a:solidFill>
            <a:ln w="12700">
              <a:solidFill>
                <a:srgbClr val="000000"/>
              </a:solidFill>
            </a:ln>
          </p:spPr>
        </p:sp>
        <p:sp>
          <p:nvSpPr>
            <p:cNvPr id="7" name="TextBox 7"/>
            <p:cNvSpPr txBox="1"/>
            <p:nvPr/>
          </p:nvSpPr>
          <p:spPr>
            <a:xfrm>
              <a:off x="0" y="-200025"/>
              <a:ext cx="18288000" cy="1197356"/>
            </a:xfrm>
            <a:prstGeom prst="rect">
              <a:avLst/>
            </a:prstGeom>
          </p:spPr>
          <p:txBody>
            <a:bodyPr lIns="50800" tIns="50800" rIns="50800" bIns="50800" rtlCol="0" anchor="t"/>
            <a:lstStyle/>
            <a:p>
              <a:pPr algn="ctr">
                <a:lnSpc>
                  <a:spcPts val="5400"/>
                </a:lnSpc>
              </a:pPr>
              <a:r>
                <a:rPr lang="en-US" sz="3000" b="1">
                  <a:solidFill>
                    <a:srgbClr val="EEECE1"/>
                  </a:solidFill>
                  <a:latin typeface="Times New Roman Bold"/>
                  <a:ea typeface="Times New Roman Bold"/>
                  <a:cs typeface="Times New Roman Bold"/>
                  <a:sym typeface="Times New Roman Bold"/>
                </a:rPr>
                <a:t>SECTION : I</a:t>
              </a:r>
            </a:p>
          </p:txBody>
        </p:sp>
      </p:grpSp>
      <p:sp>
        <p:nvSpPr>
          <p:cNvPr id="11" name="Freeform 11"/>
          <p:cNvSpPr/>
          <p:nvPr/>
        </p:nvSpPr>
        <p:spPr>
          <a:xfrm>
            <a:off x="15001875" y="101184"/>
            <a:ext cx="1000125" cy="1000125"/>
          </a:xfrm>
          <a:custGeom>
            <a:avLst/>
            <a:gdLst/>
            <a:ahLst/>
            <a:cxnLst/>
            <a:rect l="l" t="t" r="r" b="b"/>
            <a:pathLst>
              <a:path w="1000125" h="1000125">
                <a:moveTo>
                  <a:pt x="0" y="0"/>
                </a:moveTo>
                <a:lnTo>
                  <a:pt x="1000125" y="0"/>
                </a:lnTo>
                <a:lnTo>
                  <a:pt x="1000125" y="1000125"/>
                </a:lnTo>
                <a:lnTo>
                  <a:pt x="0" y="1000125"/>
                </a:lnTo>
                <a:lnTo>
                  <a:pt x="0" y="0"/>
                </a:lnTo>
                <a:close/>
              </a:path>
            </a:pathLst>
          </a:custGeom>
          <a:blipFill>
            <a:blip r:embed="rId3"/>
            <a:stretch>
              <a:fillRect/>
            </a:stretch>
          </a:blipFill>
        </p:spPr>
      </p:sp>
      <p:sp>
        <p:nvSpPr>
          <p:cNvPr id="12" name="TextBox 12"/>
          <p:cNvSpPr txBox="1"/>
          <p:nvPr/>
        </p:nvSpPr>
        <p:spPr>
          <a:xfrm>
            <a:off x="2236768" y="1773991"/>
            <a:ext cx="14793932" cy="823349"/>
          </a:xfrm>
          <a:prstGeom prst="rect">
            <a:avLst/>
          </a:prstGeom>
        </p:spPr>
        <p:txBody>
          <a:bodyPr lIns="0" tIns="0" rIns="0" bIns="0" rtlCol="0" anchor="t">
            <a:spAutoFit/>
          </a:bodyPr>
          <a:lstStyle/>
          <a:p>
            <a:pPr algn="just">
              <a:lnSpc>
                <a:spcPts val="3315"/>
              </a:lnSpc>
            </a:pPr>
            <a:r>
              <a:rPr lang="en-US" sz="2368">
                <a:solidFill>
                  <a:srgbClr val="000000"/>
                </a:solidFill>
                <a:latin typeface="Canva Sans"/>
                <a:ea typeface="Canva Sans"/>
                <a:cs typeface="Canva Sans"/>
                <a:sym typeface="Canva Sans"/>
              </a:rPr>
              <a:t>→ Induction motor has shunt type characteristic</a:t>
            </a:r>
          </a:p>
          <a:p>
            <a:pPr algn="just">
              <a:lnSpc>
                <a:spcPts val="3315"/>
              </a:lnSpc>
            </a:pPr>
            <a:r>
              <a:rPr lang="en-US" sz="2368">
                <a:solidFill>
                  <a:srgbClr val="000000"/>
                </a:solidFill>
                <a:latin typeface="Canva Sans"/>
                <a:ea typeface="Canva Sans"/>
                <a:cs typeface="Canva Sans"/>
                <a:sym typeface="Canva Sans"/>
              </a:rPr>
              <a:t> → Induction motor can be replaced by D.C shunt motor as same characteristic</a:t>
            </a:r>
          </a:p>
        </p:txBody>
      </p:sp>
      <p:sp>
        <p:nvSpPr>
          <p:cNvPr id="13" name="TextBox 13"/>
          <p:cNvSpPr txBox="1"/>
          <p:nvPr/>
        </p:nvSpPr>
        <p:spPr>
          <a:xfrm>
            <a:off x="2286000" y="2802127"/>
            <a:ext cx="15572310" cy="6076343"/>
          </a:xfrm>
          <a:prstGeom prst="rect">
            <a:avLst/>
          </a:prstGeom>
        </p:spPr>
        <p:txBody>
          <a:bodyPr lIns="0" tIns="0" rIns="0" bIns="0" rtlCol="0" anchor="t">
            <a:spAutoFit/>
          </a:bodyPr>
          <a:lstStyle/>
          <a:p>
            <a:pPr algn="l">
              <a:lnSpc>
                <a:spcPts val="3432"/>
              </a:lnSpc>
            </a:pPr>
            <a:r>
              <a:rPr lang="en-US" sz="2451" dirty="0">
                <a:solidFill>
                  <a:srgbClr val="000000"/>
                </a:solidFill>
                <a:latin typeface="Canva Sans"/>
                <a:ea typeface="Canva Sans"/>
                <a:cs typeface="Canva Sans"/>
                <a:sym typeface="Canva Sans"/>
              </a:rPr>
              <a:t>Production of rotating magnetic field in 3φ system :</a:t>
            </a:r>
          </a:p>
          <a:p>
            <a:pPr algn="l">
              <a:lnSpc>
                <a:spcPts val="3432"/>
              </a:lnSpc>
            </a:pPr>
            <a:r>
              <a:rPr lang="en-US" sz="2451" dirty="0">
                <a:solidFill>
                  <a:srgbClr val="000000"/>
                </a:solidFill>
                <a:latin typeface="Canva Sans"/>
                <a:ea typeface="Canva Sans"/>
                <a:cs typeface="Canva Sans"/>
                <a:sym typeface="Canva Sans"/>
              </a:rPr>
              <a:t>When ever 3φ winding are physically displaced by 120° (in space) electrical and being fed from 3φ current which are also displaced by 120° electrical and with respect to time angle </a:t>
            </a:r>
            <a:r>
              <a:rPr lang="en-US" sz="2451" dirty="0" err="1">
                <a:solidFill>
                  <a:srgbClr val="000000"/>
                </a:solidFill>
                <a:latin typeface="Canva Sans"/>
                <a:ea typeface="Canva Sans"/>
                <a:cs typeface="Canva Sans"/>
                <a:sym typeface="Canva Sans"/>
              </a:rPr>
              <a:t>ωt</a:t>
            </a:r>
            <a:r>
              <a:rPr lang="en-US" sz="2451" dirty="0">
                <a:solidFill>
                  <a:srgbClr val="000000"/>
                </a:solidFill>
                <a:latin typeface="Canva Sans"/>
                <a:ea typeface="Canva Sans"/>
                <a:cs typeface="Canva Sans"/>
                <a:sym typeface="Canva Sans"/>
              </a:rPr>
              <a:t> then the resultant </a:t>
            </a:r>
            <a:r>
              <a:rPr lang="en-US" sz="2451" dirty="0" err="1">
                <a:solidFill>
                  <a:srgbClr val="000000"/>
                </a:solidFill>
                <a:latin typeface="Canva Sans"/>
                <a:ea typeface="Canva Sans"/>
                <a:cs typeface="Canva Sans"/>
                <a:sym typeface="Canva Sans"/>
              </a:rPr>
              <a:t>mmf</a:t>
            </a:r>
            <a:r>
              <a:rPr lang="en-US" sz="2451" dirty="0">
                <a:solidFill>
                  <a:srgbClr val="000000"/>
                </a:solidFill>
                <a:latin typeface="Canva Sans"/>
                <a:ea typeface="Canva Sans"/>
                <a:cs typeface="Canva Sans"/>
                <a:sym typeface="Canva Sans"/>
              </a:rPr>
              <a:t> will constant amplitude and its vector will have max value of </a:t>
            </a:r>
            <a:r>
              <a:rPr lang="en-US" sz="2451" dirty="0" err="1">
                <a:solidFill>
                  <a:srgbClr val="000000"/>
                </a:solidFill>
                <a:latin typeface="Canva Sans"/>
                <a:ea typeface="Canva Sans"/>
                <a:cs typeface="Canva Sans"/>
                <a:sym typeface="Canva Sans"/>
              </a:rPr>
              <a:t>mmf</a:t>
            </a:r>
            <a:r>
              <a:rPr lang="en-US" sz="2451" dirty="0">
                <a:solidFill>
                  <a:srgbClr val="000000"/>
                </a:solidFill>
                <a:latin typeface="Canva Sans"/>
                <a:ea typeface="Canva Sans"/>
                <a:cs typeface="Canva Sans"/>
                <a:sym typeface="Canva Sans"/>
              </a:rPr>
              <a:t> to any phase and is rotating at synchronous speed will be produced in the air gap.</a:t>
            </a:r>
          </a:p>
          <a:p>
            <a:pPr algn="l">
              <a:lnSpc>
                <a:spcPts val="3432"/>
              </a:lnSpc>
            </a:pPr>
            <a:r>
              <a:rPr lang="en-US" sz="2451" dirty="0">
                <a:solidFill>
                  <a:srgbClr val="000000"/>
                </a:solidFill>
                <a:latin typeface="Canva Sans"/>
                <a:ea typeface="Canva Sans"/>
                <a:cs typeface="Canva Sans"/>
                <a:sym typeface="Canva Sans"/>
              </a:rPr>
              <a:t>→ condition should be satisfy :- For rotating field in 3φ system</a:t>
            </a:r>
          </a:p>
          <a:p>
            <a:pPr marL="529335" lvl="1" indent="-264667" algn="l">
              <a:lnSpc>
                <a:spcPts val="3432"/>
              </a:lnSpc>
              <a:buAutoNum type="arabicPeriod"/>
            </a:pPr>
            <a:r>
              <a:rPr lang="en-US" sz="2451" dirty="0">
                <a:solidFill>
                  <a:srgbClr val="000000"/>
                </a:solidFill>
                <a:latin typeface="Canva Sans"/>
                <a:ea typeface="Canva Sans"/>
                <a:cs typeface="Canva Sans"/>
                <a:sym typeface="Canva Sans"/>
              </a:rPr>
              <a:t>There is physically displacement of 120° electrical between 3φ winding</a:t>
            </a:r>
          </a:p>
          <a:p>
            <a:pPr marL="529335" lvl="1" indent="-264667" algn="l">
              <a:lnSpc>
                <a:spcPts val="3432"/>
              </a:lnSpc>
              <a:buAutoNum type="arabicPeriod"/>
            </a:pPr>
            <a:r>
              <a:rPr lang="en-US" sz="2451" dirty="0">
                <a:solidFill>
                  <a:srgbClr val="000000"/>
                </a:solidFill>
                <a:latin typeface="Canva Sans"/>
                <a:ea typeface="Canva Sans"/>
                <a:cs typeface="Canva Sans"/>
                <a:sym typeface="Canva Sans"/>
              </a:rPr>
              <a:t>There must be time displacement of 120° electrical between the 3φ current flowing through the winding</a:t>
            </a:r>
          </a:p>
          <a:p>
            <a:pPr algn="l">
              <a:lnSpc>
                <a:spcPts val="3432"/>
              </a:lnSpc>
            </a:pPr>
            <a:r>
              <a:rPr lang="en-US" sz="2451" dirty="0">
                <a:solidFill>
                  <a:srgbClr val="000000"/>
                </a:solidFill>
                <a:latin typeface="Canva Sans"/>
                <a:ea typeface="Canva Sans"/>
                <a:cs typeface="Canva Sans"/>
                <a:sym typeface="Canva Sans"/>
              </a:rPr>
              <a:t>Why rotating magnetic field is not available in 1φ ?</a:t>
            </a:r>
          </a:p>
          <a:p>
            <a:pPr algn="l">
              <a:lnSpc>
                <a:spcPts val="3432"/>
              </a:lnSpc>
            </a:pPr>
            <a:r>
              <a:rPr lang="en-US" sz="2451" dirty="0">
                <a:solidFill>
                  <a:srgbClr val="000000"/>
                </a:solidFill>
                <a:latin typeface="Canva Sans"/>
                <a:ea typeface="Canva Sans"/>
                <a:cs typeface="Canva Sans"/>
                <a:sym typeface="Canva Sans"/>
              </a:rPr>
              <a:t>As the 1φ winding is not displaced physical 120° displacement.</a:t>
            </a:r>
          </a:p>
          <a:p>
            <a:pPr algn="l">
              <a:lnSpc>
                <a:spcPts val="3432"/>
              </a:lnSpc>
            </a:pPr>
            <a:r>
              <a:rPr lang="en-US" sz="2451" dirty="0">
                <a:solidFill>
                  <a:srgbClr val="000000"/>
                </a:solidFill>
                <a:latin typeface="Canva Sans"/>
                <a:ea typeface="Canva Sans"/>
                <a:cs typeface="Canva Sans"/>
                <a:sym typeface="Canva Sans"/>
              </a:rPr>
              <a:t>→ 3 phase winding displaced 120° space angle</a:t>
            </a:r>
          </a:p>
          <a:p>
            <a:pPr>
              <a:lnSpc>
                <a:spcPts val="3432"/>
              </a:lnSpc>
            </a:pPr>
            <a:r>
              <a:rPr lang="en-US" sz="2451" dirty="0">
                <a:solidFill>
                  <a:srgbClr val="000000"/>
                </a:solidFill>
                <a:latin typeface="Canva Sans"/>
                <a:ea typeface="Canva Sans"/>
                <a:cs typeface="Canva Sans"/>
                <a:sym typeface="Canva Sans"/>
              </a:rPr>
              <a:t> → 3φ supply with time angle varying  </a:t>
            </a:r>
            <a:r>
              <a:rPr lang="en-US" sz="2451" dirty="0" err="1">
                <a:solidFill>
                  <a:srgbClr val="000000"/>
                </a:solidFill>
                <a:latin typeface="Canva Sans"/>
                <a:ea typeface="Canva Sans"/>
                <a:cs typeface="Canva Sans"/>
                <a:sym typeface="Canva Sans"/>
              </a:rPr>
              <a:t>ωt</a:t>
            </a:r>
            <a:r>
              <a:rPr lang="en-US" sz="2451" dirty="0">
                <a:solidFill>
                  <a:srgbClr val="000000"/>
                </a:solidFill>
                <a:latin typeface="Canva Sans"/>
                <a:ea typeface="Canva Sans"/>
                <a:cs typeface="Canva Sans"/>
                <a:sym typeface="Canva Sans"/>
              </a:rPr>
              <a:t> = </a:t>
            </a:r>
            <a:r>
              <a:rPr lang="en-US" sz="2451" dirty="0" err="1">
                <a:solidFill>
                  <a:srgbClr val="000000"/>
                </a:solidFill>
                <a:latin typeface="Canva Sans"/>
                <a:ea typeface="Canva Sans"/>
                <a:cs typeface="Canva Sans"/>
                <a:sym typeface="Canva Sans"/>
              </a:rPr>
              <a:t>ωt</a:t>
            </a:r>
            <a:endParaRPr lang="en-US" sz="2451" dirty="0">
              <a:solidFill>
                <a:srgbClr val="000000"/>
              </a:solidFill>
              <a:latin typeface="Canva Sans"/>
              <a:ea typeface="Canva Sans"/>
              <a:cs typeface="Canva Sans"/>
              <a:sym typeface="Canva Sans"/>
            </a:endParaRPr>
          </a:p>
          <a:p>
            <a:pPr>
              <a:lnSpc>
                <a:spcPts val="3432"/>
              </a:lnSpc>
            </a:pPr>
            <a:endParaRPr lang="en-US" sz="2451" dirty="0">
              <a:solidFill>
                <a:srgbClr val="000000"/>
              </a:solidFill>
              <a:latin typeface="Canva Sans"/>
              <a:ea typeface="Canva Sans"/>
              <a:cs typeface="Canva Sans"/>
              <a:sym typeface="Canva Sans"/>
            </a:endParaRPr>
          </a:p>
        </p:txBody>
      </p:sp>
      <p:sp>
        <p:nvSpPr>
          <p:cNvPr id="15" name="TextBox 14">
            <a:extLst>
              <a:ext uri="{FF2B5EF4-FFF2-40B4-BE49-F238E27FC236}">
                <a16:creationId xmlns:a16="http://schemas.microsoft.com/office/drawing/2014/main" id="{51061427-92E5-CEBD-CDC2-368132A2C405}"/>
              </a:ext>
            </a:extLst>
          </p:cNvPr>
          <p:cNvSpPr txBox="1"/>
          <p:nvPr/>
        </p:nvSpPr>
        <p:spPr>
          <a:xfrm>
            <a:off x="10744200" y="10287000"/>
            <a:ext cx="2438400" cy="27792224"/>
          </a:xfrm>
          <a:prstGeom prst="rect">
            <a:avLst/>
          </a:prstGeom>
          <a:noFill/>
        </p:spPr>
        <p:txBody>
          <a:bodyPr wrap="square">
            <a:spAutoFit/>
          </a:bodyPr>
          <a:lstStyle/>
          <a:p>
            <a:r>
              <a:rPr lang="en-IN" b="0" i="0" dirty="0">
                <a:effectLst/>
                <a:latin typeface="Courier New" panose="02070309020205020404" pitchFamily="49" charset="0"/>
              </a:rPr>
              <a:t>%3CmxGraphModel%3E%3Croot%3E%3CmxCell%20id%3D%220%22%2F%3E%3CmxCell%20id%3D%221%22%20parent%3D%220%22%2F%3E%3CmxCell%20id%3D%222%22%20parent%3D%221%22%20style%3D%22ellipse%3BwhiteSpace%3Dwrap%3Bhtml%3D1%3Baspect%3Dfixed%3B%22%20value%3D%22%22%20vertex%3D%221%22%3E%3CmxGeometry%20height%3D%2290%22%20width%3D%2290%22%20x%3D%22470%22%20y%3D%22250%22%20as%3D%22geometry%22%2F%3E%3C%2FmxCell%3E%3CmxCell%20id%3D%223%22%20edge%3D%221%22%20parent%3D%221%22%20source%3D%222%22%20style%3D%22endArrow%3Dnone%3Bhtml%3D1%3Brounded%3D0%3BexitX%3D0%3BexitY%3D1%3BexitDx%3D0%3BexitDy%3D0%3B%22%20value%3D%22%22%3E%3CmxGeometry%20height%3D%2250%22%20relative%3D%221%22%20width%3D%2250%22%20as%3D%22geometry%22%3E%3CArray%20as%3D%22points%22%3E%3CmxPoint%20x%3D%22515%22%20y%3D%22295%22%2F%3E%3C%2FArray%3E%3CmxPoint%20x%3D%22450%22%20y%3D%22300%22%20as%3D%22sourcePoint%22%2F%3E%3CmxPoint%20x%3D%22510%22%20y%3D%22250%22%20as%3D%22targetPoint%22%2F%3E%3C%2FmxGeometry%3E%3C%2FmxCell%3E%3CmxCell%20id%3D%224%22%20edge%3D%221%22%20parent%3D%221%22%20source%3D%222%22%20style%3D%22endArrow%3Dnone%3Bhtml%3D1%3Brounded%3D0%3BexitX%3D1%3BexitY%3D1%3BexitDx%3D0%3BexitDy%3D0%3B%22%20value%3D%22%22%3E%3CmxGeometry%20height%3D%2250%22%20relative%3D%221%22%20width%3D%2250%22%20as%3D%22geometry%22%3E%3CArray%20as%3D%22points%22%3E%3CmxPoint%20x%3D%22510%22%20y%3D%22295%22%2F%3E%3C%2FArray%3E%3CmxPoint%20x%3D%22530%22%20y%3D%22350%22%20as%3D%22sourcePoint%22%2F%3E%3CmxPoint%20x%3D%22515%22%20y%3D%22295%22%20as%3D%22targetPoint%22%2F%3E%3C%2FmxGeometry%3E%3C%2FmxCell%3E%3C%2Froot%3E%3C%2FmxGraphModel%3E</a:t>
            </a:r>
            <a:endParaRPr lang="en-IN" dirty="0"/>
          </a:p>
        </p:txBody>
      </p:sp>
      <p:cxnSp>
        <p:nvCxnSpPr>
          <p:cNvPr id="17" name="Straight Connector 16">
            <a:extLst>
              <a:ext uri="{FF2B5EF4-FFF2-40B4-BE49-F238E27FC236}">
                <a16:creationId xmlns:a16="http://schemas.microsoft.com/office/drawing/2014/main" id="{EFF503DE-F3DA-6673-1897-0E2920A723EA}"/>
              </a:ext>
            </a:extLst>
          </p:cNvPr>
          <p:cNvCxnSpPr>
            <a:cxnSpLocks/>
          </p:cNvCxnSpPr>
          <p:nvPr/>
        </p:nvCxnSpPr>
        <p:spPr>
          <a:xfrm>
            <a:off x="15022830" y="7277100"/>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42E4D4D-F5BF-E497-4362-C277742E056A}"/>
              </a:ext>
            </a:extLst>
          </p:cNvPr>
          <p:cNvCxnSpPr/>
          <p:nvPr/>
        </p:nvCxnSpPr>
        <p:spPr>
          <a:xfrm>
            <a:off x="15001875" y="8039100"/>
            <a:ext cx="619125"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89AC9A-006C-C2DE-6AE4-11BAD49796E3}"/>
              </a:ext>
            </a:extLst>
          </p:cNvPr>
          <p:cNvCxnSpPr/>
          <p:nvPr/>
        </p:nvCxnSpPr>
        <p:spPr>
          <a:xfrm flipH="1">
            <a:off x="14447640" y="8107560"/>
            <a:ext cx="575190" cy="549000"/>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77C74196-E126-94ED-B50A-4A55A6237BA0}"/>
              </a:ext>
            </a:extLst>
          </p:cNvPr>
          <p:cNvSpPr/>
          <p:nvPr/>
        </p:nvSpPr>
        <p:spPr>
          <a:xfrm>
            <a:off x="14325600" y="7277100"/>
            <a:ext cx="1524000" cy="1524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2"/>
              </a:solidFill>
            </a:endParaRPr>
          </a:p>
        </p:txBody>
      </p:sp>
      <p:sp>
        <p:nvSpPr>
          <p:cNvPr id="21" name="TextBox 20">
            <a:extLst>
              <a:ext uri="{FF2B5EF4-FFF2-40B4-BE49-F238E27FC236}">
                <a16:creationId xmlns:a16="http://schemas.microsoft.com/office/drawing/2014/main" id="{060E981B-45C8-6410-4B60-D0B5B91EC929}"/>
              </a:ext>
            </a:extLst>
          </p:cNvPr>
          <p:cNvSpPr txBox="1"/>
          <p:nvPr/>
        </p:nvSpPr>
        <p:spPr>
          <a:xfrm>
            <a:off x="15057120" y="7854434"/>
            <a:ext cx="696024" cy="369332"/>
          </a:xfrm>
          <a:prstGeom prst="rect">
            <a:avLst/>
          </a:prstGeom>
          <a:noFill/>
        </p:spPr>
        <p:txBody>
          <a:bodyPr wrap="none" rtlCol="0">
            <a:spAutoFit/>
          </a:bodyPr>
          <a:lstStyle/>
          <a:p>
            <a:r>
              <a:rPr lang="en-US" dirty="0">
                <a:solidFill>
                  <a:srgbClr val="000000"/>
                </a:solidFill>
                <a:latin typeface="Canva Sans"/>
                <a:ea typeface="Canva Sans"/>
                <a:cs typeface="Canva Sans"/>
                <a:sym typeface="Canva Sans"/>
              </a:rPr>
              <a:t>120°</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830999"/>
            <a:ext cx="13716000" cy="617209"/>
            <a:chOff x="0" y="0"/>
            <a:chExt cx="18288000" cy="822945"/>
          </a:xfrm>
        </p:grpSpPr>
        <p:sp>
          <p:nvSpPr>
            <p:cNvPr id="3" name="Freeform 3"/>
            <p:cNvSpPr/>
            <p:nvPr/>
          </p:nvSpPr>
          <p:spPr>
            <a:xfrm>
              <a:off x="0" y="0"/>
              <a:ext cx="18288000" cy="822958"/>
            </a:xfrm>
            <a:custGeom>
              <a:avLst/>
              <a:gdLst/>
              <a:ahLst/>
              <a:cxnLst/>
              <a:rect l="l" t="t" r="r" b="b"/>
              <a:pathLst>
                <a:path w="18288000" h="822958">
                  <a:moveTo>
                    <a:pt x="0" y="0"/>
                  </a:moveTo>
                  <a:lnTo>
                    <a:pt x="18288000" y="0"/>
                  </a:lnTo>
                  <a:lnTo>
                    <a:pt x="18288000" y="822958"/>
                  </a:lnTo>
                  <a:lnTo>
                    <a:pt x="0" y="822958"/>
                  </a:lnTo>
                  <a:close/>
                </a:path>
              </a:pathLst>
            </a:custGeom>
            <a:solidFill>
              <a:srgbClr val="E59EDD">
                <a:alpha val="27059"/>
              </a:srgbClr>
            </a:solidFill>
            <a:ln w="12700">
              <a:solidFill>
                <a:srgbClr val="000000"/>
              </a:solidFill>
            </a:ln>
          </p:spPr>
        </p:sp>
        <p:sp>
          <p:nvSpPr>
            <p:cNvPr id="4" name="TextBox 4"/>
            <p:cNvSpPr txBox="1"/>
            <p:nvPr/>
          </p:nvSpPr>
          <p:spPr>
            <a:xfrm>
              <a:off x="0" y="-19050"/>
              <a:ext cx="18288000" cy="841995"/>
            </a:xfrm>
            <a:prstGeom prst="rect">
              <a:avLst/>
            </a:prstGeom>
          </p:spPr>
          <p:txBody>
            <a:bodyPr lIns="50800" tIns="50800" rIns="50800" bIns="50800" rtlCol="0" anchor="t"/>
            <a:lstStyle/>
            <a:p>
              <a:pPr algn="ctr">
                <a:lnSpc>
                  <a:spcPts val="3240"/>
                </a:lnSpc>
              </a:pPr>
              <a:r>
                <a:rPr lang="en-US" sz="2700" b="1">
                  <a:solidFill>
                    <a:srgbClr val="000000"/>
                  </a:solidFill>
                  <a:latin typeface="Times New Roman Bold"/>
                  <a:ea typeface="Times New Roman Bold"/>
                  <a:cs typeface="Times New Roman Bold"/>
                  <a:sym typeface="Times New Roman Bold"/>
                </a:rPr>
                <a:t> </a:t>
              </a:r>
            </a:p>
          </p:txBody>
        </p:sp>
      </p:grpSp>
      <p:grpSp>
        <p:nvGrpSpPr>
          <p:cNvPr id="5" name="Group 5"/>
          <p:cNvGrpSpPr/>
          <p:nvPr/>
        </p:nvGrpSpPr>
        <p:grpSpPr>
          <a:xfrm>
            <a:off x="2286000" y="1"/>
            <a:ext cx="13716000" cy="747998"/>
            <a:chOff x="0" y="0"/>
            <a:chExt cx="18288000" cy="997331"/>
          </a:xfrm>
        </p:grpSpPr>
        <p:sp>
          <p:nvSpPr>
            <p:cNvPr id="6" name="Freeform 6"/>
            <p:cNvSpPr/>
            <p:nvPr/>
          </p:nvSpPr>
          <p:spPr>
            <a:xfrm>
              <a:off x="0" y="0"/>
              <a:ext cx="18288000" cy="997331"/>
            </a:xfrm>
            <a:custGeom>
              <a:avLst/>
              <a:gdLst/>
              <a:ahLst/>
              <a:cxnLst/>
              <a:rect l="l" t="t" r="r" b="b"/>
              <a:pathLst>
                <a:path w="18288000" h="997331">
                  <a:moveTo>
                    <a:pt x="0" y="0"/>
                  </a:moveTo>
                  <a:lnTo>
                    <a:pt x="18288000" y="0"/>
                  </a:lnTo>
                  <a:lnTo>
                    <a:pt x="18288000" y="997331"/>
                  </a:lnTo>
                  <a:lnTo>
                    <a:pt x="0" y="997331"/>
                  </a:lnTo>
                  <a:close/>
                </a:path>
              </a:pathLst>
            </a:custGeom>
            <a:solidFill>
              <a:srgbClr val="E97132"/>
            </a:solidFill>
            <a:ln w="12700">
              <a:solidFill>
                <a:srgbClr val="000000"/>
              </a:solidFill>
            </a:ln>
          </p:spPr>
        </p:sp>
        <p:sp>
          <p:nvSpPr>
            <p:cNvPr id="7" name="TextBox 7"/>
            <p:cNvSpPr txBox="1"/>
            <p:nvPr/>
          </p:nvSpPr>
          <p:spPr>
            <a:xfrm>
              <a:off x="0" y="-200025"/>
              <a:ext cx="18288000" cy="1197356"/>
            </a:xfrm>
            <a:prstGeom prst="rect">
              <a:avLst/>
            </a:prstGeom>
          </p:spPr>
          <p:txBody>
            <a:bodyPr lIns="50800" tIns="50800" rIns="50800" bIns="50800" rtlCol="0" anchor="t"/>
            <a:lstStyle/>
            <a:p>
              <a:pPr algn="ctr">
                <a:lnSpc>
                  <a:spcPts val="5400"/>
                </a:lnSpc>
              </a:pPr>
              <a:r>
                <a:rPr lang="en-US" sz="3000" b="1">
                  <a:solidFill>
                    <a:srgbClr val="EEECE1"/>
                  </a:solidFill>
                  <a:latin typeface="Times New Roman Bold"/>
                  <a:ea typeface="Times New Roman Bold"/>
                  <a:cs typeface="Times New Roman Bold"/>
                  <a:sym typeface="Times New Roman Bold"/>
                </a:rPr>
                <a:t>SECTION : I</a:t>
              </a:r>
            </a:p>
          </p:txBody>
        </p:sp>
      </p:grpSp>
      <p:sp>
        <p:nvSpPr>
          <p:cNvPr id="11" name="Freeform 11"/>
          <p:cNvSpPr/>
          <p:nvPr/>
        </p:nvSpPr>
        <p:spPr>
          <a:xfrm>
            <a:off x="15001875" y="101184"/>
            <a:ext cx="1000125" cy="1000125"/>
          </a:xfrm>
          <a:custGeom>
            <a:avLst/>
            <a:gdLst/>
            <a:ahLst/>
            <a:cxnLst/>
            <a:rect l="l" t="t" r="r" b="b"/>
            <a:pathLst>
              <a:path w="1000125" h="1000125">
                <a:moveTo>
                  <a:pt x="0" y="0"/>
                </a:moveTo>
                <a:lnTo>
                  <a:pt x="1000125" y="0"/>
                </a:lnTo>
                <a:lnTo>
                  <a:pt x="1000125" y="1000125"/>
                </a:lnTo>
                <a:lnTo>
                  <a:pt x="0" y="1000125"/>
                </a:lnTo>
                <a:lnTo>
                  <a:pt x="0" y="0"/>
                </a:lnTo>
                <a:close/>
              </a:path>
            </a:pathLst>
          </a:custGeom>
          <a:blipFill>
            <a:blip r:embed="rId3"/>
            <a:stretch>
              <a:fillRect/>
            </a:stretch>
          </a:blipFill>
        </p:spPr>
      </p:sp>
      <p:sp>
        <p:nvSpPr>
          <p:cNvPr id="12" name="TextBox 12"/>
          <p:cNvSpPr txBox="1"/>
          <p:nvPr/>
        </p:nvSpPr>
        <p:spPr>
          <a:xfrm>
            <a:off x="2286000" y="1693368"/>
            <a:ext cx="15261970" cy="9437392"/>
          </a:xfrm>
          <a:prstGeom prst="rect">
            <a:avLst/>
          </a:prstGeom>
        </p:spPr>
        <p:txBody>
          <a:bodyPr lIns="0" tIns="0" rIns="0" bIns="0" rtlCol="0" anchor="t">
            <a:spAutoFit/>
          </a:bodyPr>
          <a:lstStyle/>
          <a:p>
            <a:pPr algn="l">
              <a:lnSpc>
                <a:spcPts val="3206"/>
              </a:lnSpc>
            </a:pPr>
            <a:r>
              <a:rPr lang="en-US" sz="2290" dirty="0">
                <a:solidFill>
                  <a:srgbClr val="000000"/>
                </a:solidFill>
                <a:latin typeface="Canva Sans"/>
                <a:ea typeface="Canva Sans"/>
                <a:cs typeface="Canva Sans"/>
                <a:sym typeface="Canva Sans"/>
              </a:rPr>
              <a:t>a phase = </a:t>
            </a:r>
            <a:r>
              <a:rPr lang="en-US" sz="2290" dirty="0" err="1">
                <a:solidFill>
                  <a:srgbClr val="000000"/>
                </a:solidFill>
                <a:latin typeface="Canva Sans"/>
                <a:ea typeface="Canva Sans"/>
                <a:cs typeface="Canva Sans"/>
                <a:sym typeface="Canva Sans"/>
              </a:rPr>
              <a:t>Nph</a:t>
            </a:r>
            <a:r>
              <a:rPr lang="en-US" sz="2290" dirty="0">
                <a:solidFill>
                  <a:srgbClr val="000000"/>
                </a:solidFill>
                <a:latin typeface="Canva Sans"/>
                <a:ea typeface="Canva Sans"/>
                <a:cs typeface="Canva Sans"/>
                <a:sym typeface="Canva Sans"/>
              </a:rPr>
              <a:t> </a:t>
            </a:r>
            <a:r>
              <a:rPr lang="en-US" sz="2290" dirty="0" err="1">
                <a:solidFill>
                  <a:srgbClr val="000000"/>
                </a:solidFill>
                <a:latin typeface="Canva Sans"/>
                <a:ea typeface="Canva Sans"/>
                <a:cs typeface="Canva Sans"/>
                <a:sym typeface="Canva Sans"/>
              </a:rPr>
              <a:t>cosθ</a:t>
            </a:r>
            <a:endParaRPr lang="en-US" sz="2290" dirty="0">
              <a:solidFill>
                <a:srgbClr val="000000"/>
              </a:solidFill>
              <a:latin typeface="Canva Sans"/>
              <a:ea typeface="Canva Sans"/>
              <a:cs typeface="Canva Sans"/>
              <a:sym typeface="Canva Sans"/>
            </a:endParaRPr>
          </a:p>
          <a:p>
            <a:pPr algn="l">
              <a:lnSpc>
                <a:spcPts val="3206"/>
              </a:lnSpc>
            </a:pPr>
            <a:r>
              <a:rPr lang="en-US" sz="2290" dirty="0">
                <a:solidFill>
                  <a:srgbClr val="000000"/>
                </a:solidFill>
                <a:latin typeface="Canva Sans"/>
                <a:ea typeface="Canva Sans"/>
                <a:cs typeface="Canva Sans"/>
                <a:sym typeface="Canva Sans"/>
              </a:rPr>
              <a:t> physical location</a:t>
            </a:r>
          </a:p>
          <a:p>
            <a:pPr algn="l">
              <a:lnSpc>
                <a:spcPts val="3206"/>
              </a:lnSpc>
            </a:pPr>
            <a:r>
              <a:rPr lang="en-US" sz="2290" dirty="0">
                <a:solidFill>
                  <a:srgbClr val="000000"/>
                </a:solidFill>
                <a:latin typeface="Canva Sans"/>
                <a:ea typeface="Canva Sans"/>
                <a:cs typeface="Canva Sans"/>
                <a:sym typeface="Canva Sans"/>
              </a:rPr>
              <a:t> b phase = </a:t>
            </a:r>
            <a:r>
              <a:rPr lang="en-US" sz="2290" dirty="0" err="1">
                <a:solidFill>
                  <a:srgbClr val="000000"/>
                </a:solidFill>
                <a:latin typeface="Canva Sans"/>
                <a:ea typeface="Canva Sans"/>
                <a:cs typeface="Canva Sans"/>
                <a:sym typeface="Canva Sans"/>
              </a:rPr>
              <a:t>Nph</a:t>
            </a:r>
            <a:r>
              <a:rPr lang="en-US" sz="2290" dirty="0">
                <a:solidFill>
                  <a:srgbClr val="000000"/>
                </a:solidFill>
                <a:latin typeface="Canva Sans"/>
                <a:ea typeface="Canva Sans"/>
                <a:cs typeface="Canva Sans"/>
                <a:sym typeface="Canva Sans"/>
              </a:rPr>
              <a:t> cos(θ − 120°)</a:t>
            </a:r>
          </a:p>
          <a:p>
            <a:pPr algn="l">
              <a:lnSpc>
                <a:spcPts val="3206"/>
              </a:lnSpc>
            </a:pPr>
            <a:r>
              <a:rPr lang="en-US" sz="2290" dirty="0">
                <a:solidFill>
                  <a:srgbClr val="000000"/>
                </a:solidFill>
                <a:latin typeface="Canva Sans"/>
                <a:ea typeface="Canva Sans"/>
                <a:cs typeface="Canva Sans"/>
                <a:sym typeface="Canva Sans"/>
              </a:rPr>
              <a:t> c phase = </a:t>
            </a:r>
            <a:r>
              <a:rPr lang="en-US" sz="2290" dirty="0" err="1">
                <a:solidFill>
                  <a:srgbClr val="000000"/>
                </a:solidFill>
                <a:latin typeface="Canva Sans"/>
                <a:ea typeface="Canva Sans"/>
                <a:cs typeface="Canva Sans"/>
                <a:sym typeface="Canva Sans"/>
              </a:rPr>
              <a:t>Nph</a:t>
            </a:r>
            <a:r>
              <a:rPr lang="en-US" sz="2290" dirty="0">
                <a:solidFill>
                  <a:srgbClr val="000000"/>
                </a:solidFill>
                <a:latin typeface="Canva Sans"/>
                <a:ea typeface="Canva Sans"/>
                <a:cs typeface="Canva Sans"/>
                <a:sym typeface="Canva Sans"/>
              </a:rPr>
              <a:t> cos(θ − 240°)</a:t>
            </a:r>
          </a:p>
          <a:p>
            <a:pPr algn="l">
              <a:lnSpc>
                <a:spcPts val="3206"/>
              </a:lnSpc>
            </a:pPr>
            <a:r>
              <a:rPr lang="en-US" sz="2290" dirty="0" err="1">
                <a:solidFill>
                  <a:srgbClr val="000000"/>
                </a:solidFill>
                <a:latin typeface="Canva Sans"/>
                <a:ea typeface="Canva Sans"/>
                <a:cs typeface="Canva Sans"/>
                <a:sym typeface="Canva Sans"/>
              </a:rPr>
              <a:t>ia</a:t>
            </a:r>
            <a:r>
              <a:rPr lang="en-US" sz="2290" dirty="0">
                <a:solidFill>
                  <a:srgbClr val="000000"/>
                </a:solidFill>
                <a:latin typeface="Canva Sans"/>
                <a:ea typeface="Canva Sans"/>
                <a:cs typeface="Canva Sans"/>
                <a:sym typeface="Canva Sans"/>
              </a:rPr>
              <a:t> = </a:t>
            </a:r>
            <a:r>
              <a:rPr lang="en-US" sz="2290" dirty="0" err="1">
                <a:solidFill>
                  <a:srgbClr val="000000"/>
                </a:solidFill>
                <a:latin typeface="Canva Sans"/>
                <a:ea typeface="Canva Sans"/>
                <a:cs typeface="Canva Sans"/>
                <a:sym typeface="Canva Sans"/>
              </a:rPr>
              <a:t>Im</a:t>
            </a:r>
            <a:r>
              <a:rPr lang="en-US" sz="2290" dirty="0">
                <a:solidFill>
                  <a:srgbClr val="000000"/>
                </a:solidFill>
                <a:latin typeface="Canva Sans"/>
                <a:ea typeface="Canva Sans"/>
                <a:cs typeface="Canva Sans"/>
                <a:sym typeface="Canva Sans"/>
              </a:rPr>
              <a:t> </a:t>
            </a:r>
            <a:r>
              <a:rPr lang="en-US" sz="2290" dirty="0" err="1">
                <a:solidFill>
                  <a:srgbClr val="000000"/>
                </a:solidFill>
                <a:latin typeface="Canva Sans"/>
                <a:ea typeface="Canva Sans"/>
                <a:cs typeface="Canva Sans"/>
                <a:sym typeface="Canva Sans"/>
              </a:rPr>
              <a:t>cosωt</a:t>
            </a:r>
            <a:endParaRPr lang="en-US" sz="2290" dirty="0">
              <a:solidFill>
                <a:srgbClr val="000000"/>
              </a:solidFill>
              <a:latin typeface="Canva Sans"/>
              <a:ea typeface="Canva Sans"/>
              <a:cs typeface="Canva Sans"/>
              <a:sym typeface="Canva Sans"/>
            </a:endParaRPr>
          </a:p>
          <a:p>
            <a:pPr algn="l">
              <a:lnSpc>
                <a:spcPts val="3206"/>
              </a:lnSpc>
            </a:pPr>
            <a:r>
              <a:rPr lang="en-US" sz="2290" dirty="0">
                <a:solidFill>
                  <a:srgbClr val="000000"/>
                </a:solidFill>
                <a:latin typeface="Canva Sans"/>
                <a:ea typeface="Canva Sans"/>
                <a:cs typeface="Canva Sans"/>
                <a:sym typeface="Canva Sans"/>
              </a:rPr>
              <a:t> </a:t>
            </a:r>
            <a:r>
              <a:rPr lang="en-US" sz="2290" dirty="0" err="1">
                <a:solidFill>
                  <a:srgbClr val="000000"/>
                </a:solidFill>
                <a:latin typeface="Canva Sans"/>
                <a:ea typeface="Canva Sans"/>
                <a:cs typeface="Canva Sans"/>
                <a:sym typeface="Canva Sans"/>
              </a:rPr>
              <a:t>ib</a:t>
            </a:r>
            <a:r>
              <a:rPr lang="en-US" sz="2290" dirty="0">
                <a:solidFill>
                  <a:srgbClr val="000000"/>
                </a:solidFill>
                <a:latin typeface="Canva Sans"/>
                <a:ea typeface="Canva Sans"/>
                <a:cs typeface="Canva Sans"/>
                <a:sym typeface="Canva Sans"/>
              </a:rPr>
              <a:t> = </a:t>
            </a:r>
            <a:r>
              <a:rPr lang="en-US" sz="2290" dirty="0" err="1">
                <a:solidFill>
                  <a:srgbClr val="000000"/>
                </a:solidFill>
                <a:latin typeface="Canva Sans"/>
                <a:ea typeface="Canva Sans"/>
                <a:cs typeface="Canva Sans"/>
                <a:sym typeface="Canva Sans"/>
              </a:rPr>
              <a:t>Im</a:t>
            </a:r>
            <a:r>
              <a:rPr lang="en-US" sz="2290" dirty="0">
                <a:solidFill>
                  <a:srgbClr val="000000"/>
                </a:solidFill>
                <a:latin typeface="Canva Sans"/>
                <a:ea typeface="Canva Sans"/>
                <a:cs typeface="Canva Sans"/>
                <a:sym typeface="Canva Sans"/>
              </a:rPr>
              <a:t> cos(</a:t>
            </a:r>
            <a:r>
              <a:rPr lang="en-US" sz="2290" dirty="0" err="1">
                <a:solidFill>
                  <a:srgbClr val="000000"/>
                </a:solidFill>
                <a:latin typeface="Canva Sans"/>
                <a:ea typeface="Canva Sans"/>
                <a:cs typeface="Canva Sans"/>
                <a:sym typeface="Canva Sans"/>
              </a:rPr>
              <a:t>ωt</a:t>
            </a:r>
            <a:r>
              <a:rPr lang="en-US" sz="2290" dirty="0">
                <a:solidFill>
                  <a:srgbClr val="000000"/>
                </a:solidFill>
                <a:latin typeface="Canva Sans"/>
                <a:ea typeface="Canva Sans"/>
                <a:cs typeface="Canva Sans"/>
                <a:sym typeface="Canva Sans"/>
              </a:rPr>
              <a:t> − 120°)</a:t>
            </a:r>
          </a:p>
          <a:p>
            <a:pPr algn="l">
              <a:lnSpc>
                <a:spcPts val="3206"/>
              </a:lnSpc>
            </a:pPr>
            <a:r>
              <a:rPr lang="en-US" sz="2290" dirty="0">
                <a:solidFill>
                  <a:srgbClr val="000000"/>
                </a:solidFill>
                <a:latin typeface="Canva Sans"/>
                <a:ea typeface="Canva Sans"/>
                <a:cs typeface="Canva Sans"/>
                <a:sym typeface="Canva Sans"/>
              </a:rPr>
              <a:t> </a:t>
            </a:r>
            <a:r>
              <a:rPr lang="en-US" sz="2290" dirty="0" err="1">
                <a:solidFill>
                  <a:srgbClr val="000000"/>
                </a:solidFill>
                <a:latin typeface="Canva Sans"/>
                <a:ea typeface="Canva Sans"/>
                <a:cs typeface="Canva Sans"/>
                <a:sym typeface="Canva Sans"/>
              </a:rPr>
              <a:t>ic</a:t>
            </a:r>
            <a:r>
              <a:rPr lang="en-US" sz="2290" dirty="0">
                <a:solidFill>
                  <a:srgbClr val="000000"/>
                </a:solidFill>
                <a:latin typeface="Canva Sans"/>
                <a:ea typeface="Canva Sans"/>
                <a:cs typeface="Canva Sans"/>
                <a:sym typeface="Canva Sans"/>
              </a:rPr>
              <a:t> = </a:t>
            </a:r>
            <a:r>
              <a:rPr lang="en-US" sz="2290" dirty="0" err="1">
                <a:solidFill>
                  <a:srgbClr val="000000"/>
                </a:solidFill>
                <a:latin typeface="Canva Sans"/>
                <a:ea typeface="Canva Sans"/>
                <a:cs typeface="Canva Sans"/>
                <a:sym typeface="Canva Sans"/>
              </a:rPr>
              <a:t>Im</a:t>
            </a:r>
            <a:r>
              <a:rPr lang="en-US" sz="2290" dirty="0">
                <a:solidFill>
                  <a:srgbClr val="000000"/>
                </a:solidFill>
                <a:latin typeface="Canva Sans"/>
                <a:ea typeface="Canva Sans"/>
                <a:cs typeface="Canva Sans"/>
                <a:sym typeface="Canva Sans"/>
              </a:rPr>
              <a:t> cos(</a:t>
            </a:r>
            <a:r>
              <a:rPr lang="en-US" sz="2290" dirty="0" err="1">
                <a:solidFill>
                  <a:srgbClr val="000000"/>
                </a:solidFill>
                <a:latin typeface="Canva Sans"/>
                <a:ea typeface="Canva Sans"/>
                <a:cs typeface="Canva Sans"/>
                <a:sym typeface="Canva Sans"/>
              </a:rPr>
              <a:t>ωt</a:t>
            </a:r>
            <a:r>
              <a:rPr lang="en-US" sz="2290" dirty="0">
                <a:solidFill>
                  <a:srgbClr val="000000"/>
                </a:solidFill>
                <a:latin typeface="Canva Sans"/>
                <a:ea typeface="Canva Sans"/>
                <a:cs typeface="Canva Sans"/>
                <a:sym typeface="Canva Sans"/>
              </a:rPr>
              <a:t> − 240°)</a:t>
            </a:r>
          </a:p>
          <a:p>
            <a:pPr algn="l">
              <a:lnSpc>
                <a:spcPts val="3206"/>
              </a:lnSpc>
            </a:pPr>
            <a:r>
              <a:rPr lang="en-US" sz="2290" dirty="0">
                <a:solidFill>
                  <a:srgbClr val="000000"/>
                </a:solidFill>
                <a:latin typeface="Canva Sans"/>
                <a:ea typeface="Canva Sans"/>
                <a:cs typeface="Canva Sans"/>
                <a:sym typeface="Canva Sans"/>
              </a:rPr>
              <a:t>Fa = </a:t>
            </a:r>
            <a:r>
              <a:rPr lang="en-US" sz="2290" dirty="0" err="1">
                <a:solidFill>
                  <a:srgbClr val="000000"/>
                </a:solidFill>
                <a:latin typeface="Canva Sans"/>
                <a:ea typeface="Canva Sans"/>
                <a:cs typeface="Canva Sans"/>
                <a:sym typeface="Canva Sans"/>
              </a:rPr>
              <a:t>Nph</a:t>
            </a:r>
            <a:r>
              <a:rPr lang="en-US" sz="2290" dirty="0">
                <a:solidFill>
                  <a:srgbClr val="000000"/>
                </a:solidFill>
                <a:latin typeface="Canva Sans"/>
                <a:ea typeface="Canva Sans"/>
                <a:cs typeface="Canva Sans"/>
                <a:sym typeface="Canva Sans"/>
              </a:rPr>
              <a:t> </a:t>
            </a:r>
            <a:r>
              <a:rPr lang="en-US" sz="2290" dirty="0" err="1">
                <a:solidFill>
                  <a:srgbClr val="000000"/>
                </a:solidFill>
                <a:latin typeface="Canva Sans"/>
                <a:ea typeface="Canva Sans"/>
                <a:cs typeface="Canva Sans"/>
                <a:sym typeface="Canva Sans"/>
              </a:rPr>
              <a:t>cosθ</a:t>
            </a:r>
            <a:r>
              <a:rPr lang="en-US" sz="2290" dirty="0">
                <a:solidFill>
                  <a:srgbClr val="000000"/>
                </a:solidFill>
                <a:latin typeface="Canva Sans"/>
                <a:ea typeface="Canva Sans"/>
                <a:cs typeface="Canva Sans"/>
                <a:sym typeface="Canva Sans"/>
              </a:rPr>
              <a:t> · </a:t>
            </a:r>
            <a:r>
              <a:rPr lang="en-US" sz="2290" dirty="0" err="1">
                <a:solidFill>
                  <a:srgbClr val="000000"/>
                </a:solidFill>
                <a:latin typeface="Canva Sans"/>
                <a:ea typeface="Canva Sans"/>
                <a:cs typeface="Canva Sans"/>
                <a:sym typeface="Canva Sans"/>
              </a:rPr>
              <a:t>Im</a:t>
            </a:r>
            <a:r>
              <a:rPr lang="en-US" sz="2290" dirty="0">
                <a:solidFill>
                  <a:srgbClr val="000000"/>
                </a:solidFill>
                <a:latin typeface="Canva Sans"/>
                <a:ea typeface="Canva Sans"/>
                <a:cs typeface="Canva Sans"/>
                <a:sym typeface="Canva Sans"/>
              </a:rPr>
              <a:t> </a:t>
            </a:r>
            <a:r>
              <a:rPr lang="en-US" sz="2290" dirty="0" err="1">
                <a:solidFill>
                  <a:srgbClr val="000000"/>
                </a:solidFill>
                <a:latin typeface="Canva Sans"/>
                <a:ea typeface="Canva Sans"/>
                <a:cs typeface="Canva Sans"/>
                <a:sym typeface="Canva Sans"/>
              </a:rPr>
              <a:t>cosωt</a:t>
            </a:r>
            <a:endParaRPr lang="en-US" sz="2290" dirty="0">
              <a:solidFill>
                <a:srgbClr val="000000"/>
              </a:solidFill>
              <a:latin typeface="Canva Sans"/>
              <a:ea typeface="Canva Sans"/>
              <a:cs typeface="Canva Sans"/>
              <a:sym typeface="Canva Sans"/>
            </a:endParaRPr>
          </a:p>
          <a:p>
            <a:pPr algn="l">
              <a:lnSpc>
                <a:spcPts val="3206"/>
              </a:lnSpc>
            </a:pPr>
            <a:r>
              <a:rPr lang="en-US" sz="2290" dirty="0">
                <a:solidFill>
                  <a:srgbClr val="000000"/>
                </a:solidFill>
                <a:latin typeface="Canva Sans"/>
                <a:ea typeface="Canva Sans"/>
                <a:cs typeface="Canva Sans"/>
                <a:sym typeface="Canva Sans"/>
              </a:rPr>
              <a:t> = Fm </a:t>
            </a:r>
            <a:r>
              <a:rPr lang="en-US" sz="2290" dirty="0" err="1">
                <a:solidFill>
                  <a:srgbClr val="000000"/>
                </a:solidFill>
                <a:latin typeface="Canva Sans"/>
                <a:ea typeface="Canva Sans"/>
                <a:cs typeface="Canva Sans"/>
                <a:sym typeface="Canva Sans"/>
              </a:rPr>
              <a:t>cosθ</a:t>
            </a:r>
            <a:r>
              <a:rPr lang="en-US" sz="2290" dirty="0">
                <a:solidFill>
                  <a:srgbClr val="000000"/>
                </a:solidFill>
                <a:latin typeface="Canva Sans"/>
                <a:ea typeface="Canva Sans"/>
                <a:cs typeface="Canva Sans"/>
                <a:sym typeface="Canva Sans"/>
              </a:rPr>
              <a:t> · </a:t>
            </a:r>
            <a:r>
              <a:rPr lang="en-US" sz="2290" dirty="0" err="1">
                <a:solidFill>
                  <a:srgbClr val="000000"/>
                </a:solidFill>
                <a:latin typeface="Canva Sans"/>
                <a:ea typeface="Canva Sans"/>
                <a:cs typeface="Canva Sans"/>
                <a:sym typeface="Canva Sans"/>
              </a:rPr>
              <a:t>cosωt</a:t>
            </a:r>
            <a:endParaRPr lang="en-US" sz="2290" dirty="0">
              <a:solidFill>
                <a:srgbClr val="000000"/>
              </a:solidFill>
              <a:latin typeface="Canva Sans"/>
              <a:ea typeface="Canva Sans"/>
              <a:cs typeface="Canva Sans"/>
              <a:sym typeface="Canva Sans"/>
            </a:endParaRPr>
          </a:p>
          <a:p>
            <a:pPr algn="l">
              <a:lnSpc>
                <a:spcPts val="3206"/>
              </a:lnSpc>
            </a:pPr>
            <a:r>
              <a:rPr lang="en-US" sz="2290" dirty="0">
                <a:solidFill>
                  <a:srgbClr val="000000"/>
                </a:solidFill>
                <a:latin typeface="Canva Sans"/>
                <a:ea typeface="Canva Sans"/>
                <a:cs typeface="Canva Sans"/>
                <a:sym typeface="Canva Sans"/>
              </a:rPr>
              <a:t>Fb = </a:t>
            </a:r>
            <a:r>
              <a:rPr lang="en-US" sz="2290" dirty="0" err="1">
                <a:solidFill>
                  <a:srgbClr val="000000"/>
                </a:solidFill>
                <a:latin typeface="Canva Sans"/>
                <a:ea typeface="Canva Sans"/>
                <a:cs typeface="Canva Sans"/>
                <a:sym typeface="Canva Sans"/>
              </a:rPr>
              <a:t>Nph</a:t>
            </a:r>
            <a:r>
              <a:rPr lang="en-US" sz="2290" dirty="0">
                <a:solidFill>
                  <a:srgbClr val="000000"/>
                </a:solidFill>
                <a:latin typeface="Canva Sans"/>
                <a:ea typeface="Canva Sans"/>
                <a:cs typeface="Canva Sans"/>
                <a:sym typeface="Canva Sans"/>
              </a:rPr>
              <a:t> cos(θ − 120°) </a:t>
            </a:r>
            <a:r>
              <a:rPr lang="en-US" sz="2290" dirty="0" err="1">
                <a:solidFill>
                  <a:srgbClr val="000000"/>
                </a:solidFill>
                <a:latin typeface="Canva Sans"/>
                <a:ea typeface="Canva Sans"/>
                <a:cs typeface="Canva Sans"/>
                <a:sym typeface="Canva Sans"/>
              </a:rPr>
              <a:t>Im</a:t>
            </a:r>
            <a:r>
              <a:rPr lang="en-US" sz="2290" dirty="0">
                <a:solidFill>
                  <a:srgbClr val="000000"/>
                </a:solidFill>
                <a:latin typeface="Canva Sans"/>
                <a:ea typeface="Canva Sans"/>
                <a:cs typeface="Canva Sans"/>
                <a:sym typeface="Canva Sans"/>
              </a:rPr>
              <a:t> cos(</a:t>
            </a:r>
            <a:r>
              <a:rPr lang="en-US" sz="2290" dirty="0" err="1">
                <a:solidFill>
                  <a:srgbClr val="000000"/>
                </a:solidFill>
                <a:latin typeface="Canva Sans"/>
                <a:ea typeface="Canva Sans"/>
                <a:cs typeface="Canva Sans"/>
                <a:sym typeface="Canva Sans"/>
              </a:rPr>
              <a:t>ωt</a:t>
            </a:r>
            <a:r>
              <a:rPr lang="en-US" sz="2290" dirty="0">
                <a:solidFill>
                  <a:srgbClr val="000000"/>
                </a:solidFill>
                <a:latin typeface="Canva Sans"/>
                <a:ea typeface="Canva Sans"/>
                <a:cs typeface="Canva Sans"/>
                <a:sym typeface="Canva Sans"/>
              </a:rPr>
              <a:t> − 120°)</a:t>
            </a:r>
          </a:p>
          <a:p>
            <a:pPr algn="l">
              <a:lnSpc>
                <a:spcPts val="3206"/>
              </a:lnSpc>
            </a:pPr>
            <a:r>
              <a:rPr lang="en-US" sz="2290" dirty="0">
                <a:solidFill>
                  <a:srgbClr val="000000"/>
                </a:solidFill>
                <a:latin typeface="Canva Sans"/>
                <a:ea typeface="Canva Sans"/>
                <a:cs typeface="Canva Sans"/>
                <a:sym typeface="Canva Sans"/>
              </a:rPr>
              <a:t> = </a:t>
            </a:r>
            <a:r>
              <a:rPr lang="en-US" sz="2290" dirty="0" err="1">
                <a:solidFill>
                  <a:srgbClr val="000000"/>
                </a:solidFill>
                <a:latin typeface="Canva Sans"/>
                <a:ea typeface="Canva Sans"/>
                <a:cs typeface="Canva Sans"/>
                <a:sym typeface="Canva Sans"/>
              </a:rPr>
              <a:t>Nph</a:t>
            </a:r>
            <a:r>
              <a:rPr lang="en-US" sz="2290" dirty="0">
                <a:solidFill>
                  <a:srgbClr val="000000"/>
                </a:solidFill>
                <a:latin typeface="Canva Sans"/>
                <a:ea typeface="Canva Sans"/>
                <a:cs typeface="Canva Sans"/>
                <a:sym typeface="Canva Sans"/>
              </a:rPr>
              <a:t> </a:t>
            </a:r>
            <a:r>
              <a:rPr lang="en-US" sz="2290" dirty="0" err="1">
                <a:solidFill>
                  <a:srgbClr val="000000"/>
                </a:solidFill>
                <a:latin typeface="Canva Sans"/>
                <a:ea typeface="Canva Sans"/>
                <a:cs typeface="Canva Sans"/>
                <a:sym typeface="Canva Sans"/>
              </a:rPr>
              <a:t>Im</a:t>
            </a:r>
            <a:r>
              <a:rPr lang="en-US" sz="2290" dirty="0">
                <a:solidFill>
                  <a:srgbClr val="000000"/>
                </a:solidFill>
                <a:latin typeface="Canva Sans"/>
                <a:ea typeface="Canva Sans"/>
                <a:cs typeface="Canva Sans"/>
                <a:sym typeface="Canva Sans"/>
              </a:rPr>
              <a:t> cos(θ − 120°) cos(</a:t>
            </a:r>
            <a:r>
              <a:rPr lang="en-US" sz="2290" dirty="0" err="1">
                <a:solidFill>
                  <a:srgbClr val="000000"/>
                </a:solidFill>
                <a:latin typeface="Canva Sans"/>
                <a:ea typeface="Canva Sans"/>
                <a:cs typeface="Canva Sans"/>
                <a:sym typeface="Canva Sans"/>
              </a:rPr>
              <a:t>ωt</a:t>
            </a:r>
            <a:r>
              <a:rPr lang="en-US" sz="2290" dirty="0">
                <a:solidFill>
                  <a:srgbClr val="000000"/>
                </a:solidFill>
                <a:latin typeface="Canva Sans"/>
                <a:ea typeface="Canva Sans"/>
                <a:cs typeface="Canva Sans"/>
                <a:sym typeface="Canva Sans"/>
              </a:rPr>
              <a:t> − 120°)</a:t>
            </a:r>
          </a:p>
          <a:p>
            <a:pPr algn="l">
              <a:lnSpc>
                <a:spcPts val="3206"/>
              </a:lnSpc>
            </a:pPr>
            <a:r>
              <a:rPr lang="en-US" sz="2290" dirty="0">
                <a:solidFill>
                  <a:srgbClr val="000000"/>
                </a:solidFill>
                <a:latin typeface="Canva Sans"/>
                <a:ea typeface="Canva Sans"/>
                <a:cs typeface="Canva Sans"/>
                <a:sym typeface="Canva Sans"/>
              </a:rPr>
              <a:t>Fc = </a:t>
            </a:r>
            <a:r>
              <a:rPr lang="en-US" sz="2290" dirty="0" err="1">
                <a:solidFill>
                  <a:srgbClr val="000000"/>
                </a:solidFill>
                <a:latin typeface="Canva Sans"/>
                <a:ea typeface="Canva Sans"/>
                <a:cs typeface="Canva Sans"/>
                <a:sym typeface="Canva Sans"/>
              </a:rPr>
              <a:t>Nph</a:t>
            </a:r>
            <a:r>
              <a:rPr lang="en-US" sz="2290" dirty="0">
                <a:solidFill>
                  <a:srgbClr val="000000"/>
                </a:solidFill>
                <a:latin typeface="Canva Sans"/>
                <a:ea typeface="Canva Sans"/>
                <a:cs typeface="Canva Sans"/>
                <a:sym typeface="Canva Sans"/>
              </a:rPr>
              <a:t> cos(θ − 240°) </a:t>
            </a:r>
            <a:r>
              <a:rPr lang="en-US" sz="2290" dirty="0" err="1">
                <a:solidFill>
                  <a:srgbClr val="000000"/>
                </a:solidFill>
                <a:latin typeface="Canva Sans"/>
                <a:ea typeface="Canva Sans"/>
                <a:cs typeface="Canva Sans"/>
                <a:sym typeface="Canva Sans"/>
              </a:rPr>
              <a:t>Im</a:t>
            </a:r>
            <a:r>
              <a:rPr lang="en-US" sz="2290" dirty="0">
                <a:solidFill>
                  <a:srgbClr val="000000"/>
                </a:solidFill>
                <a:latin typeface="Canva Sans"/>
                <a:ea typeface="Canva Sans"/>
                <a:cs typeface="Canva Sans"/>
                <a:sym typeface="Canva Sans"/>
              </a:rPr>
              <a:t> cos(</a:t>
            </a:r>
            <a:r>
              <a:rPr lang="en-US" sz="2290" dirty="0" err="1">
                <a:solidFill>
                  <a:srgbClr val="000000"/>
                </a:solidFill>
                <a:latin typeface="Canva Sans"/>
                <a:ea typeface="Canva Sans"/>
                <a:cs typeface="Canva Sans"/>
                <a:sym typeface="Canva Sans"/>
              </a:rPr>
              <a:t>ωt</a:t>
            </a:r>
            <a:r>
              <a:rPr lang="en-US" sz="2290" dirty="0">
                <a:solidFill>
                  <a:srgbClr val="000000"/>
                </a:solidFill>
                <a:latin typeface="Canva Sans"/>
                <a:ea typeface="Canva Sans"/>
                <a:cs typeface="Canva Sans"/>
                <a:sym typeface="Canva Sans"/>
              </a:rPr>
              <a:t> − 240°)</a:t>
            </a:r>
          </a:p>
          <a:p>
            <a:pPr algn="l">
              <a:lnSpc>
                <a:spcPts val="3206"/>
              </a:lnSpc>
            </a:pPr>
            <a:r>
              <a:rPr lang="en-US" sz="2290" dirty="0">
                <a:solidFill>
                  <a:srgbClr val="000000"/>
                </a:solidFill>
                <a:latin typeface="Canva Sans"/>
                <a:ea typeface="Canva Sans"/>
                <a:cs typeface="Canva Sans"/>
                <a:sym typeface="Canva Sans"/>
              </a:rPr>
              <a:t> = </a:t>
            </a:r>
            <a:r>
              <a:rPr lang="en-US" sz="2290" dirty="0" err="1">
                <a:solidFill>
                  <a:srgbClr val="000000"/>
                </a:solidFill>
                <a:latin typeface="Canva Sans"/>
                <a:ea typeface="Canva Sans"/>
                <a:cs typeface="Canva Sans"/>
                <a:sym typeface="Canva Sans"/>
              </a:rPr>
              <a:t>Nph</a:t>
            </a:r>
            <a:r>
              <a:rPr lang="en-US" sz="2290" dirty="0">
                <a:solidFill>
                  <a:srgbClr val="000000"/>
                </a:solidFill>
                <a:latin typeface="Canva Sans"/>
                <a:ea typeface="Canva Sans"/>
                <a:cs typeface="Canva Sans"/>
                <a:sym typeface="Canva Sans"/>
              </a:rPr>
              <a:t> </a:t>
            </a:r>
            <a:r>
              <a:rPr lang="en-US" sz="2290" dirty="0" err="1">
                <a:solidFill>
                  <a:srgbClr val="000000"/>
                </a:solidFill>
                <a:latin typeface="Canva Sans"/>
                <a:ea typeface="Canva Sans"/>
                <a:cs typeface="Canva Sans"/>
                <a:sym typeface="Canva Sans"/>
              </a:rPr>
              <a:t>Im</a:t>
            </a:r>
            <a:r>
              <a:rPr lang="en-US" sz="2290" dirty="0">
                <a:solidFill>
                  <a:srgbClr val="000000"/>
                </a:solidFill>
                <a:latin typeface="Canva Sans"/>
                <a:ea typeface="Canva Sans"/>
                <a:cs typeface="Canva Sans"/>
                <a:sym typeface="Canva Sans"/>
              </a:rPr>
              <a:t> cos(θ − 240°) cos(</a:t>
            </a:r>
            <a:r>
              <a:rPr lang="en-US" sz="2290" dirty="0" err="1">
                <a:solidFill>
                  <a:srgbClr val="000000"/>
                </a:solidFill>
                <a:latin typeface="Canva Sans"/>
                <a:ea typeface="Canva Sans"/>
                <a:cs typeface="Canva Sans"/>
                <a:sym typeface="Canva Sans"/>
              </a:rPr>
              <a:t>ωt</a:t>
            </a:r>
            <a:r>
              <a:rPr lang="en-US" sz="2290" dirty="0">
                <a:solidFill>
                  <a:srgbClr val="000000"/>
                </a:solidFill>
                <a:latin typeface="Canva Sans"/>
                <a:ea typeface="Canva Sans"/>
                <a:cs typeface="Canva Sans"/>
                <a:sym typeface="Canva Sans"/>
              </a:rPr>
              <a:t> − 240°)</a:t>
            </a:r>
          </a:p>
          <a:p>
            <a:pPr algn="l">
              <a:lnSpc>
                <a:spcPts val="3206"/>
              </a:lnSpc>
            </a:pPr>
            <a:r>
              <a:rPr lang="en-US" sz="2290" dirty="0">
                <a:solidFill>
                  <a:srgbClr val="000000"/>
                </a:solidFill>
                <a:latin typeface="Canva Sans"/>
                <a:ea typeface="Canva Sans"/>
                <a:cs typeface="Canva Sans"/>
                <a:sym typeface="Canva Sans"/>
              </a:rPr>
              <a:t>FR = Fa + Fb + Fc</a:t>
            </a:r>
          </a:p>
          <a:p>
            <a:pPr algn="l">
              <a:lnSpc>
                <a:spcPts val="3206"/>
              </a:lnSpc>
            </a:pPr>
            <a:r>
              <a:rPr lang="en-US" sz="2290" dirty="0">
                <a:solidFill>
                  <a:srgbClr val="000000"/>
                </a:solidFill>
                <a:latin typeface="Canva Sans"/>
                <a:ea typeface="Canva Sans"/>
                <a:cs typeface="Canva Sans"/>
                <a:sym typeface="Canva Sans"/>
              </a:rPr>
              <a:t> Resultant </a:t>
            </a:r>
            <a:r>
              <a:rPr lang="en-US" sz="2290" dirty="0" err="1">
                <a:solidFill>
                  <a:srgbClr val="000000"/>
                </a:solidFill>
                <a:latin typeface="Canva Sans"/>
                <a:ea typeface="Canva Sans"/>
                <a:cs typeface="Canva Sans"/>
                <a:sym typeface="Canva Sans"/>
              </a:rPr>
              <a:t>mmf</a:t>
            </a:r>
            <a:endParaRPr lang="en-US" sz="2290" dirty="0">
              <a:solidFill>
                <a:srgbClr val="000000"/>
              </a:solidFill>
              <a:latin typeface="Canva Sans"/>
              <a:ea typeface="Canva Sans"/>
              <a:cs typeface="Canva Sans"/>
              <a:sym typeface="Canva Sans"/>
            </a:endParaRPr>
          </a:p>
          <a:p>
            <a:pPr algn="l">
              <a:lnSpc>
                <a:spcPts val="3206"/>
              </a:lnSpc>
            </a:pPr>
            <a:r>
              <a:rPr lang="en-US" sz="2290" dirty="0">
                <a:solidFill>
                  <a:srgbClr val="000000"/>
                </a:solidFill>
                <a:latin typeface="Canva Sans"/>
                <a:ea typeface="Canva Sans"/>
                <a:cs typeface="Canva Sans"/>
                <a:sym typeface="Canva Sans"/>
              </a:rPr>
              <a:t>            3</a:t>
            </a:r>
          </a:p>
          <a:p>
            <a:pPr>
              <a:lnSpc>
                <a:spcPts val="3206"/>
              </a:lnSpc>
            </a:pPr>
            <a:r>
              <a:rPr lang="en-US" sz="2290" b="1" dirty="0">
                <a:solidFill>
                  <a:srgbClr val="000000"/>
                </a:solidFill>
                <a:latin typeface="Canva Sans"/>
                <a:ea typeface="Times New Roman Bold"/>
                <a:cs typeface="Times New Roman Bold"/>
                <a:sym typeface="Canva Sans"/>
              </a:rPr>
              <a:t>FR= ────Fm cos(</a:t>
            </a:r>
            <a:r>
              <a:rPr lang="en-US" sz="2290" dirty="0">
                <a:solidFill>
                  <a:srgbClr val="000000"/>
                </a:solidFill>
                <a:latin typeface="Canva Sans"/>
                <a:ea typeface="Canva Sans"/>
                <a:cs typeface="Canva Sans"/>
                <a:sym typeface="Canva Sans"/>
              </a:rPr>
              <a:t>θ −</a:t>
            </a:r>
            <a:r>
              <a:rPr lang="en-US" sz="2290" dirty="0" err="1">
                <a:solidFill>
                  <a:srgbClr val="000000"/>
                </a:solidFill>
                <a:latin typeface="Canva Sans"/>
                <a:ea typeface="Canva Sans"/>
                <a:cs typeface="Canva Sans"/>
                <a:sym typeface="Canva Sans"/>
              </a:rPr>
              <a:t>wt</a:t>
            </a:r>
            <a:r>
              <a:rPr lang="en-US" sz="2290" dirty="0">
                <a:solidFill>
                  <a:srgbClr val="000000"/>
                </a:solidFill>
                <a:latin typeface="Canva Sans"/>
                <a:ea typeface="Canva Sans"/>
                <a:cs typeface="Canva Sans"/>
                <a:sym typeface="Canva Sans"/>
              </a:rPr>
              <a:t>)</a:t>
            </a:r>
            <a:endParaRPr lang="en-US" sz="2290" b="1" dirty="0">
              <a:solidFill>
                <a:srgbClr val="000000"/>
              </a:solidFill>
              <a:latin typeface="Canva Sans"/>
              <a:ea typeface="Times New Roman Bold"/>
              <a:cs typeface="Times New Roman Bold"/>
              <a:sym typeface="Canva Sans"/>
            </a:endParaRPr>
          </a:p>
          <a:p>
            <a:pPr>
              <a:lnSpc>
                <a:spcPts val="3206"/>
              </a:lnSpc>
            </a:pPr>
            <a:r>
              <a:rPr lang="en-US" sz="2400" b="1" dirty="0">
                <a:solidFill>
                  <a:srgbClr val="000000"/>
                </a:solidFill>
                <a:latin typeface="Times New Roman Bold"/>
                <a:ea typeface="Times New Roman Bold"/>
                <a:cs typeface="Times New Roman Bold"/>
                <a:sym typeface="Times New Roman Bold"/>
              </a:rPr>
              <a:t>           2</a:t>
            </a:r>
          </a:p>
          <a:p>
            <a:pPr algn="l">
              <a:lnSpc>
                <a:spcPts val="3206"/>
              </a:lnSpc>
            </a:pPr>
            <a:r>
              <a:rPr lang="en-US" sz="2290" dirty="0">
                <a:solidFill>
                  <a:srgbClr val="000000"/>
                </a:solidFill>
                <a:latin typeface="Canva Sans"/>
                <a:ea typeface="Canva Sans"/>
                <a:cs typeface="Canva Sans"/>
                <a:sym typeface="Canva Sans"/>
              </a:rPr>
              <a:t>The resultant </a:t>
            </a:r>
            <a:r>
              <a:rPr lang="en-US" sz="2290" dirty="0" err="1">
                <a:solidFill>
                  <a:srgbClr val="000000"/>
                </a:solidFill>
                <a:latin typeface="Canva Sans"/>
                <a:ea typeface="Canva Sans"/>
                <a:cs typeface="Canva Sans"/>
                <a:sym typeface="Canva Sans"/>
              </a:rPr>
              <a:t>mmf</a:t>
            </a:r>
            <a:r>
              <a:rPr lang="en-US" sz="2290" dirty="0">
                <a:solidFill>
                  <a:srgbClr val="000000"/>
                </a:solidFill>
                <a:latin typeface="Canva Sans"/>
                <a:ea typeface="Canva Sans"/>
                <a:cs typeface="Canva Sans"/>
                <a:sym typeface="Canva Sans"/>
              </a:rPr>
              <a:t> is rotating with respect to space.</a:t>
            </a:r>
          </a:p>
          <a:p>
            <a:pPr algn="l">
              <a:lnSpc>
                <a:spcPts val="3206"/>
              </a:lnSpc>
            </a:pPr>
            <a:r>
              <a:rPr lang="en-US" sz="2290" dirty="0">
                <a:solidFill>
                  <a:srgbClr val="000000"/>
                </a:solidFill>
                <a:latin typeface="Canva Sans"/>
                <a:ea typeface="Canva Sans"/>
                <a:cs typeface="Canva Sans"/>
                <a:sym typeface="Canva Sans"/>
              </a:rPr>
              <a:t> So it is called rotating magnetic field.</a:t>
            </a:r>
          </a:p>
          <a:p>
            <a:pPr algn="l">
              <a:lnSpc>
                <a:spcPts val="3435"/>
              </a:lnSpc>
            </a:pPr>
            <a:endParaRPr lang="en-US" sz="2290" dirty="0">
              <a:solidFill>
                <a:srgbClr val="000000"/>
              </a:solidFill>
              <a:latin typeface="Canva Sans"/>
              <a:ea typeface="Canva Sans"/>
              <a:cs typeface="Canva Sans"/>
              <a:sym typeface="Canva Sans"/>
            </a:endParaRPr>
          </a:p>
          <a:p>
            <a:pPr algn="l">
              <a:lnSpc>
                <a:spcPts val="3206"/>
              </a:lnSpc>
            </a:pPr>
            <a:endParaRPr lang="en-US" sz="2290" dirty="0">
              <a:solidFill>
                <a:srgbClr val="000000"/>
              </a:solidFill>
              <a:latin typeface="Canva Sans"/>
              <a:ea typeface="Canva Sans"/>
              <a:cs typeface="Canva Sans"/>
              <a:sym typeface="Canva Sans"/>
            </a:endParaRPr>
          </a:p>
          <a:p>
            <a:pPr algn="l">
              <a:lnSpc>
                <a:spcPts val="3206"/>
              </a:lnSpc>
            </a:pPr>
            <a:endParaRPr lang="en-US" sz="2290" dirty="0">
              <a:solidFill>
                <a:srgbClr val="000000"/>
              </a:solidFill>
              <a:latin typeface="Canva Sans"/>
              <a:ea typeface="Canva Sans"/>
              <a:cs typeface="Canva Sans"/>
              <a:sym typeface="Canv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830999"/>
            <a:ext cx="13716000" cy="617209"/>
            <a:chOff x="0" y="0"/>
            <a:chExt cx="18288000" cy="822945"/>
          </a:xfrm>
        </p:grpSpPr>
        <p:sp>
          <p:nvSpPr>
            <p:cNvPr id="3" name="Freeform 3"/>
            <p:cNvSpPr/>
            <p:nvPr/>
          </p:nvSpPr>
          <p:spPr>
            <a:xfrm>
              <a:off x="0" y="0"/>
              <a:ext cx="18288000" cy="822958"/>
            </a:xfrm>
            <a:custGeom>
              <a:avLst/>
              <a:gdLst/>
              <a:ahLst/>
              <a:cxnLst/>
              <a:rect l="l" t="t" r="r" b="b"/>
              <a:pathLst>
                <a:path w="18288000" h="822958">
                  <a:moveTo>
                    <a:pt x="0" y="0"/>
                  </a:moveTo>
                  <a:lnTo>
                    <a:pt x="18288000" y="0"/>
                  </a:lnTo>
                  <a:lnTo>
                    <a:pt x="18288000" y="822958"/>
                  </a:lnTo>
                  <a:lnTo>
                    <a:pt x="0" y="822958"/>
                  </a:lnTo>
                  <a:close/>
                </a:path>
              </a:pathLst>
            </a:custGeom>
            <a:solidFill>
              <a:srgbClr val="E59EDD">
                <a:alpha val="27059"/>
              </a:srgbClr>
            </a:solidFill>
            <a:ln w="12700">
              <a:solidFill>
                <a:srgbClr val="000000"/>
              </a:solidFill>
            </a:ln>
          </p:spPr>
        </p:sp>
        <p:sp>
          <p:nvSpPr>
            <p:cNvPr id="4" name="TextBox 4"/>
            <p:cNvSpPr txBox="1"/>
            <p:nvPr/>
          </p:nvSpPr>
          <p:spPr>
            <a:xfrm>
              <a:off x="0" y="-19050"/>
              <a:ext cx="18288000" cy="841995"/>
            </a:xfrm>
            <a:prstGeom prst="rect">
              <a:avLst/>
            </a:prstGeom>
          </p:spPr>
          <p:txBody>
            <a:bodyPr lIns="50800" tIns="50800" rIns="50800" bIns="50800" rtlCol="0" anchor="t"/>
            <a:lstStyle/>
            <a:p>
              <a:pPr algn="ctr">
                <a:lnSpc>
                  <a:spcPts val="3240"/>
                </a:lnSpc>
              </a:pPr>
              <a:r>
                <a:rPr lang="en-US" sz="2700" b="1">
                  <a:solidFill>
                    <a:srgbClr val="000000"/>
                  </a:solidFill>
                  <a:latin typeface="Times New Roman Bold"/>
                  <a:ea typeface="Times New Roman Bold"/>
                  <a:cs typeface="Times New Roman Bold"/>
                  <a:sym typeface="Times New Roman Bold"/>
                </a:rPr>
                <a:t> </a:t>
              </a:r>
            </a:p>
          </p:txBody>
        </p:sp>
      </p:grpSp>
      <p:grpSp>
        <p:nvGrpSpPr>
          <p:cNvPr id="5" name="Group 5"/>
          <p:cNvGrpSpPr/>
          <p:nvPr/>
        </p:nvGrpSpPr>
        <p:grpSpPr>
          <a:xfrm>
            <a:off x="2286000" y="1"/>
            <a:ext cx="13716000" cy="747998"/>
            <a:chOff x="0" y="0"/>
            <a:chExt cx="18288000" cy="997331"/>
          </a:xfrm>
        </p:grpSpPr>
        <p:sp>
          <p:nvSpPr>
            <p:cNvPr id="6" name="Freeform 6"/>
            <p:cNvSpPr/>
            <p:nvPr/>
          </p:nvSpPr>
          <p:spPr>
            <a:xfrm>
              <a:off x="0" y="0"/>
              <a:ext cx="18288000" cy="997331"/>
            </a:xfrm>
            <a:custGeom>
              <a:avLst/>
              <a:gdLst/>
              <a:ahLst/>
              <a:cxnLst/>
              <a:rect l="l" t="t" r="r" b="b"/>
              <a:pathLst>
                <a:path w="18288000" h="997331">
                  <a:moveTo>
                    <a:pt x="0" y="0"/>
                  </a:moveTo>
                  <a:lnTo>
                    <a:pt x="18288000" y="0"/>
                  </a:lnTo>
                  <a:lnTo>
                    <a:pt x="18288000" y="997331"/>
                  </a:lnTo>
                  <a:lnTo>
                    <a:pt x="0" y="997331"/>
                  </a:lnTo>
                  <a:close/>
                </a:path>
              </a:pathLst>
            </a:custGeom>
            <a:solidFill>
              <a:srgbClr val="E97132"/>
            </a:solidFill>
            <a:ln w="12700">
              <a:solidFill>
                <a:srgbClr val="000000"/>
              </a:solidFill>
            </a:ln>
          </p:spPr>
        </p:sp>
        <p:sp>
          <p:nvSpPr>
            <p:cNvPr id="7" name="TextBox 7"/>
            <p:cNvSpPr txBox="1"/>
            <p:nvPr/>
          </p:nvSpPr>
          <p:spPr>
            <a:xfrm>
              <a:off x="0" y="-200025"/>
              <a:ext cx="18288000" cy="1197356"/>
            </a:xfrm>
            <a:prstGeom prst="rect">
              <a:avLst/>
            </a:prstGeom>
          </p:spPr>
          <p:txBody>
            <a:bodyPr lIns="50800" tIns="50800" rIns="50800" bIns="50800" rtlCol="0" anchor="t"/>
            <a:lstStyle/>
            <a:p>
              <a:pPr algn="ctr">
                <a:lnSpc>
                  <a:spcPts val="5400"/>
                </a:lnSpc>
              </a:pPr>
              <a:r>
                <a:rPr lang="en-US" sz="3000" b="1">
                  <a:solidFill>
                    <a:srgbClr val="EEECE1"/>
                  </a:solidFill>
                  <a:latin typeface="Times New Roman Bold"/>
                  <a:ea typeface="Times New Roman Bold"/>
                  <a:cs typeface="Times New Roman Bold"/>
                  <a:sym typeface="Times New Roman Bold"/>
                </a:rPr>
                <a:t>SECTION : I</a:t>
              </a:r>
            </a:p>
          </p:txBody>
        </p:sp>
      </p:grpSp>
      <p:sp>
        <p:nvSpPr>
          <p:cNvPr id="11" name="Freeform 11"/>
          <p:cNvSpPr/>
          <p:nvPr/>
        </p:nvSpPr>
        <p:spPr>
          <a:xfrm>
            <a:off x="15001875" y="101184"/>
            <a:ext cx="1000125" cy="1000125"/>
          </a:xfrm>
          <a:custGeom>
            <a:avLst/>
            <a:gdLst/>
            <a:ahLst/>
            <a:cxnLst/>
            <a:rect l="l" t="t" r="r" b="b"/>
            <a:pathLst>
              <a:path w="1000125" h="1000125">
                <a:moveTo>
                  <a:pt x="0" y="0"/>
                </a:moveTo>
                <a:lnTo>
                  <a:pt x="1000125" y="0"/>
                </a:lnTo>
                <a:lnTo>
                  <a:pt x="1000125" y="1000125"/>
                </a:lnTo>
                <a:lnTo>
                  <a:pt x="0" y="1000125"/>
                </a:lnTo>
                <a:lnTo>
                  <a:pt x="0" y="0"/>
                </a:lnTo>
                <a:close/>
              </a:path>
            </a:pathLst>
          </a:custGeom>
          <a:blipFill>
            <a:blip r:embed="rId3"/>
            <a:stretch>
              <a:fillRect/>
            </a:stretch>
          </a:blipFill>
        </p:spPr>
      </p:sp>
      <p:sp>
        <p:nvSpPr>
          <p:cNvPr id="12" name="TextBox 12"/>
          <p:cNvSpPr txBox="1"/>
          <p:nvPr/>
        </p:nvSpPr>
        <p:spPr>
          <a:xfrm>
            <a:off x="2286000" y="1476783"/>
            <a:ext cx="15503497" cy="7765074"/>
          </a:xfrm>
          <a:prstGeom prst="rect">
            <a:avLst/>
          </a:prstGeom>
        </p:spPr>
        <p:txBody>
          <a:bodyPr lIns="0" tIns="0" rIns="0" bIns="0" rtlCol="0" anchor="t">
            <a:spAutoFit/>
          </a:bodyPr>
          <a:lstStyle/>
          <a:p>
            <a:pPr algn="just">
              <a:lnSpc>
                <a:spcPts val="3803"/>
              </a:lnSpc>
            </a:pPr>
            <a:r>
              <a:rPr lang="en-US" sz="2716" dirty="0">
                <a:solidFill>
                  <a:srgbClr val="000000"/>
                </a:solidFill>
                <a:latin typeface="Canva Sans"/>
                <a:ea typeface="Canva Sans"/>
                <a:cs typeface="Canva Sans"/>
                <a:sym typeface="Canva Sans"/>
              </a:rPr>
              <a:t>To check balance 3ϕ system</a:t>
            </a:r>
          </a:p>
          <a:p>
            <a:pPr algn="just">
              <a:lnSpc>
                <a:spcPts val="3803"/>
              </a:lnSpc>
            </a:pPr>
            <a:r>
              <a:rPr lang="en-US" sz="2716" dirty="0">
                <a:solidFill>
                  <a:srgbClr val="000000"/>
                </a:solidFill>
                <a:latin typeface="Canva Sans"/>
                <a:ea typeface="Canva Sans"/>
                <a:cs typeface="Canva Sans"/>
                <a:sym typeface="Canva Sans"/>
              </a:rPr>
              <a:t>IA = IB = IC = 1.5 A</a:t>
            </a:r>
          </a:p>
          <a:p>
            <a:pPr algn="just">
              <a:lnSpc>
                <a:spcPts val="3803"/>
              </a:lnSpc>
            </a:pPr>
            <a:r>
              <a:rPr lang="en-US" sz="2716" dirty="0" err="1">
                <a:solidFill>
                  <a:srgbClr val="000000"/>
                </a:solidFill>
                <a:latin typeface="Canva Sans"/>
                <a:ea typeface="Canva Sans"/>
                <a:cs typeface="Canva Sans"/>
                <a:sym typeface="Canva Sans"/>
              </a:rPr>
              <a:t>Ib</a:t>
            </a:r>
            <a:r>
              <a:rPr lang="en-US" sz="2716" dirty="0">
                <a:solidFill>
                  <a:srgbClr val="000000"/>
                </a:solidFill>
                <a:latin typeface="Canva Sans"/>
                <a:ea typeface="Canva Sans"/>
                <a:cs typeface="Canva Sans"/>
                <a:sym typeface="Canva Sans"/>
              </a:rPr>
              <a:t> = </a:t>
            </a:r>
            <a:r>
              <a:rPr lang="en-US" sz="2716" dirty="0" err="1">
                <a:solidFill>
                  <a:srgbClr val="000000"/>
                </a:solidFill>
                <a:latin typeface="Canva Sans"/>
                <a:ea typeface="Canva Sans"/>
                <a:cs typeface="Canva Sans"/>
                <a:sym typeface="Canva Sans"/>
              </a:rPr>
              <a:t>Ic</a:t>
            </a:r>
            <a:r>
              <a:rPr lang="en-US" sz="2716" dirty="0">
                <a:solidFill>
                  <a:srgbClr val="000000"/>
                </a:solidFill>
                <a:latin typeface="Canva Sans"/>
                <a:ea typeface="Canva Sans"/>
                <a:cs typeface="Canva Sans"/>
                <a:sym typeface="Canva Sans"/>
              </a:rPr>
              <a:t> = IA</a:t>
            </a:r>
          </a:p>
          <a:p>
            <a:pPr algn="just">
              <a:lnSpc>
                <a:spcPts val="3803"/>
              </a:lnSpc>
            </a:pPr>
            <a:r>
              <a:rPr lang="en-US" sz="2716" dirty="0" err="1">
                <a:solidFill>
                  <a:srgbClr val="000000"/>
                </a:solidFill>
                <a:latin typeface="Canva Sans"/>
                <a:ea typeface="Canva Sans"/>
                <a:cs typeface="Canva Sans"/>
                <a:sym typeface="Canva Sans"/>
              </a:rPr>
              <a:t>Ia</a:t>
            </a:r>
            <a:r>
              <a:rPr lang="en-US" sz="2716" dirty="0">
                <a:solidFill>
                  <a:srgbClr val="000000"/>
                </a:solidFill>
                <a:latin typeface="Canva Sans"/>
                <a:ea typeface="Canva Sans"/>
                <a:cs typeface="Canva Sans"/>
                <a:sym typeface="Canva Sans"/>
              </a:rPr>
              <a:t> = 1.5 A</a:t>
            </a:r>
          </a:p>
          <a:p>
            <a:pPr algn="just">
              <a:lnSpc>
                <a:spcPts val="3803"/>
              </a:lnSpc>
            </a:pPr>
            <a:r>
              <a:rPr lang="en-US" sz="2716" dirty="0" err="1">
                <a:solidFill>
                  <a:srgbClr val="000000"/>
                </a:solidFill>
                <a:latin typeface="Canva Sans"/>
                <a:ea typeface="Canva Sans"/>
                <a:cs typeface="Canva Sans"/>
                <a:sym typeface="Canva Sans"/>
              </a:rPr>
              <a:t>Ib</a:t>
            </a:r>
            <a:r>
              <a:rPr lang="en-US" sz="2716" dirty="0">
                <a:solidFill>
                  <a:srgbClr val="000000"/>
                </a:solidFill>
                <a:latin typeface="Canva Sans"/>
                <a:ea typeface="Canva Sans"/>
                <a:cs typeface="Canva Sans"/>
                <a:sym typeface="Canva Sans"/>
              </a:rPr>
              <a:t> = </a:t>
            </a:r>
            <a:r>
              <a:rPr lang="en-US" sz="2716" dirty="0" err="1">
                <a:solidFill>
                  <a:srgbClr val="000000"/>
                </a:solidFill>
                <a:latin typeface="Canva Sans"/>
                <a:ea typeface="Canva Sans"/>
                <a:cs typeface="Canva Sans"/>
                <a:sym typeface="Canva Sans"/>
              </a:rPr>
              <a:t>Ic</a:t>
            </a:r>
            <a:r>
              <a:rPr lang="en-US" sz="2716" dirty="0">
                <a:solidFill>
                  <a:srgbClr val="000000"/>
                </a:solidFill>
                <a:latin typeface="Canva Sans"/>
                <a:ea typeface="Canva Sans"/>
                <a:cs typeface="Canva Sans"/>
                <a:sym typeface="Canva Sans"/>
              </a:rPr>
              <a:t> = 1.5 A</a:t>
            </a:r>
          </a:p>
          <a:p>
            <a:pPr algn="just">
              <a:lnSpc>
                <a:spcPts val="3803"/>
              </a:lnSpc>
            </a:pPr>
            <a:r>
              <a:rPr lang="en-US" sz="2716" dirty="0">
                <a:solidFill>
                  <a:srgbClr val="000000"/>
                </a:solidFill>
                <a:latin typeface="Canva Sans"/>
                <a:ea typeface="Canva Sans"/>
                <a:cs typeface="Canva Sans"/>
                <a:sym typeface="Canva Sans"/>
              </a:rPr>
              <a:t>IC = IB = IA</a:t>
            </a:r>
          </a:p>
          <a:p>
            <a:pPr algn="just">
              <a:lnSpc>
                <a:spcPts val="3803"/>
              </a:lnSpc>
            </a:pPr>
            <a:r>
              <a:rPr lang="en-US" sz="2716" dirty="0">
                <a:solidFill>
                  <a:srgbClr val="000000"/>
                </a:solidFill>
                <a:latin typeface="Canva Sans"/>
                <a:ea typeface="Canva Sans"/>
                <a:cs typeface="Canva Sans"/>
                <a:sym typeface="Canva Sans"/>
              </a:rPr>
              <a:t>The load is balanced one half operates at (0.8 lag) and another half operates at (0.6 lag)</a:t>
            </a:r>
          </a:p>
          <a:p>
            <a:pPr algn="just">
              <a:lnSpc>
                <a:spcPts val="3803"/>
              </a:lnSpc>
            </a:pPr>
            <a:r>
              <a:rPr lang="en-US" sz="2716" dirty="0">
                <a:solidFill>
                  <a:srgbClr val="000000"/>
                </a:solidFill>
                <a:latin typeface="Canva Sans"/>
                <a:ea typeface="Canva Sans"/>
                <a:cs typeface="Canva Sans"/>
                <a:sym typeface="Canva Sans"/>
              </a:rPr>
              <a:t>(kVA) rating = 15 kVA</a:t>
            </a:r>
          </a:p>
          <a:p>
            <a:pPr algn="just">
              <a:lnSpc>
                <a:spcPts val="3803"/>
              </a:lnSpc>
            </a:pPr>
            <a:r>
              <a:rPr lang="en-US" sz="2716" dirty="0">
                <a:solidFill>
                  <a:srgbClr val="000000"/>
                </a:solidFill>
                <a:latin typeface="Canva Sans"/>
                <a:ea typeface="Canva Sans"/>
                <a:cs typeface="Canva Sans"/>
                <a:sym typeface="Canva Sans"/>
              </a:rPr>
              <a:t>15 kVA = 5 kVA (3ϕ)</a:t>
            </a:r>
          </a:p>
          <a:p>
            <a:pPr algn="just">
              <a:lnSpc>
                <a:spcPts val="3803"/>
              </a:lnSpc>
            </a:pPr>
            <a:r>
              <a:rPr lang="en-US" sz="2716" dirty="0" err="1">
                <a:solidFill>
                  <a:srgbClr val="000000"/>
                </a:solidFill>
                <a:latin typeface="Canva Sans"/>
                <a:ea typeface="Canva Sans"/>
                <a:cs typeface="Canva Sans"/>
                <a:sym typeface="Canva Sans"/>
              </a:rPr>
              <a:t>Cosϕ</a:t>
            </a:r>
            <a:r>
              <a:rPr lang="en-US" sz="2716" dirty="0">
                <a:solidFill>
                  <a:srgbClr val="000000"/>
                </a:solidFill>
                <a:latin typeface="Canva Sans"/>
                <a:ea typeface="Canva Sans"/>
                <a:cs typeface="Canva Sans"/>
                <a:sym typeface="Canva Sans"/>
              </a:rPr>
              <a:t> and another half operates at</a:t>
            </a:r>
          </a:p>
          <a:p>
            <a:pPr algn="just">
              <a:lnSpc>
                <a:spcPts val="3803"/>
              </a:lnSpc>
            </a:pPr>
            <a:r>
              <a:rPr lang="en-US" sz="2716" dirty="0">
                <a:solidFill>
                  <a:srgbClr val="000000"/>
                </a:solidFill>
                <a:latin typeface="Canva Sans"/>
                <a:ea typeface="Canva Sans"/>
                <a:cs typeface="Canva Sans"/>
                <a:sym typeface="Canva Sans"/>
              </a:rPr>
              <a:t> (0.6 lag)</a:t>
            </a:r>
          </a:p>
          <a:p>
            <a:pPr algn="just">
              <a:lnSpc>
                <a:spcPts val="3803"/>
              </a:lnSpc>
            </a:pPr>
            <a:endParaRPr lang="en-US" sz="2716" dirty="0">
              <a:solidFill>
                <a:srgbClr val="000000"/>
              </a:solidFill>
              <a:latin typeface="Canva Sans"/>
              <a:ea typeface="Canva Sans"/>
              <a:cs typeface="Canva Sans"/>
              <a:sym typeface="Canva Sans"/>
            </a:endParaRPr>
          </a:p>
          <a:p>
            <a:pPr algn="just">
              <a:lnSpc>
                <a:spcPts val="3803"/>
              </a:lnSpc>
            </a:pPr>
            <a:endParaRPr lang="en-US" sz="2716" dirty="0">
              <a:solidFill>
                <a:srgbClr val="000000"/>
              </a:solidFill>
              <a:latin typeface="Canva Sans"/>
              <a:ea typeface="Canva Sans"/>
              <a:cs typeface="Canva Sans"/>
              <a:sym typeface="Canva Sans"/>
            </a:endParaRPr>
          </a:p>
          <a:p>
            <a:pPr algn="just">
              <a:lnSpc>
                <a:spcPts val="3803"/>
              </a:lnSpc>
            </a:pPr>
            <a:endParaRPr lang="en-US" sz="2716" dirty="0">
              <a:solidFill>
                <a:srgbClr val="000000"/>
              </a:solidFill>
              <a:latin typeface="Canva Sans"/>
              <a:ea typeface="Canva Sans"/>
              <a:cs typeface="Canva Sans"/>
              <a:sym typeface="Canva Sans"/>
            </a:endParaRPr>
          </a:p>
          <a:p>
            <a:pPr algn="just">
              <a:lnSpc>
                <a:spcPts val="3803"/>
              </a:lnSpc>
            </a:pPr>
            <a:endParaRPr lang="en-US" sz="2716" dirty="0">
              <a:solidFill>
                <a:srgbClr val="000000"/>
              </a:solidFill>
              <a:latin typeface="Canva Sans"/>
              <a:ea typeface="Canva Sans"/>
              <a:cs typeface="Canva Sans"/>
              <a:sym typeface="Canva Sans"/>
            </a:endParaRPr>
          </a:p>
          <a:p>
            <a:pPr algn="just">
              <a:lnSpc>
                <a:spcPts val="3803"/>
              </a:lnSpc>
            </a:pPr>
            <a:endParaRPr lang="en-US" sz="2716" dirty="0">
              <a:solidFill>
                <a:srgbClr val="000000"/>
              </a:solidFill>
              <a:latin typeface="Canva Sans"/>
              <a:ea typeface="Canva Sans"/>
              <a:cs typeface="Canva Sans"/>
              <a:sym typeface="Canva Sans"/>
            </a:endParaRPr>
          </a:p>
        </p:txBody>
      </p:sp>
      <p:sp>
        <p:nvSpPr>
          <p:cNvPr id="13" name="TextBox 13"/>
          <p:cNvSpPr txBox="1"/>
          <p:nvPr/>
        </p:nvSpPr>
        <p:spPr>
          <a:xfrm>
            <a:off x="2286000" y="6885622"/>
            <a:ext cx="3429000" cy="884858"/>
          </a:xfrm>
          <a:prstGeom prst="rect">
            <a:avLst/>
          </a:prstGeom>
        </p:spPr>
        <p:txBody>
          <a:bodyPr wrap="square" lIns="0" tIns="0" rIns="0" bIns="0" rtlCol="0" anchor="t">
            <a:spAutoFit/>
          </a:bodyPr>
          <a:lstStyle/>
          <a:p>
            <a:pPr algn="ctr">
              <a:lnSpc>
                <a:spcPts val="2318"/>
              </a:lnSpc>
              <a:spcBef>
                <a:spcPct val="0"/>
              </a:spcBef>
            </a:pPr>
            <a:r>
              <a:rPr lang="en-US" sz="1932" b="1" dirty="0">
                <a:solidFill>
                  <a:srgbClr val="000000"/>
                </a:solidFill>
                <a:latin typeface="Times New Roman Bold"/>
                <a:ea typeface="Times New Roman Bold"/>
                <a:cs typeface="Times New Roman Bold"/>
                <a:sym typeface="Times New Roman Bold"/>
              </a:rPr>
              <a:t>p</a:t>
            </a:r>
          </a:p>
          <a:p>
            <a:pPr algn="ctr">
              <a:lnSpc>
                <a:spcPts val="2318"/>
              </a:lnSpc>
              <a:spcBef>
                <a:spcPct val="0"/>
              </a:spcBef>
            </a:pPr>
            <a:r>
              <a:rPr lang="en-US" sz="1932" b="1" dirty="0">
                <a:solidFill>
                  <a:srgbClr val="000000"/>
                </a:solidFill>
                <a:latin typeface="Times New Roman Bold"/>
                <a:ea typeface="Times New Roman Bold"/>
                <a:cs typeface="Times New Roman Bold"/>
                <a:sym typeface="Times New Roman Bold"/>
              </a:rPr>
              <a:t>I =   ──────────</a:t>
            </a:r>
          </a:p>
          <a:p>
            <a:pPr algn="ctr">
              <a:lnSpc>
                <a:spcPts val="2318"/>
              </a:lnSpc>
              <a:spcBef>
                <a:spcPct val="0"/>
              </a:spcBef>
            </a:pPr>
            <a:r>
              <a:rPr lang="en-US" sz="1932" b="1" dirty="0">
                <a:solidFill>
                  <a:srgbClr val="000000"/>
                </a:solidFill>
                <a:latin typeface="Times New Roman Bold"/>
                <a:ea typeface="Times New Roman Bold"/>
                <a:cs typeface="Times New Roman Bold"/>
                <a:sym typeface="Times New Roman Bold"/>
              </a:rPr>
              <a:t>      √3 VL </a:t>
            </a:r>
            <a:r>
              <a:rPr lang="en-US" sz="1932" b="1" dirty="0" err="1">
                <a:solidFill>
                  <a:srgbClr val="000000"/>
                </a:solidFill>
                <a:latin typeface="Times New Roman Bold"/>
                <a:ea typeface="Times New Roman Bold"/>
                <a:cs typeface="Times New Roman Bold"/>
                <a:sym typeface="Times New Roman Bold"/>
              </a:rPr>
              <a:t>cosϕ</a:t>
            </a:r>
            <a:endParaRPr lang="en-US" sz="1932" b="1" dirty="0">
              <a:solidFill>
                <a:srgbClr val="000000"/>
              </a:solidFill>
              <a:latin typeface="Times New Roman Bold"/>
              <a:ea typeface="Times New Roman Bold"/>
              <a:cs typeface="Times New Roman Bold"/>
              <a:sym typeface="Times New Roman Bold"/>
            </a:endParaRPr>
          </a:p>
        </p:txBody>
      </p:sp>
      <p:sp>
        <p:nvSpPr>
          <p:cNvPr id="14" name="TextBox 14"/>
          <p:cNvSpPr txBox="1"/>
          <p:nvPr/>
        </p:nvSpPr>
        <p:spPr>
          <a:xfrm>
            <a:off x="2286000" y="8012868"/>
            <a:ext cx="3220408" cy="873630"/>
          </a:xfrm>
          <a:prstGeom prst="rect">
            <a:avLst/>
          </a:prstGeom>
        </p:spPr>
        <p:txBody>
          <a:bodyPr lIns="0" tIns="0" rIns="0" bIns="0" rtlCol="0" anchor="t">
            <a:spAutoFit/>
          </a:bodyPr>
          <a:lstStyle/>
          <a:p>
            <a:pPr algn="ctr">
              <a:lnSpc>
                <a:spcPts val="2253"/>
              </a:lnSpc>
              <a:spcBef>
                <a:spcPct val="0"/>
              </a:spcBef>
            </a:pPr>
            <a:r>
              <a:rPr lang="en-US" sz="1877" b="1">
                <a:solidFill>
                  <a:srgbClr val="000000"/>
                </a:solidFill>
                <a:latin typeface="Times New Roman Bold"/>
                <a:ea typeface="Times New Roman Bold"/>
                <a:cs typeface="Times New Roman Bold"/>
                <a:sym typeface="Times New Roman Bold"/>
              </a:rPr>
              <a:t>      15000</a:t>
            </a:r>
          </a:p>
          <a:p>
            <a:pPr algn="ctr">
              <a:lnSpc>
                <a:spcPts val="2253"/>
              </a:lnSpc>
              <a:spcBef>
                <a:spcPct val="0"/>
              </a:spcBef>
            </a:pPr>
            <a:r>
              <a:rPr lang="en-US" sz="1877" b="1">
                <a:solidFill>
                  <a:srgbClr val="000000"/>
                </a:solidFill>
                <a:latin typeface="Times New Roman Bold"/>
                <a:ea typeface="Times New Roman Bold"/>
                <a:cs typeface="Times New Roman Bold"/>
                <a:sym typeface="Times New Roman Bold"/>
              </a:rPr>
              <a:t>I = ─────────────────</a:t>
            </a:r>
          </a:p>
          <a:p>
            <a:pPr algn="ctr">
              <a:lnSpc>
                <a:spcPts val="2253"/>
              </a:lnSpc>
              <a:spcBef>
                <a:spcPct val="0"/>
              </a:spcBef>
            </a:pPr>
            <a:r>
              <a:rPr lang="en-US" sz="1877" b="1">
                <a:solidFill>
                  <a:srgbClr val="000000"/>
                </a:solidFill>
                <a:latin typeface="Times New Roman Bold"/>
                <a:ea typeface="Times New Roman Bold"/>
                <a:cs typeface="Times New Roman Bold"/>
                <a:sym typeface="Times New Roman Bold"/>
              </a:rPr>
              <a:t>    √3 × 415 × 0.8</a:t>
            </a:r>
          </a:p>
        </p:txBody>
      </p:sp>
      <p:sp>
        <p:nvSpPr>
          <p:cNvPr id="15" name="TextBox 15"/>
          <p:cNvSpPr txBox="1"/>
          <p:nvPr/>
        </p:nvSpPr>
        <p:spPr>
          <a:xfrm>
            <a:off x="2286000" y="9183291"/>
            <a:ext cx="1147482" cy="351234"/>
          </a:xfrm>
          <a:prstGeom prst="rect">
            <a:avLst/>
          </a:prstGeom>
        </p:spPr>
        <p:txBody>
          <a:bodyPr lIns="0" tIns="0" rIns="0" bIns="0" rtlCol="0" anchor="t">
            <a:spAutoFit/>
          </a:bodyPr>
          <a:lstStyle/>
          <a:p>
            <a:pPr algn="ctr">
              <a:lnSpc>
                <a:spcPts val="2627"/>
              </a:lnSpc>
              <a:spcBef>
                <a:spcPct val="0"/>
              </a:spcBef>
            </a:pPr>
            <a:r>
              <a:rPr lang="en-US" sz="2189" b="1">
                <a:solidFill>
                  <a:srgbClr val="000000"/>
                </a:solidFill>
                <a:latin typeface="Times New Roman Bold"/>
                <a:ea typeface="Times New Roman Bold"/>
                <a:cs typeface="Times New Roman Bold"/>
                <a:sym typeface="Times New Roman Bold"/>
              </a:rPr>
              <a:t>I = 26.1 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830999"/>
            <a:ext cx="13716000" cy="617209"/>
            <a:chOff x="0" y="0"/>
            <a:chExt cx="18288000" cy="822945"/>
          </a:xfrm>
        </p:grpSpPr>
        <p:sp>
          <p:nvSpPr>
            <p:cNvPr id="3" name="Freeform 3"/>
            <p:cNvSpPr/>
            <p:nvPr/>
          </p:nvSpPr>
          <p:spPr>
            <a:xfrm>
              <a:off x="0" y="0"/>
              <a:ext cx="18288000" cy="822958"/>
            </a:xfrm>
            <a:custGeom>
              <a:avLst/>
              <a:gdLst/>
              <a:ahLst/>
              <a:cxnLst/>
              <a:rect l="l" t="t" r="r" b="b"/>
              <a:pathLst>
                <a:path w="18288000" h="822958">
                  <a:moveTo>
                    <a:pt x="0" y="0"/>
                  </a:moveTo>
                  <a:lnTo>
                    <a:pt x="18288000" y="0"/>
                  </a:lnTo>
                  <a:lnTo>
                    <a:pt x="18288000" y="822958"/>
                  </a:lnTo>
                  <a:lnTo>
                    <a:pt x="0" y="822958"/>
                  </a:lnTo>
                  <a:close/>
                </a:path>
              </a:pathLst>
            </a:custGeom>
            <a:solidFill>
              <a:srgbClr val="E59EDD">
                <a:alpha val="27059"/>
              </a:srgbClr>
            </a:solidFill>
            <a:ln w="12700">
              <a:solidFill>
                <a:srgbClr val="000000"/>
              </a:solidFill>
            </a:ln>
          </p:spPr>
        </p:sp>
        <p:sp>
          <p:nvSpPr>
            <p:cNvPr id="4" name="TextBox 4"/>
            <p:cNvSpPr txBox="1"/>
            <p:nvPr/>
          </p:nvSpPr>
          <p:spPr>
            <a:xfrm>
              <a:off x="0" y="-19050"/>
              <a:ext cx="18288000" cy="841995"/>
            </a:xfrm>
            <a:prstGeom prst="rect">
              <a:avLst/>
            </a:prstGeom>
          </p:spPr>
          <p:txBody>
            <a:bodyPr lIns="50800" tIns="50800" rIns="50800" bIns="50800" rtlCol="0" anchor="t"/>
            <a:lstStyle/>
            <a:p>
              <a:pPr algn="ctr">
                <a:lnSpc>
                  <a:spcPts val="3240"/>
                </a:lnSpc>
              </a:pPr>
              <a:r>
                <a:rPr lang="en-US" sz="2700" b="1">
                  <a:solidFill>
                    <a:srgbClr val="000000"/>
                  </a:solidFill>
                  <a:latin typeface="Times New Roman Bold"/>
                  <a:ea typeface="Times New Roman Bold"/>
                  <a:cs typeface="Times New Roman Bold"/>
                  <a:sym typeface="Times New Roman Bold"/>
                </a:rPr>
                <a:t> </a:t>
              </a:r>
            </a:p>
          </p:txBody>
        </p:sp>
      </p:grpSp>
      <p:grpSp>
        <p:nvGrpSpPr>
          <p:cNvPr id="5" name="Group 5"/>
          <p:cNvGrpSpPr/>
          <p:nvPr/>
        </p:nvGrpSpPr>
        <p:grpSpPr>
          <a:xfrm>
            <a:off x="2286000" y="1"/>
            <a:ext cx="13716000" cy="747998"/>
            <a:chOff x="0" y="0"/>
            <a:chExt cx="18288000" cy="997331"/>
          </a:xfrm>
        </p:grpSpPr>
        <p:sp>
          <p:nvSpPr>
            <p:cNvPr id="6" name="Freeform 6"/>
            <p:cNvSpPr/>
            <p:nvPr/>
          </p:nvSpPr>
          <p:spPr>
            <a:xfrm>
              <a:off x="0" y="0"/>
              <a:ext cx="18288000" cy="997331"/>
            </a:xfrm>
            <a:custGeom>
              <a:avLst/>
              <a:gdLst/>
              <a:ahLst/>
              <a:cxnLst/>
              <a:rect l="l" t="t" r="r" b="b"/>
              <a:pathLst>
                <a:path w="18288000" h="997331">
                  <a:moveTo>
                    <a:pt x="0" y="0"/>
                  </a:moveTo>
                  <a:lnTo>
                    <a:pt x="18288000" y="0"/>
                  </a:lnTo>
                  <a:lnTo>
                    <a:pt x="18288000" y="997331"/>
                  </a:lnTo>
                  <a:lnTo>
                    <a:pt x="0" y="997331"/>
                  </a:lnTo>
                  <a:close/>
                </a:path>
              </a:pathLst>
            </a:custGeom>
            <a:solidFill>
              <a:srgbClr val="E97132"/>
            </a:solidFill>
            <a:ln w="12700">
              <a:solidFill>
                <a:srgbClr val="000000"/>
              </a:solidFill>
            </a:ln>
          </p:spPr>
        </p:sp>
        <p:sp>
          <p:nvSpPr>
            <p:cNvPr id="7" name="TextBox 7"/>
            <p:cNvSpPr txBox="1"/>
            <p:nvPr/>
          </p:nvSpPr>
          <p:spPr>
            <a:xfrm>
              <a:off x="0" y="-200025"/>
              <a:ext cx="18288000" cy="1197356"/>
            </a:xfrm>
            <a:prstGeom prst="rect">
              <a:avLst/>
            </a:prstGeom>
          </p:spPr>
          <p:txBody>
            <a:bodyPr lIns="50800" tIns="50800" rIns="50800" bIns="50800" rtlCol="0" anchor="t"/>
            <a:lstStyle/>
            <a:p>
              <a:pPr algn="ctr">
                <a:lnSpc>
                  <a:spcPts val="5400"/>
                </a:lnSpc>
              </a:pPr>
              <a:r>
                <a:rPr lang="en-US" sz="3000" b="1">
                  <a:solidFill>
                    <a:srgbClr val="EEECE1"/>
                  </a:solidFill>
                  <a:latin typeface="Times New Roman Bold"/>
                  <a:ea typeface="Times New Roman Bold"/>
                  <a:cs typeface="Times New Roman Bold"/>
                  <a:sym typeface="Times New Roman Bold"/>
                </a:rPr>
                <a:t>SECTION : I</a:t>
              </a:r>
            </a:p>
          </p:txBody>
        </p:sp>
      </p:grpSp>
      <p:sp>
        <p:nvSpPr>
          <p:cNvPr id="11" name="Freeform 11"/>
          <p:cNvSpPr/>
          <p:nvPr/>
        </p:nvSpPr>
        <p:spPr>
          <a:xfrm>
            <a:off x="15001875" y="101184"/>
            <a:ext cx="1000125" cy="1000125"/>
          </a:xfrm>
          <a:custGeom>
            <a:avLst/>
            <a:gdLst/>
            <a:ahLst/>
            <a:cxnLst/>
            <a:rect l="l" t="t" r="r" b="b"/>
            <a:pathLst>
              <a:path w="1000125" h="1000125">
                <a:moveTo>
                  <a:pt x="0" y="0"/>
                </a:moveTo>
                <a:lnTo>
                  <a:pt x="1000125" y="0"/>
                </a:lnTo>
                <a:lnTo>
                  <a:pt x="1000125" y="1000125"/>
                </a:lnTo>
                <a:lnTo>
                  <a:pt x="0" y="1000125"/>
                </a:lnTo>
                <a:lnTo>
                  <a:pt x="0" y="0"/>
                </a:lnTo>
                <a:close/>
              </a:path>
            </a:pathLst>
          </a:custGeom>
          <a:blipFill>
            <a:blip r:embed="rId3"/>
            <a:stretch>
              <a:fillRect/>
            </a:stretch>
          </a:blipFill>
        </p:spPr>
      </p:sp>
      <p:sp>
        <p:nvSpPr>
          <p:cNvPr id="12" name="TextBox 12"/>
          <p:cNvSpPr txBox="1"/>
          <p:nvPr/>
        </p:nvSpPr>
        <p:spPr>
          <a:xfrm>
            <a:off x="2286000" y="2021744"/>
            <a:ext cx="3392794" cy="843395"/>
          </a:xfrm>
          <a:prstGeom prst="rect">
            <a:avLst/>
          </a:prstGeom>
        </p:spPr>
        <p:txBody>
          <a:bodyPr lIns="0" tIns="0" rIns="0" bIns="0" rtlCol="0" anchor="t">
            <a:spAutoFit/>
          </a:bodyPr>
          <a:lstStyle/>
          <a:p>
            <a:pPr algn="ctr">
              <a:lnSpc>
                <a:spcPts val="2148"/>
              </a:lnSpc>
              <a:spcBef>
                <a:spcPct val="0"/>
              </a:spcBef>
            </a:pPr>
            <a:r>
              <a:rPr lang="en-US" sz="1790" b="1" dirty="0">
                <a:solidFill>
                  <a:srgbClr val="000000"/>
                </a:solidFill>
                <a:latin typeface="Times New Roman Bold"/>
                <a:ea typeface="Times New Roman Bold"/>
                <a:cs typeface="Times New Roman Bold"/>
                <a:sym typeface="Times New Roman Bold"/>
              </a:rPr>
              <a:t>        15000</a:t>
            </a:r>
          </a:p>
          <a:p>
            <a:pPr algn="ctr">
              <a:lnSpc>
                <a:spcPts val="2148"/>
              </a:lnSpc>
              <a:spcBef>
                <a:spcPct val="0"/>
              </a:spcBef>
            </a:pPr>
            <a:r>
              <a:rPr lang="en-US" sz="1790" b="1" dirty="0">
                <a:solidFill>
                  <a:srgbClr val="000000"/>
                </a:solidFill>
                <a:latin typeface="Times New Roman Bold"/>
                <a:ea typeface="Times New Roman Bold"/>
                <a:cs typeface="Times New Roman Bold"/>
                <a:sym typeface="Times New Roman Bold"/>
              </a:rPr>
              <a:t>I = ───────────────────</a:t>
            </a:r>
          </a:p>
          <a:p>
            <a:pPr algn="ctr">
              <a:lnSpc>
                <a:spcPts val="2148"/>
              </a:lnSpc>
              <a:spcBef>
                <a:spcPct val="0"/>
              </a:spcBef>
            </a:pPr>
            <a:r>
              <a:rPr lang="en-US" sz="1790" b="1" dirty="0">
                <a:solidFill>
                  <a:srgbClr val="000000"/>
                </a:solidFill>
                <a:latin typeface="Times New Roman Bold"/>
                <a:ea typeface="Times New Roman Bold"/>
                <a:cs typeface="Times New Roman Bold"/>
                <a:sym typeface="Times New Roman Bold"/>
              </a:rPr>
              <a:t>     √3 × 415 × 0.6</a:t>
            </a:r>
          </a:p>
        </p:txBody>
      </p:sp>
      <p:sp>
        <p:nvSpPr>
          <p:cNvPr id="13" name="TextBox 13"/>
          <p:cNvSpPr txBox="1"/>
          <p:nvPr/>
        </p:nvSpPr>
        <p:spPr>
          <a:xfrm>
            <a:off x="2286000" y="3227972"/>
            <a:ext cx="16476108" cy="3807531"/>
          </a:xfrm>
          <a:prstGeom prst="rect">
            <a:avLst/>
          </a:prstGeom>
        </p:spPr>
        <p:txBody>
          <a:bodyPr lIns="0" tIns="0" rIns="0" bIns="0" rtlCol="0" anchor="t">
            <a:spAutoFit/>
          </a:bodyPr>
          <a:lstStyle/>
          <a:p>
            <a:pPr algn="l">
              <a:lnSpc>
                <a:spcPts val="2724"/>
              </a:lnSpc>
              <a:spcBef>
                <a:spcPct val="0"/>
              </a:spcBef>
            </a:pPr>
            <a:endParaRPr/>
          </a:p>
          <a:p>
            <a:pPr algn="l">
              <a:lnSpc>
                <a:spcPts val="2724"/>
              </a:lnSpc>
              <a:spcBef>
                <a:spcPct val="0"/>
              </a:spcBef>
            </a:pPr>
            <a:r>
              <a:rPr lang="en-US" sz="2270" b="1">
                <a:solidFill>
                  <a:srgbClr val="000000"/>
                </a:solidFill>
                <a:latin typeface="Times New Roman Bold"/>
                <a:ea typeface="Times New Roman Bold"/>
                <a:cs typeface="Times New Roman Bold"/>
                <a:sym typeface="Times New Roman Bold"/>
              </a:rPr>
              <a:t>Vector Diagram</a:t>
            </a:r>
          </a:p>
          <a:p>
            <a:pPr algn="l">
              <a:lnSpc>
                <a:spcPts val="2724"/>
              </a:lnSpc>
              <a:spcBef>
                <a:spcPct val="0"/>
              </a:spcBef>
            </a:pPr>
            <a:r>
              <a:rPr lang="en-US" sz="2270" b="1">
                <a:solidFill>
                  <a:srgbClr val="000000"/>
                </a:solidFill>
                <a:latin typeface="Times New Roman Bold"/>
                <a:ea typeface="Times New Roman Bold"/>
                <a:cs typeface="Times New Roman Bold"/>
                <a:sym typeface="Times New Roman Bold"/>
              </a:rPr>
              <a:t>(Phasor diagram showing VR, VB, VY, IR, IB, IY, N/BM, 30+ϕ, 30-ϕ, θ, IC, IA, IB)</a:t>
            </a:r>
          </a:p>
          <a:p>
            <a:pPr algn="l">
              <a:lnSpc>
                <a:spcPts val="2724"/>
              </a:lnSpc>
              <a:spcBef>
                <a:spcPct val="0"/>
              </a:spcBef>
            </a:pPr>
            <a:r>
              <a:rPr lang="en-US" sz="2270" b="1">
                <a:solidFill>
                  <a:srgbClr val="000000"/>
                </a:solidFill>
                <a:latin typeface="Times New Roman Bold"/>
                <a:ea typeface="Times New Roman Bold"/>
                <a:cs typeface="Times New Roman Bold"/>
                <a:sym typeface="Times New Roman Bold"/>
              </a:rPr>
              <a:t>Utilization factor = actual connection path to rated path</a:t>
            </a:r>
          </a:p>
          <a:p>
            <a:pPr algn="l">
              <a:lnSpc>
                <a:spcPts val="2724"/>
              </a:lnSpc>
              <a:spcBef>
                <a:spcPct val="0"/>
              </a:spcBef>
            </a:pPr>
            <a:r>
              <a:rPr lang="en-US" sz="2270" b="1">
                <a:solidFill>
                  <a:srgbClr val="000000"/>
                </a:solidFill>
                <a:latin typeface="Times New Roman Bold"/>
                <a:ea typeface="Times New Roman Bold"/>
                <a:cs typeface="Times New Roman Bold"/>
                <a:sym typeface="Times New Roman Bold"/>
              </a:rPr>
              <a:t>866.6% of two units</a:t>
            </a:r>
          </a:p>
          <a:p>
            <a:pPr algn="l">
              <a:lnSpc>
                <a:spcPts val="2724"/>
              </a:lnSpc>
              <a:spcBef>
                <a:spcPct val="0"/>
              </a:spcBef>
            </a:pPr>
            <a:r>
              <a:rPr lang="en-US" sz="2270" b="1">
                <a:solidFill>
                  <a:srgbClr val="000000"/>
                </a:solidFill>
                <a:latin typeface="Times New Roman Bold"/>
                <a:ea typeface="Times New Roman Bold"/>
                <a:cs typeface="Times New Roman Bold"/>
                <a:sym typeface="Times New Roman Bold"/>
              </a:rPr>
              <a:t> Different in one unit</a:t>
            </a:r>
          </a:p>
          <a:p>
            <a:pPr algn="l">
              <a:lnSpc>
                <a:spcPts val="2724"/>
              </a:lnSpc>
              <a:spcBef>
                <a:spcPct val="0"/>
              </a:spcBef>
            </a:pPr>
            <a:r>
              <a:rPr lang="en-US" sz="2270" b="1">
                <a:solidFill>
                  <a:srgbClr val="000000"/>
                </a:solidFill>
                <a:latin typeface="Times New Roman Bold"/>
                <a:ea typeface="Times New Roman Bold"/>
                <a:cs typeface="Times New Roman Bold"/>
                <a:sym typeface="Times New Roman Bold"/>
              </a:rPr>
              <a:t>NI = √2 another unit</a:t>
            </a:r>
          </a:p>
          <a:p>
            <a:pPr algn="l">
              <a:lnSpc>
                <a:spcPts val="2724"/>
              </a:lnSpc>
              <a:spcBef>
                <a:spcPct val="0"/>
              </a:spcBef>
            </a:pPr>
            <a:r>
              <a:rPr lang="en-US" sz="2270" b="1">
                <a:solidFill>
                  <a:srgbClr val="000000"/>
                </a:solidFill>
                <a:latin typeface="Times New Roman Bold"/>
                <a:ea typeface="Times New Roman Bold"/>
                <a:cs typeface="Times New Roman Bold"/>
                <a:sym typeface="Times New Roman Bold"/>
              </a:rPr>
              <a:t>No choice for scale consider then</a:t>
            </a:r>
          </a:p>
          <a:p>
            <a:pPr algn="l">
              <a:lnSpc>
                <a:spcPts val="2724"/>
              </a:lnSpc>
              <a:spcBef>
                <a:spcPct val="0"/>
              </a:spcBef>
            </a:pPr>
            <a:r>
              <a:rPr lang="en-US" sz="2270" b="1">
                <a:solidFill>
                  <a:srgbClr val="000000"/>
                </a:solidFill>
                <a:latin typeface="Times New Roman Bold"/>
                <a:ea typeface="Times New Roman Bold"/>
                <a:cs typeface="Times New Roman Bold"/>
                <a:sym typeface="Times New Roman Bold"/>
              </a:rPr>
              <a:t> the utilization factor is 92.8%</a:t>
            </a:r>
          </a:p>
          <a:p>
            <a:pPr algn="l">
              <a:lnSpc>
                <a:spcPts val="2724"/>
              </a:lnSpc>
              <a:spcBef>
                <a:spcPct val="0"/>
              </a:spcBef>
            </a:pPr>
            <a:r>
              <a:rPr lang="en-US" sz="2270" b="1">
                <a:solidFill>
                  <a:srgbClr val="000000"/>
                </a:solidFill>
                <a:latin typeface="Times New Roman Bold"/>
                <a:ea typeface="Times New Roman Bold"/>
                <a:cs typeface="Times New Roman Bold"/>
                <a:sym typeface="Times New Roman Bold"/>
              </a:rPr>
              <a:t>Utilization factor = (kVA) scale</a:t>
            </a:r>
          </a:p>
          <a:p>
            <a:pPr algn="l">
              <a:lnSpc>
                <a:spcPts val="2724"/>
              </a:lnSpc>
              <a:spcBef>
                <a:spcPct val="0"/>
              </a:spcBef>
            </a:pPr>
            <a:r>
              <a:rPr lang="en-US" sz="2270" b="1">
                <a:solidFill>
                  <a:srgbClr val="000000"/>
                </a:solidFill>
                <a:latin typeface="Times New Roman Bold"/>
                <a:ea typeface="Times New Roman Bold"/>
                <a:cs typeface="Times New Roman Bold"/>
                <a:sym typeface="Times New Roman Bold"/>
              </a:rPr>
              <a:t>Available kVA</a:t>
            </a:r>
          </a:p>
        </p:txBody>
      </p:sp>
      <p:sp>
        <p:nvSpPr>
          <p:cNvPr id="14" name="TextBox 14"/>
          <p:cNvSpPr txBox="1"/>
          <p:nvPr/>
        </p:nvSpPr>
        <p:spPr>
          <a:xfrm>
            <a:off x="2286000" y="3075653"/>
            <a:ext cx="1050389" cy="333214"/>
          </a:xfrm>
          <a:prstGeom prst="rect">
            <a:avLst/>
          </a:prstGeom>
        </p:spPr>
        <p:txBody>
          <a:bodyPr lIns="0" tIns="0" rIns="0" bIns="0" rtlCol="0" anchor="t">
            <a:spAutoFit/>
          </a:bodyPr>
          <a:lstStyle/>
          <a:p>
            <a:pPr algn="ctr">
              <a:lnSpc>
                <a:spcPts val="2560"/>
              </a:lnSpc>
              <a:spcBef>
                <a:spcPct val="0"/>
              </a:spcBef>
            </a:pPr>
            <a:r>
              <a:rPr lang="en-US" sz="2133" b="1">
                <a:solidFill>
                  <a:srgbClr val="000000"/>
                </a:solidFill>
                <a:latin typeface="Times New Roman Bold"/>
                <a:ea typeface="Times New Roman Bold"/>
                <a:cs typeface="Times New Roman Bold"/>
                <a:sym typeface="Times New Roman Bold"/>
              </a:rPr>
              <a:t>I= 34.8 A</a:t>
            </a:r>
          </a:p>
        </p:txBody>
      </p:sp>
      <p:sp>
        <p:nvSpPr>
          <p:cNvPr id="15" name="TextBox 15"/>
          <p:cNvSpPr txBox="1"/>
          <p:nvPr/>
        </p:nvSpPr>
        <p:spPr>
          <a:xfrm>
            <a:off x="2286000" y="7235528"/>
            <a:ext cx="2113420" cy="764479"/>
          </a:xfrm>
          <a:prstGeom prst="rect">
            <a:avLst/>
          </a:prstGeom>
        </p:spPr>
        <p:txBody>
          <a:bodyPr lIns="0" tIns="0" rIns="0" bIns="0" rtlCol="0" anchor="t">
            <a:spAutoFit/>
          </a:bodyPr>
          <a:lstStyle/>
          <a:p>
            <a:pPr algn="ctr">
              <a:lnSpc>
                <a:spcPts val="1965"/>
              </a:lnSpc>
              <a:spcBef>
                <a:spcPct val="0"/>
              </a:spcBef>
            </a:pPr>
            <a:r>
              <a:rPr lang="en-US" sz="1638" b="1">
                <a:solidFill>
                  <a:srgbClr val="000000"/>
                </a:solidFill>
                <a:latin typeface="Times New Roman Bold"/>
                <a:ea typeface="Times New Roman Bold"/>
                <a:cs typeface="Times New Roman Bold"/>
                <a:sym typeface="Times New Roman Bold"/>
              </a:rPr>
              <a:t>         3 V I</a:t>
            </a:r>
          </a:p>
          <a:p>
            <a:pPr algn="ctr">
              <a:lnSpc>
                <a:spcPts val="1965"/>
              </a:lnSpc>
              <a:spcBef>
                <a:spcPct val="0"/>
              </a:spcBef>
            </a:pPr>
            <a:r>
              <a:rPr lang="en-US" sz="1638" b="1">
                <a:solidFill>
                  <a:srgbClr val="000000"/>
                </a:solidFill>
                <a:latin typeface="Times New Roman Bold"/>
                <a:ea typeface="Times New Roman Bold"/>
                <a:cs typeface="Times New Roman Bold"/>
                <a:sym typeface="Times New Roman Bold"/>
              </a:rPr>
              <a:t>UF = ───────────</a:t>
            </a:r>
          </a:p>
          <a:p>
            <a:pPr algn="ctr">
              <a:lnSpc>
                <a:spcPts val="1965"/>
              </a:lnSpc>
              <a:spcBef>
                <a:spcPct val="0"/>
              </a:spcBef>
            </a:pPr>
            <a:r>
              <a:rPr lang="en-US" sz="1638" b="1">
                <a:solidFill>
                  <a:srgbClr val="000000"/>
                </a:solidFill>
                <a:latin typeface="Times New Roman Bold"/>
                <a:ea typeface="Times New Roman Bold"/>
                <a:cs typeface="Times New Roman Bold"/>
                <a:sym typeface="Times New Roman Bold"/>
              </a:rPr>
              <a:t>         2 V I</a:t>
            </a:r>
          </a:p>
        </p:txBody>
      </p:sp>
      <p:sp>
        <p:nvSpPr>
          <p:cNvPr id="16" name="TextBox 16"/>
          <p:cNvSpPr txBox="1"/>
          <p:nvPr/>
        </p:nvSpPr>
        <p:spPr>
          <a:xfrm>
            <a:off x="2293174" y="8190506"/>
            <a:ext cx="1049536" cy="295275"/>
          </a:xfrm>
          <a:prstGeom prst="rect">
            <a:avLst/>
          </a:prstGeom>
        </p:spPr>
        <p:txBody>
          <a:bodyPr lIns="0" tIns="0" rIns="0" bIns="0" rtlCol="0" anchor="t">
            <a:spAutoFit/>
          </a:bodyPr>
          <a:lstStyle/>
          <a:p>
            <a:pPr algn="ctr">
              <a:lnSpc>
                <a:spcPts val="2148"/>
              </a:lnSpc>
              <a:spcBef>
                <a:spcPct val="0"/>
              </a:spcBef>
            </a:pPr>
            <a:r>
              <a:rPr lang="en-US" sz="1790" b="1">
                <a:solidFill>
                  <a:srgbClr val="000000"/>
                </a:solidFill>
                <a:latin typeface="Times New Roman Bold"/>
                <a:ea typeface="Times New Roman Bold"/>
                <a:cs typeface="Times New Roman Bold"/>
                <a:sym typeface="Times New Roman Bold"/>
              </a:rPr>
              <a:t>UF = 0.866</a:t>
            </a:r>
          </a:p>
        </p:txBody>
      </p:sp>
      <p:sp>
        <p:nvSpPr>
          <p:cNvPr id="17" name="TextBox 17"/>
          <p:cNvSpPr txBox="1"/>
          <p:nvPr/>
        </p:nvSpPr>
        <p:spPr>
          <a:xfrm>
            <a:off x="2293174" y="8552456"/>
            <a:ext cx="2223495" cy="705844"/>
          </a:xfrm>
          <a:prstGeom prst="rect">
            <a:avLst/>
          </a:prstGeom>
        </p:spPr>
        <p:txBody>
          <a:bodyPr lIns="0" tIns="0" rIns="0" bIns="0" rtlCol="0" anchor="t">
            <a:spAutoFit/>
          </a:bodyPr>
          <a:lstStyle/>
          <a:p>
            <a:pPr algn="ctr">
              <a:lnSpc>
                <a:spcPts val="1844"/>
              </a:lnSpc>
              <a:spcBef>
                <a:spcPct val="0"/>
              </a:spcBef>
            </a:pPr>
            <a:r>
              <a:rPr lang="en-US" sz="1536" b="1">
                <a:solidFill>
                  <a:srgbClr val="000000"/>
                </a:solidFill>
                <a:latin typeface="Times New Roman Bold"/>
                <a:ea typeface="Times New Roman Bold"/>
                <a:cs typeface="Times New Roman Bold"/>
                <a:sym typeface="Times New Roman Bold"/>
              </a:rPr>
              <a:t>         13 kV I</a:t>
            </a:r>
          </a:p>
          <a:p>
            <a:pPr algn="ctr">
              <a:lnSpc>
                <a:spcPts val="1844"/>
              </a:lnSpc>
              <a:spcBef>
                <a:spcPct val="0"/>
              </a:spcBef>
            </a:pPr>
            <a:r>
              <a:rPr lang="en-US" sz="1536" b="1">
                <a:solidFill>
                  <a:srgbClr val="000000"/>
                </a:solidFill>
                <a:latin typeface="Times New Roman Bold"/>
                <a:ea typeface="Times New Roman Bold"/>
                <a:cs typeface="Times New Roman Bold"/>
                <a:sym typeface="Times New Roman Bold"/>
              </a:rPr>
              <a:t>VI = ─────────────</a:t>
            </a:r>
          </a:p>
          <a:p>
            <a:pPr algn="ctr">
              <a:lnSpc>
                <a:spcPts val="1844"/>
              </a:lnSpc>
              <a:spcBef>
                <a:spcPct val="0"/>
              </a:spcBef>
            </a:pPr>
            <a:r>
              <a:rPr lang="en-US" sz="1536" b="1">
                <a:solidFill>
                  <a:srgbClr val="000000"/>
                </a:solidFill>
                <a:latin typeface="Times New Roman Bold"/>
                <a:ea typeface="Times New Roman Bold"/>
                <a:cs typeface="Times New Roman Bold"/>
                <a:sym typeface="Times New Roman Bold"/>
              </a:rPr>
              <a:t>            15</a:t>
            </a:r>
          </a:p>
        </p:txBody>
      </p:sp>
      <p:sp>
        <p:nvSpPr>
          <p:cNvPr id="18" name="TextBox 18"/>
          <p:cNvSpPr txBox="1"/>
          <p:nvPr/>
        </p:nvSpPr>
        <p:spPr>
          <a:xfrm>
            <a:off x="2293174" y="9448800"/>
            <a:ext cx="1178123" cy="561975"/>
          </a:xfrm>
          <a:prstGeom prst="rect">
            <a:avLst/>
          </a:prstGeom>
        </p:spPr>
        <p:txBody>
          <a:bodyPr lIns="0" tIns="0" rIns="0" bIns="0" rtlCol="0" anchor="t">
            <a:spAutoFit/>
          </a:bodyPr>
          <a:lstStyle/>
          <a:p>
            <a:pPr algn="ctr">
              <a:lnSpc>
                <a:spcPts val="2148"/>
              </a:lnSpc>
              <a:spcBef>
                <a:spcPct val="0"/>
              </a:spcBef>
            </a:pPr>
            <a:r>
              <a:rPr lang="en-US" sz="1790" b="1">
                <a:solidFill>
                  <a:srgbClr val="000000"/>
                </a:solidFill>
                <a:latin typeface="Times New Roman Bold"/>
                <a:ea typeface="Times New Roman Bold"/>
                <a:cs typeface="Times New Roman Bold"/>
                <a:sym typeface="Times New Roman Bold"/>
              </a:rPr>
              <a:t>VI = 0.925</a:t>
            </a:r>
          </a:p>
          <a:p>
            <a:pPr algn="ctr">
              <a:lnSpc>
                <a:spcPts val="2148"/>
              </a:lnSpc>
              <a:spcBef>
                <a:spcPct val="0"/>
              </a:spcBef>
            </a:pPr>
            <a:r>
              <a:rPr lang="en-US" sz="1790" b="1">
                <a:solidFill>
                  <a:srgbClr val="000000"/>
                </a:solidFill>
                <a:latin typeface="Times New Roman Bold"/>
                <a:ea typeface="Times New Roman Bold"/>
                <a:cs typeface="Times New Roman Bold"/>
                <a:sym typeface="Times New Roman Bold"/>
              </a:rPr>
              <a:t>VI = 92.8 %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830999"/>
            <a:ext cx="13716000" cy="617209"/>
            <a:chOff x="0" y="0"/>
            <a:chExt cx="18288000" cy="822945"/>
          </a:xfrm>
        </p:grpSpPr>
        <p:sp>
          <p:nvSpPr>
            <p:cNvPr id="3" name="Freeform 3"/>
            <p:cNvSpPr/>
            <p:nvPr/>
          </p:nvSpPr>
          <p:spPr>
            <a:xfrm>
              <a:off x="0" y="0"/>
              <a:ext cx="18288000" cy="822958"/>
            </a:xfrm>
            <a:custGeom>
              <a:avLst/>
              <a:gdLst/>
              <a:ahLst/>
              <a:cxnLst/>
              <a:rect l="l" t="t" r="r" b="b"/>
              <a:pathLst>
                <a:path w="18288000" h="822958">
                  <a:moveTo>
                    <a:pt x="0" y="0"/>
                  </a:moveTo>
                  <a:lnTo>
                    <a:pt x="18288000" y="0"/>
                  </a:lnTo>
                  <a:lnTo>
                    <a:pt x="18288000" y="822958"/>
                  </a:lnTo>
                  <a:lnTo>
                    <a:pt x="0" y="822958"/>
                  </a:lnTo>
                  <a:close/>
                </a:path>
              </a:pathLst>
            </a:custGeom>
            <a:solidFill>
              <a:srgbClr val="E59EDD">
                <a:alpha val="27059"/>
              </a:srgbClr>
            </a:solidFill>
            <a:ln w="12700">
              <a:solidFill>
                <a:srgbClr val="000000"/>
              </a:solidFill>
            </a:ln>
          </p:spPr>
        </p:sp>
        <p:sp>
          <p:nvSpPr>
            <p:cNvPr id="4" name="TextBox 4"/>
            <p:cNvSpPr txBox="1"/>
            <p:nvPr/>
          </p:nvSpPr>
          <p:spPr>
            <a:xfrm>
              <a:off x="0" y="-19050"/>
              <a:ext cx="18288000" cy="841995"/>
            </a:xfrm>
            <a:prstGeom prst="rect">
              <a:avLst/>
            </a:prstGeom>
          </p:spPr>
          <p:txBody>
            <a:bodyPr lIns="50800" tIns="50800" rIns="50800" bIns="50800" rtlCol="0" anchor="t"/>
            <a:lstStyle/>
            <a:p>
              <a:pPr algn="ctr">
                <a:lnSpc>
                  <a:spcPts val="3240"/>
                </a:lnSpc>
              </a:pPr>
              <a:r>
                <a:rPr lang="en-US" sz="2700" b="1">
                  <a:solidFill>
                    <a:srgbClr val="000000"/>
                  </a:solidFill>
                  <a:latin typeface="Times New Roman Bold"/>
                  <a:ea typeface="Times New Roman Bold"/>
                  <a:cs typeface="Times New Roman Bold"/>
                  <a:sym typeface="Times New Roman Bold"/>
                </a:rPr>
                <a:t> </a:t>
              </a:r>
            </a:p>
          </p:txBody>
        </p:sp>
      </p:grpSp>
      <p:grpSp>
        <p:nvGrpSpPr>
          <p:cNvPr id="5" name="Group 5"/>
          <p:cNvGrpSpPr/>
          <p:nvPr/>
        </p:nvGrpSpPr>
        <p:grpSpPr>
          <a:xfrm>
            <a:off x="2286000" y="1"/>
            <a:ext cx="13716000" cy="747998"/>
            <a:chOff x="0" y="0"/>
            <a:chExt cx="18288000" cy="997331"/>
          </a:xfrm>
        </p:grpSpPr>
        <p:sp>
          <p:nvSpPr>
            <p:cNvPr id="6" name="Freeform 6"/>
            <p:cNvSpPr/>
            <p:nvPr/>
          </p:nvSpPr>
          <p:spPr>
            <a:xfrm>
              <a:off x="0" y="0"/>
              <a:ext cx="18288000" cy="997331"/>
            </a:xfrm>
            <a:custGeom>
              <a:avLst/>
              <a:gdLst/>
              <a:ahLst/>
              <a:cxnLst/>
              <a:rect l="l" t="t" r="r" b="b"/>
              <a:pathLst>
                <a:path w="18288000" h="997331">
                  <a:moveTo>
                    <a:pt x="0" y="0"/>
                  </a:moveTo>
                  <a:lnTo>
                    <a:pt x="18288000" y="0"/>
                  </a:lnTo>
                  <a:lnTo>
                    <a:pt x="18288000" y="997331"/>
                  </a:lnTo>
                  <a:lnTo>
                    <a:pt x="0" y="997331"/>
                  </a:lnTo>
                  <a:close/>
                </a:path>
              </a:pathLst>
            </a:custGeom>
            <a:solidFill>
              <a:srgbClr val="E97132"/>
            </a:solidFill>
            <a:ln w="12700">
              <a:solidFill>
                <a:srgbClr val="000000"/>
              </a:solidFill>
            </a:ln>
          </p:spPr>
        </p:sp>
        <p:sp>
          <p:nvSpPr>
            <p:cNvPr id="7" name="TextBox 7"/>
            <p:cNvSpPr txBox="1"/>
            <p:nvPr/>
          </p:nvSpPr>
          <p:spPr>
            <a:xfrm>
              <a:off x="0" y="-200025"/>
              <a:ext cx="18288000" cy="1197356"/>
            </a:xfrm>
            <a:prstGeom prst="rect">
              <a:avLst/>
            </a:prstGeom>
          </p:spPr>
          <p:txBody>
            <a:bodyPr lIns="50800" tIns="50800" rIns="50800" bIns="50800" rtlCol="0" anchor="t"/>
            <a:lstStyle/>
            <a:p>
              <a:pPr algn="ctr">
                <a:lnSpc>
                  <a:spcPts val="5400"/>
                </a:lnSpc>
              </a:pPr>
              <a:r>
                <a:rPr lang="en-US" sz="3000" b="1">
                  <a:solidFill>
                    <a:srgbClr val="EEECE1"/>
                  </a:solidFill>
                  <a:latin typeface="Times New Roman Bold"/>
                  <a:ea typeface="Times New Roman Bold"/>
                  <a:cs typeface="Times New Roman Bold"/>
                  <a:sym typeface="Times New Roman Bold"/>
                </a:rPr>
                <a:t>SECTION : I</a:t>
              </a:r>
            </a:p>
          </p:txBody>
        </p:sp>
      </p:grpSp>
      <p:sp>
        <p:nvSpPr>
          <p:cNvPr id="11" name="Freeform 11"/>
          <p:cNvSpPr/>
          <p:nvPr/>
        </p:nvSpPr>
        <p:spPr>
          <a:xfrm>
            <a:off x="15001875" y="101184"/>
            <a:ext cx="1000125" cy="1000125"/>
          </a:xfrm>
          <a:custGeom>
            <a:avLst/>
            <a:gdLst/>
            <a:ahLst/>
            <a:cxnLst/>
            <a:rect l="l" t="t" r="r" b="b"/>
            <a:pathLst>
              <a:path w="1000125" h="1000125">
                <a:moveTo>
                  <a:pt x="0" y="0"/>
                </a:moveTo>
                <a:lnTo>
                  <a:pt x="1000125" y="0"/>
                </a:lnTo>
                <a:lnTo>
                  <a:pt x="1000125" y="1000125"/>
                </a:lnTo>
                <a:lnTo>
                  <a:pt x="0" y="1000125"/>
                </a:lnTo>
                <a:lnTo>
                  <a:pt x="0" y="0"/>
                </a:lnTo>
                <a:close/>
              </a:path>
            </a:pathLst>
          </a:custGeom>
          <a:blipFill>
            <a:blip r:embed="rId3"/>
            <a:stretch>
              <a:fillRect/>
            </a:stretch>
          </a:blipFill>
        </p:spPr>
      </p:sp>
      <p:sp>
        <p:nvSpPr>
          <p:cNvPr id="12" name="TextBox 12"/>
          <p:cNvSpPr txBox="1"/>
          <p:nvPr/>
        </p:nvSpPr>
        <p:spPr>
          <a:xfrm>
            <a:off x="2286000" y="1897977"/>
            <a:ext cx="11698962" cy="1628775"/>
          </a:xfrm>
          <a:prstGeom prst="rect">
            <a:avLst/>
          </a:prstGeom>
        </p:spPr>
        <p:txBody>
          <a:bodyPr lIns="0" tIns="0" rIns="0" bIns="0" rtlCol="0" anchor="t">
            <a:spAutoFit/>
          </a:bodyPr>
          <a:lstStyle/>
          <a:p>
            <a:pPr algn="l">
              <a:lnSpc>
                <a:spcPts val="2148"/>
              </a:lnSpc>
              <a:spcBef>
                <a:spcPct val="0"/>
              </a:spcBef>
            </a:pPr>
            <a:r>
              <a:rPr lang="en-US" sz="1790" b="1" dirty="0">
                <a:solidFill>
                  <a:srgbClr val="000000"/>
                </a:solidFill>
                <a:latin typeface="Times New Roman Bold"/>
                <a:ea typeface="Times New Roman Bold"/>
                <a:cs typeface="Times New Roman Bold"/>
                <a:sym typeface="Times New Roman Bold"/>
              </a:rPr>
              <a:t>Parallel operation of Transformers:</a:t>
            </a:r>
          </a:p>
          <a:p>
            <a:pPr algn="l">
              <a:lnSpc>
                <a:spcPts val="2148"/>
              </a:lnSpc>
              <a:spcBef>
                <a:spcPct val="0"/>
              </a:spcBef>
            </a:pPr>
            <a:r>
              <a:rPr lang="en-US" sz="1790" b="1" dirty="0">
                <a:solidFill>
                  <a:srgbClr val="000000"/>
                </a:solidFill>
                <a:latin typeface="Times New Roman Bold"/>
                <a:ea typeface="Times New Roman Bold"/>
                <a:cs typeface="Times New Roman Bold"/>
                <a:sym typeface="Times New Roman Bold"/>
              </a:rPr>
              <a:t>The parallel operation of two or more similar transformers improves the reliability of power supply.</a:t>
            </a:r>
          </a:p>
          <a:p>
            <a:pPr algn="l">
              <a:lnSpc>
                <a:spcPts val="2148"/>
              </a:lnSpc>
              <a:spcBef>
                <a:spcPct val="0"/>
              </a:spcBef>
            </a:pPr>
            <a:r>
              <a:rPr lang="en-US" sz="1790" b="1" dirty="0">
                <a:solidFill>
                  <a:srgbClr val="000000"/>
                </a:solidFill>
                <a:latin typeface="Times New Roman Bold"/>
                <a:ea typeface="Times New Roman Bold"/>
                <a:cs typeface="Times New Roman Bold"/>
                <a:sym typeface="Times New Roman Bold"/>
              </a:rPr>
              <a:t>Parallel operation improves the M of the system.</a:t>
            </a:r>
          </a:p>
          <a:p>
            <a:pPr algn="l">
              <a:lnSpc>
                <a:spcPts val="2148"/>
              </a:lnSpc>
              <a:spcBef>
                <a:spcPct val="0"/>
              </a:spcBef>
            </a:pPr>
            <a:r>
              <a:rPr lang="en-US" sz="1790" b="1" dirty="0">
                <a:solidFill>
                  <a:srgbClr val="000000"/>
                </a:solidFill>
                <a:latin typeface="Times New Roman Bold"/>
                <a:ea typeface="Times New Roman Bold"/>
                <a:cs typeface="Times New Roman Bold"/>
                <a:sym typeface="Times New Roman Bold"/>
              </a:rPr>
              <a:t>Cost of stand by to be reduced.</a:t>
            </a:r>
          </a:p>
          <a:p>
            <a:pPr algn="l">
              <a:lnSpc>
                <a:spcPts val="2148"/>
              </a:lnSpc>
              <a:spcBef>
                <a:spcPct val="0"/>
              </a:spcBef>
            </a:pPr>
            <a:r>
              <a:rPr lang="en-US" sz="1790" b="1" dirty="0">
                <a:solidFill>
                  <a:srgbClr val="000000"/>
                </a:solidFill>
                <a:latin typeface="Times New Roman Bold"/>
                <a:ea typeface="Times New Roman Bold"/>
                <a:cs typeface="Times New Roman Bold"/>
                <a:sym typeface="Times New Roman Bold"/>
              </a:rPr>
              <a:t>Necessary condition :</a:t>
            </a:r>
          </a:p>
          <a:p>
            <a:pPr algn="l">
              <a:lnSpc>
                <a:spcPts val="2148"/>
              </a:lnSpc>
              <a:spcBef>
                <a:spcPct val="0"/>
              </a:spcBef>
            </a:pPr>
            <a:r>
              <a:rPr lang="en-US" sz="1790" b="1" dirty="0">
                <a:solidFill>
                  <a:srgbClr val="000000"/>
                </a:solidFill>
                <a:latin typeface="Times New Roman Bold"/>
                <a:ea typeface="Times New Roman Bold"/>
                <a:cs typeface="Times New Roman Bold"/>
                <a:sym typeface="Times New Roman Bold"/>
              </a:rPr>
              <a:t>To meet the properly connected with regard to polarity.</a:t>
            </a:r>
          </a:p>
        </p:txBody>
      </p:sp>
      <p:sp>
        <p:nvSpPr>
          <p:cNvPr id="13" name="TextBox 13"/>
          <p:cNvSpPr txBox="1"/>
          <p:nvPr/>
        </p:nvSpPr>
        <p:spPr>
          <a:xfrm>
            <a:off x="2286000" y="3701022"/>
            <a:ext cx="9427941" cy="3066160"/>
          </a:xfrm>
          <a:prstGeom prst="rect">
            <a:avLst/>
          </a:prstGeom>
        </p:spPr>
        <p:txBody>
          <a:bodyPr lIns="0" tIns="0" rIns="0" bIns="0" rtlCol="0" anchor="t">
            <a:spAutoFit/>
          </a:bodyPr>
          <a:lstStyle/>
          <a:p>
            <a:pPr algn="just">
              <a:lnSpc>
                <a:spcPts val="1582"/>
              </a:lnSpc>
              <a:spcBef>
                <a:spcPct val="0"/>
              </a:spcBef>
            </a:pPr>
            <a:r>
              <a:rPr lang="en-US" sz="1319" b="1" dirty="0" err="1">
                <a:solidFill>
                  <a:srgbClr val="000000"/>
                </a:solidFill>
                <a:latin typeface="Times New Roman Bold"/>
                <a:ea typeface="Times New Roman Bold"/>
                <a:cs typeface="Times New Roman Bold"/>
                <a:sym typeface="Times New Roman Bold"/>
              </a:rPr>
              <a:t>mmf</a:t>
            </a:r>
            <a:r>
              <a:rPr lang="en-US" sz="1319" b="1" dirty="0">
                <a:solidFill>
                  <a:srgbClr val="000000"/>
                </a:solidFill>
                <a:latin typeface="Times New Roman Bold"/>
                <a:ea typeface="Times New Roman Bold"/>
                <a:cs typeface="Times New Roman Bold"/>
                <a:sym typeface="Times New Roman Bold"/>
              </a:rPr>
              <a:t> or travelling </a:t>
            </a:r>
            <a:r>
              <a:rPr lang="en-US" sz="1319" b="1" dirty="0" err="1">
                <a:solidFill>
                  <a:srgbClr val="000000"/>
                </a:solidFill>
                <a:latin typeface="Times New Roman Bold"/>
                <a:ea typeface="Times New Roman Bold"/>
                <a:cs typeface="Times New Roman Bold"/>
                <a:sym typeface="Times New Roman Bold"/>
              </a:rPr>
              <a:t>mmf</a:t>
            </a:r>
            <a:r>
              <a:rPr lang="en-US" sz="1319" b="1" dirty="0">
                <a:solidFill>
                  <a:srgbClr val="000000"/>
                </a:solidFill>
                <a:latin typeface="Times New Roman Bold"/>
                <a:ea typeface="Times New Roman Bold"/>
                <a:cs typeface="Times New Roman Bold"/>
                <a:sym typeface="Times New Roman Bold"/>
              </a:rPr>
              <a:t>. it is not stationary.</a:t>
            </a: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 we determine the space of resultant </a:t>
            </a:r>
            <a:r>
              <a:rPr lang="en-US" sz="1319" b="1" dirty="0" err="1">
                <a:solidFill>
                  <a:srgbClr val="000000"/>
                </a:solidFill>
                <a:latin typeface="Times New Roman Bold"/>
                <a:ea typeface="Times New Roman Bold"/>
                <a:cs typeface="Times New Roman Bold"/>
                <a:sym typeface="Times New Roman Bold"/>
              </a:rPr>
              <a:t>mmf</a:t>
            </a:r>
            <a:r>
              <a:rPr lang="en-US" sz="1319" b="1" dirty="0">
                <a:solidFill>
                  <a:srgbClr val="000000"/>
                </a:solidFill>
                <a:latin typeface="Times New Roman Bold"/>
                <a:ea typeface="Times New Roman Bold"/>
                <a:cs typeface="Times New Roman Bold"/>
                <a:sym typeface="Times New Roman Bold"/>
              </a:rPr>
              <a:t> wave.</a:t>
            </a: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Remember  for P poles of machine , there </a:t>
            </a: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 pairs of poles</a:t>
            </a: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magnetic field rotate through   </a:t>
            </a: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      2f</a:t>
            </a: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 ──── </a:t>
            </a:r>
            <a:r>
              <a:rPr lang="en-US" sz="1319" b="1" dirty="0" err="1">
                <a:solidFill>
                  <a:srgbClr val="000000"/>
                </a:solidFill>
                <a:latin typeface="Times New Roman Bold"/>
                <a:ea typeface="Times New Roman Bold"/>
                <a:cs typeface="Times New Roman Bold"/>
                <a:sym typeface="Times New Roman Bold"/>
              </a:rPr>
              <a:t>rps</a:t>
            </a:r>
            <a:endParaRPr lang="en-US" sz="1319" b="1" dirty="0">
              <a:solidFill>
                <a:srgbClr val="000000"/>
              </a:solidFill>
              <a:latin typeface="Times New Roman Bold"/>
              <a:ea typeface="Times New Roman Bold"/>
              <a:cs typeface="Times New Roman Bold"/>
              <a:sym typeface="Times New Roman Bold"/>
            </a:endParaRP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       p</a:t>
            </a: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f = cycles of current</a:t>
            </a: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Ns (synchronous speed) =  </a:t>
            </a: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  2f</a:t>
            </a: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 —— =</a:t>
            </a:r>
          </a:p>
          <a:p>
            <a:pPr algn="just">
              <a:lnSpc>
                <a:spcPts val="1582"/>
              </a:lnSpc>
              <a:spcBef>
                <a:spcPct val="0"/>
              </a:spcBef>
            </a:pPr>
            <a:r>
              <a:rPr lang="en-US" sz="1319" b="1" dirty="0">
                <a:solidFill>
                  <a:srgbClr val="000000"/>
                </a:solidFill>
                <a:latin typeface="Times New Roman Bold"/>
                <a:ea typeface="Times New Roman Bold"/>
                <a:cs typeface="Times New Roman Bold"/>
                <a:sym typeface="Times New Roman Bold"/>
              </a:rPr>
              <a:t> P </a:t>
            </a:r>
            <a:r>
              <a:rPr lang="en-US" sz="1319" b="1" dirty="0" err="1">
                <a:solidFill>
                  <a:srgbClr val="000000"/>
                </a:solidFill>
                <a:latin typeface="Times New Roman Bold"/>
                <a:ea typeface="Times New Roman Bold"/>
                <a:cs typeface="Times New Roman Bold"/>
                <a:sym typeface="Times New Roman Bold"/>
              </a:rPr>
              <a:t>rps</a:t>
            </a:r>
            <a:endParaRPr lang="en-US" sz="1319" b="1" dirty="0">
              <a:solidFill>
                <a:srgbClr val="000000"/>
              </a:solidFill>
              <a:latin typeface="Times New Roman Bold"/>
              <a:ea typeface="Times New Roman Bold"/>
              <a:cs typeface="Times New Roman Bold"/>
              <a:sym typeface="Times New Roman Bold"/>
            </a:endParaRPr>
          </a:p>
          <a:p>
            <a:pPr algn="just">
              <a:lnSpc>
                <a:spcPts val="1582"/>
              </a:lnSpc>
              <a:spcBef>
                <a:spcPct val="0"/>
              </a:spcBef>
            </a:pPr>
            <a:endParaRPr lang="en-US" sz="1319" b="1" dirty="0">
              <a:solidFill>
                <a:srgbClr val="000000"/>
              </a:solidFill>
              <a:latin typeface="Times New Roman Bold"/>
              <a:ea typeface="Times New Roman Bold"/>
              <a:cs typeface="Times New Roman Bold"/>
              <a:sym typeface="Times New Roman Bold"/>
            </a:endParaRPr>
          </a:p>
          <a:p>
            <a:pPr algn="just">
              <a:lnSpc>
                <a:spcPts val="1582"/>
              </a:lnSpc>
              <a:spcBef>
                <a:spcPct val="0"/>
              </a:spcBef>
            </a:pPr>
            <a:endParaRPr lang="en-US" sz="1319" b="1" dirty="0">
              <a:solidFill>
                <a:srgbClr val="000000"/>
              </a:solidFill>
              <a:latin typeface="Times New Roman Bold"/>
              <a:ea typeface="Times New Roman Bold"/>
              <a:cs typeface="Times New Roman Bold"/>
              <a:sym typeface="Times New Roman Bold"/>
            </a:endParaRPr>
          </a:p>
        </p:txBody>
      </p:sp>
      <mc:AlternateContent xmlns:mc="http://schemas.openxmlformats.org/markup-compatibility/2006" xmlns:a14="http://schemas.microsoft.com/office/drawing/2010/main">
        <mc:Choice Requires="a14">
          <p:sp>
            <p:nvSpPr>
              <p:cNvPr id="14" name="TextBox 14"/>
              <p:cNvSpPr txBox="1"/>
              <p:nvPr/>
            </p:nvSpPr>
            <p:spPr>
              <a:xfrm>
                <a:off x="2133600" y="6479449"/>
                <a:ext cx="15648333" cy="5129609"/>
              </a:xfrm>
              <a:prstGeom prst="rect">
                <a:avLst/>
              </a:prstGeom>
            </p:spPr>
            <p:txBody>
              <a:bodyPr wrap="square" lIns="0" tIns="0" rIns="0" bIns="0" rtlCol="0" anchor="t">
                <a:spAutoFit/>
              </a:bodyPr>
              <a:lstStyle/>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ω = angular freq.</a:t>
                </a:r>
              </a:p>
              <a:p>
                <a:pPr algn="l">
                  <a:lnSpc>
                    <a:spcPts val="2026"/>
                  </a:lnSpc>
                  <a:spcBef>
                    <a:spcPct val="0"/>
                  </a:spcBef>
                </a:pPr>
                <a:endParaRPr lang="en-US" sz="1688" b="1" dirty="0">
                  <a:solidFill>
                    <a:srgbClr val="000000"/>
                  </a:solidFill>
                  <a:latin typeface="Times New Roman Bold"/>
                  <a:ea typeface="Times New Roman Bold"/>
                  <a:cs typeface="Times New Roman Bold"/>
                  <a:sym typeface="Times New Roman Bold"/>
                </a:endParaRPr>
              </a:p>
              <a:p>
                <a:pPr algn="l">
                  <a:lnSpc>
                    <a:spcPts val="2026"/>
                  </a:lnSpc>
                  <a:spcBef>
                    <a:spcPct val="0"/>
                  </a:spcBef>
                </a:pPr>
                <a14:m>
                  <m:oMath xmlns:m="http://schemas.openxmlformats.org/officeDocument/2006/math">
                    <m:sSub>
                      <m:sSubPr>
                        <m:ctrlPr>
                          <a:rPr lang="en-US" sz="1688" b="1" i="1">
                            <a:solidFill>
                              <a:srgbClr val="000000"/>
                            </a:solidFill>
                            <a:latin typeface="Cambria Math" panose="02040503050406030204" pitchFamily="18" charset="0"/>
                            <a:sym typeface="Times New Roman Bold"/>
                          </a:rPr>
                        </m:ctrlPr>
                      </m:sSubPr>
                      <m:e>
                        <m:r>
                          <a:rPr lang="en-US" sz="1688" b="1" i="1">
                            <a:solidFill>
                              <a:srgbClr val="000000"/>
                            </a:solidFill>
                            <a:latin typeface="Cambria Math" panose="02040503050406030204" pitchFamily="18" charset="0"/>
                            <a:sym typeface="Times New Roman Bold"/>
                          </a:rPr>
                          <m:t>𝜔</m:t>
                        </m:r>
                      </m:e>
                      <m:sub>
                        <m:r>
                          <a:rPr lang="en-US" sz="1688" b="1" i="1">
                            <a:solidFill>
                              <a:srgbClr val="000000"/>
                            </a:solidFill>
                            <a:latin typeface="Cambria Math" panose="02040503050406030204" pitchFamily="18" charset="0"/>
                            <a:sym typeface="Times New Roman Bold"/>
                          </a:rPr>
                          <m:t>𝑒</m:t>
                        </m:r>
                      </m:sub>
                    </m:sSub>
                    <m:r>
                      <a:rPr lang="en-US" sz="1688" b="1" i="0">
                        <a:solidFill>
                          <a:srgbClr val="000000"/>
                        </a:solidFill>
                        <a:latin typeface="Cambria Math" panose="02040503050406030204" pitchFamily="18" charset="0"/>
                        <a:sym typeface="Times New Roman Bold"/>
                      </a:rPr>
                      <m:t>=</m:t>
                    </m:r>
                    <m:f>
                      <m:fPr>
                        <m:ctrlPr>
                          <a:rPr lang="en-US" sz="1688" b="1" i="1">
                            <a:solidFill>
                              <a:srgbClr val="000000"/>
                            </a:solidFill>
                            <a:latin typeface="Cambria Math" panose="02040503050406030204" pitchFamily="18" charset="0"/>
                            <a:sym typeface="Times New Roman Bold"/>
                          </a:rPr>
                        </m:ctrlPr>
                      </m:fPr>
                      <m:num>
                        <m:r>
                          <a:rPr lang="en-US" sz="1688" b="1" i="1">
                            <a:solidFill>
                              <a:srgbClr val="000000"/>
                            </a:solidFill>
                            <a:latin typeface="Cambria Math" panose="02040503050406030204" pitchFamily="18" charset="0"/>
                            <a:sym typeface="Times New Roman Bold"/>
                          </a:rPr>
                          <m:t>𝑃</m:t>
                        </m:r>
                      </m:num>
                      <m:den>
                        <m:r>
                          <a:rPr lang="en-US" sz="1688" b="1" i="0">
                            <a:solidFill>
                              <a:srgbClr val="000000"/>
                            </a:solidFill>
                            <a:latin typeface="Cambria Math" panose="02040503050406030204" pitchFamily="18" charset="0"/>
                            <a:sym typeface="Times New Roman Bold"/>
                          </a:rPr>
                          <m:t>2</m:t>
                        </m:r>
                      </m:den>
                    </m:f>
                    <m:sSub>
                      <m:sSubPr>
                        <m:ctrlPr>
                          <a:rPr lang="en-US" sz="1688" b="1" i="1">
                            <a:solidFill>
                              <a:srgbClr val="000000"/>
                            </a:solidFill>
                            <a:latin typeface="Cambria Math" panose="02040503050406030204" pitchFamily="18" charset="0"/>
                            <a:sym typeface="Times New Roman Bold"/>
                          </a:rPr>
                        </m:ctrlPr>
                      </m:sSubPr>
                      <m:e>
                        <m:r>
                          <a:rPr lang="en-US" sz="1688" b="1" i="1">
                            <a:solidFill>
                              <a:srgbClr val="000000"/>
                            </a:solidFill>
                            <a:latin typeface="Cambria Math" panose="02040503050406030204" pitchFamily="18" charset="0"/>
                            <a:sym typeface="Times New Roman Bold"/>
                          </a:rPr>
                          <m:t>𝜔</m:t>
                        </m:r>
                      </m:e>
                      <m:sub>
                        <m:r>
                          <a:rPr lang="en-US" sz="1688" b="1" i="1">
                            <a:solidFill>
                              <a:srgbClr val="000000"/>
                            </a:solidFill>
                            <a:latin typeface="Cambria Math" panose="02040503050406030204" pitchFamily="18" charset="0"/>
                            <a:sym typeface="Times New Roman Bold"/>
                          </a:rPr>
                          <m:t>𝑚</m:t>
                        </m:r>
                      </m:sub>
                    </m:sSub>
                  </m:oMath>
                </a14:m>
                <a:r>
                  <a:rPr lang="en-US" sz="1688" b="1" dirty="0">
                    <a:solidFill>
                      <a:srgbClr val="000000"/>
                    </a:solidFill>
                    <a:latin typeface="Times New Roman Bold"/>
                    <a:ea typeface="Times New Roman Bold"/>
                    <a:cs typeface="Times New Roman Bold"/>
                    <a:sym typeface="Times New Roman Bold"/>
                  </a:rPr>
                  <a:t> → angular velocity → mechanical</a:t>
                </a: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 → rad/sec</a:t>
                </a: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 </a:t>
                </a:r>
                <a14:m>
                  <m:oMath xmlns:m="http://schemas.openxmlformats.org/officeDocument/2006/math">
                    <m:r>
                      <a:rPr lang="en-US" sz="1688" b="1" dirty="0">
                        <a:solidFill>
                          <a:srgbClr val="000000"/>
                        </a:solidFill>
                        <a:latin typeface="Cambria Math" panose="02040503050406030204" pitchFamily="18" charset="0"/>
                        <a:sym typeface="Times New Roman Bold"/>
                      </a:rPr>
                      <m:t>2</m:t>
                    </m:r>
                    <m:r>
                      <a:rPr lang="en-US" sz="1688" b="1" i="1" dirty="0">
                        <a:solidFill>
                          <a:srgbClr val="000000"/>
                        </a:solidFill>
                        <a:latin typeface="Cambria Math" panose="02040503050406030204" pitchFamily="18" charset="0"/>
                        <a:sym typeface="Times New Roman Bold"/>
                      </a:rPr>
                      <m:t>𝜋</m:t>
                    </m:r>
                    <m:r>
                      <a:rPr lang="en-US" sz="1688" b="1" i="1" dirty="0">
                        <a:solidFill>
                          <a:srgbClr val="000000"/>
                        </a:solidFill>
                        <a:latin typeface="Cambria Math" panose="02040503050406030204" pitchFamily="18" charset="0"/>
                        <a:sym typeface="Times New Roman Bold"/>
                      </a:rPr>
                      <m:t>𝑓</m:t>
                    </m:r>
                    <m:r>
                      <a:rPr lang="en-US" sz="1688" b="1" i="0" dirty="0">
                        <a:solidFill>
                          <a:srgbClr val="000000"/>
                        </a:solidFill>
                        <a:latin typeface="Cambria Math" panose="02040503050406030204" pitchFamily="18" charset="0"/>
                        <a:sym typeface="Times New Roman Bold"/>
                      </a:rPr>
                      <m:t>=</m:t>
                    </m:r>
                    <m:f>
                      <m:fPr>
                        <m:ctrlPr>
                          <a:rPr lang="en-US" sz="1688" b="1" i="1" dirty="0">
                            <a:solidFill>
                              <a:srgbClr val="000000"/>
                            </a:solidFill>
                            <a:latin typeface="Cambria Math" panose="02040503050406030204" pitchFamily="18" charset="0"/>
                            <a:sym typeface="Times New Roman Bold"/>
                          </a:rPr>
                        </m:ctrlPr>
                      </m:fPr>
                      <m:num>
                        <m:r>
                          <a:rPr lang="en-US" sz="1688" b="1" i="1" dirty="0">
                            <a:solidFill>
                              <a:srgbClr val="000000"/>
                            </a:solidFill>
                            <a:latin typeface="Cambria Math" panose="02040503050406030204" pitchFamily="18" charset="0"/>
                            <a:sym typeface="Times New Roman Bold"/>
                          </a:rPr>
                          <m:t>𝑃</m:t>
                        </m:r>
                      </m:num>
                      <m:den>
                        <m:r>
                          <a:rPr lang="en-US" sz="1688" b="1" i="0" dirty="0">
                            <a:solidFill>
                              <a:srgbClr val="000000"/>
                            </a:solidFill>
                            <a:latin typeface="Cambria Math" panose="02040503050406030204" pitchFamily="18" charset="0"/>
                            <a:sym typeface="Times New Roman Bold"/>
                          </a:rPr>
                          <m:t>2</m:t>
                        </m:r>
                      </m:den>
                    </m:f>
                    <m:d>
                      <m:dPr>
                        <m:ctrlPr>
                          <a:rPr lang="en-US" sz="1688" b="1" i="1" dirty="0">
                            <a:solidFill>
                              <a:srgbClr val="000000"/>
                            </a:solidFill>
                            <a:latin typeface="Cambria Math" panose="02040503050406030204" pitchFamily="18" charset="0"/>
                            <a:sym typeface="Times New Roman Bold"/>
                          </a:rPr>
                        </m:ctrlPr>
                      </m:dPr>
                      <m:e>
                        <m:f>
                          <m:fPr>
                            <m:ctrlPr>
                              <a:rPr lang="en-US" sz="1688" b="1" i="1" dirty="0">
                                <a:solidFill>
                                  <a:srgbClr val="000000"/>
                                </a:solidFill>
                                <a:latin typeface="Cambria Math" panose="02040503050406030204" pitchFamily="18" charset="0"/>
                                <a:sym typeface="Times New Roman Bold"/>
                              </a:rPr>
                            </m:ctrlPr>
                          </m:fPr>
                          <m:num>
                            <m:r>
                              <a:rPr lang="en-US" sz="1688" b="1" i="0" dirty="0">
                                <a:solidFill>
                                  <a:srgbClr val="000000"/>
                                </a:solidFill>
                                <a:latin typeface="Cambria Math" panose="02040503050406030204" pitchFamily="18" charset="0"/>
                                <a:sym typeface="Times New Roman Bold"/>
                              </a:rPr>
                              <m:t>2</m:t>
                            </m:r>
                          </m:num>
                          <m:den>
                            <m:r>
                              <a:rPr lang="en-US" sz="1688" b="1" i="1" dirty="0">
                                <a:solidFill>
                                  <a:srgbClr val="000000"/>
                                </a:solidFill>
                                <a:latin typeface="Cambria Math" panose="02040503050406030204" pitchFamily="18" charset="0"/>
                                <a:sym typeface="Times New Roman Bold"/>
                              </a:rPr>
                              <m:t>𝜋</m:t>
                            </m:r>
                            <m:r>
                              <a:rPr lang="en-US" sz="1688" b="1" i="1" dirty="0">
                                <a:solidFill>
                                  <a:srgbClr val="000000"/>
                                </a:solidFill>
                                <a:latin typeface="Cambria Math" panose="02040503050406030204" pitchFamily="18" charset="0"/>
                                <a:sym typeface="Times New Roman Bold"/>
                              </a:rPr>
                              <m:t>𝑁</m:t>
                            </m:r>
                            <m:r>
                              <a:rPr lang="en-US" sz="1688" b="1" i="0" dirty="0">
                                <a:solidFill>
                                  <a:srgbClr val="000000"/>
                                </a:solidFill>
                                <a:latin typeface="Cambria Math" panose="02040503050406030204" pitchFamily="18" charset="0"/>
                                <a:sym typeface="Times New Roman Bold"/>
                              </a:rPr>
                              <m:t>60</m:t>
                            </m:r>
                          </m:den>
                        </m:f>
                      </m:e>
                    </m:d>
                  </m:oMath>
                </a14:m>
                <a:endParaRPr lang="en-US" sz="1688" b="1" dirty="0">
                  <a:solidFill>
                    <a:srgbClr val="000000"/>
                  </a:solidFill>
                  <a:latin typeface="Times New Roman Bold"/>
                  <a:ea typeface="Times New Roman Bold"/>
                  <a:cs typeface="Times New Roman Bold"/>
                  <a:sym typeface="Times New Roman Bold"/>
                </a:endParaRP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 electrical rad/sec </a:t>
                </a:r>
              </a:p>
              <a:p>
                <a:pPr algn="l">
                  <a:lnSpc>
                    <a:spcPts val="2026"/>
                  </a:lnSpc>
                  <a:spcBef>
                    <a:spcPct val="0"/>
                  </a:spcBef>
                </a:pPr>
                <a:endParaRPr lang="en-US" sz="1688" b="1" dirty="0">
                  <a:solidFill>
                    <a:srgbClr val="000000"/>
                  </a:solidFill>
                  <a:latin typeface="Times New Roman Bold"/>
                  <a:ea typeface="Times New Roman Bold"/>
                  <a:cs typeface="Times New Roman Bold"/>
                  <a:sym typeface="Times New Roman Bold"/>
                </a:endParaRPr>
              </a:p>
              <a:p>
                <a:pPr algn="l">
                  <a:lnSpc>
                    <a:spcPts val="2026"/>
                  </a:lnSpc>
                  <a:spcBef>
                    <a:spcPct val="0"/>
                  </a:spcBef>
                </a:pPr>
                <a14:m>
                  <m:oMath xmlns:m="http://schemas.openxmlformats.org/officeDocument/2006/math">
                    <m:r>
                      <a:rPr lang="en-US" sz="1688" b="1" i="1" dirty="0">
                        <a:solidFill>
                          <a:srgbClr val="000000"/>
                        </a:solidFill>
                        <a:latin typeface="Cambria Math" panose="02040503050406030204" pitchFamily="18" charset="0"/>
                        <a:sym typeface="Times New Roman Bold"/>
                      </a:rPr>
                      <m:t>𝑁</m:t>
                    </m:r>
                    <m:r>
                      <a:rPr lang="en-US" sz="1688" b="1" i="0" dirty="0">
                        <a:solidFill>
                          <a:srgbClr val="000000"/>
                        </a:solidFill>
                        <a:latin typeface="Cambria Math" panose="02040503050406030204" pitchFamily="18" charset="0"/>
                        <a:sym typeface="Times New Roman Bold"/>
                      </a:rPr>
                      <m:t>=</m:t>
                    </m:r>
                    <m:f>
                      <m:fPr>
                        <m:ctrlPr>
                          <a:rPr lang="en-US" sz="1688" b="1" i="1" dirty="0">
                            <a:solidFill>
                              <a:srgbClr val="000000"/>
                            </a:solidFill>
                            <a:latin typeface="Cambria Math" panose="02040503050406030204" pitchFamily="18" charset="0"/>
                            <a:sym typeface="Times New Roman Bold"/>
                          </a:rPr>
                        </m:ctrlPr>
                      </m:fPr>
                      <m:num>
                        <m:r>
                          <a:rPr lang="en-US" sz="1688" b="1" i="0" dirty="0">
                            <a:solidFill>
                              <a:srgbClr val="000000"/>
                            </a:solidFill>
                            <a:latin typeface="Cambria Math" panose="02040503050406030204" pitchFamily="18" charset="0"/>
                            <a:sym typeface="Times New Roman Bold"/>
                          </a:rPr>
                          <m:t>120</m:t>
                        </m:r>
                      </m:num>
                      <m:den>
                        <m:r>
                          <a:rPr lang="en-US" sz="1688" b="1" i="1" dirty="0">
                            <a:solidFill>
                              <a:srgbClr val="000000"/>
                            </a:solidFill>
                            <a:latin typeface="Cambria Math" panose="02040503050406030204" pitchFamily="18" charset="0"/>
                            <a:sym typeface="Times New Roman Bold"/>
                          </a:rPr>
                          <m:t>𝑓𝑃</m:t>
                        </m:r>
                      </m:den>
                    </m:f>
                  </m:oMath>
                </a14:m>
                <a:r>
                  <a:rPr lang="en-US" sz="1688" b="1" dirty="0">
                    <a:solidFill>
                      <a:srgbClr val="000000"/>
                    </a:solidFill>
                    <a:latin typeface="Times New Roman Bold"/>
                    <a:ea typeface="Times New Roman Bold"/>
                    <a:cs typeface="Times New Roman Bold"/>
                    <a:sym typeface="Times New Roman Bold"/>
                  </a:rPr>
                  <a:t>rpm</a:t>
                </a: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Generalized condition that must be satisfy we get rotating magnetic field by using any no of phases</a:t>
                </a: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m phase winding where (m ≥ 2) must be physically displaced by</a:t>
                </a: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 2π/m rad electrical in the space.</a:t>
                </a:r>
              </a:p>
              <a:p>
                <a:pPr>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condition : The time displacement between m phase current flowing through the m windings must be equal to </a:t>
                </a:r>
                <a14:m>
                  <m:oMath xmlns:m="http://schemas.openxmlformats.org/officeDocument/2006/math">
                    <m:f>
                      <m:fPr>
                        <m:ctrlPr>
                          <a:rPr lang="en-US" sz="1688" b="1" i="1">
                            <a:solidFill>
                              <a:srgbClr val="000000"/>
                            </a:solidFill>
                            <a:latin typeface="Cambria Math" panose="02040503050406030204" pitchFamily="18" charset="0"/>
                            <a:sym typeface="Times New Roman Bold"/>
                          </a:rPr>
                        </m:ctrlPr>
                      </m:fPr>
                      <m:num>
                        <m:r>
                          <a:rPr lang="en-IN" sz="1688" b="1" i="1">
                            <a:solidFill>
                              <a:srgbClr val="000000"/>
                            </a:solidFill>
                            <a:latin typeface="Cambria Math" panose="02040503050406030204" pitchFamily="18" charset="0"/>
                            <a:sym typeface="Times New Roman Bold"/>
                          </a:rPr>
                          <m:t>𝟐</m:t>
                        </m:r>
                        <m:r>
                          <m:rPr>
                            <m:nor/>
                          </m:rPr>
                          <a:rPr lang="en-US" sz="1688" b="1" dirty="0">
                            <a:solidFill>
                              <a:srgbClr val="000000"/>
                            </a:solidFill>
                            <a:latin typeface="Times New Roman Bold"/>
                            <a:ea typeface="Times New Roman Bold"/>
                            <a:cs typeface="Times New Roman Bold"/>
                            <a:sym typeface="Times New Roman Bold"/>
                          </a:rPr>
                          <m:t>π</m:t>
                        </m:r>
                      </m:num>
                      <m:den>
                        <m:r>
                          <a:rPr lang="en-IN" sz="1688" b="1" i="0">
                            <a:solidFill>
                              <a:srgbClr val="000000"/>
                            </a:solidFill>
                            <a:latin typeface="Cambria Math" panose="02040503050406030204" pitchFamily="18" charset="0"/>
                            <a:sym typeface="Times New Roman Bold"/>
                          </a:rPr>
                          <m:t>𝐦</m:t>
                        </m:r>
                      </m:den>
                    </m:f>
                    <m:sSub>
                      <m:sSubPr>
                        <m:ctrlPr>
                          <a:rPr lang="en-US" sz="1688" b="1" i="1">
                            <a:solidFill>
                              <a:srgbClr val="000000"/>
                            </a:solidFill>
                            <a:latin typeface="Cambria Math" panose="02040503050406030204" pitchFamily="18" charset="0"/>
                            <a:sym typeface="Times New Roman Bold"/>
                          </a:rPr>
                        </m:ctrlPr>
                      </m:sSubPr>
                      <m:e>
                        <m:r>
                          <a:rPr lang="en-US" sz="1688" b="1" i="1">
                            <a:solidFill>
                              <a:srgbClr val="000000"/>
                            </a:solidFill>
                            <a:latin typeface="Cambria Math" panose="02040503050406030204" pitchFamily="18" charset="0"/>
                            <a:sym typeface="Times New Roman Bold"/>
                          </a:rPr>
                          <m:t>𝜔</m:t>
                        </m:r>
                      </m:e>
                      <m:sub>
                        <m:r>
                          <a:rPr lang="en-US" sz="1688" b="1" i="1">
                            <a:solidFill>
                              <a:srgbClr val="000000"/>
                            </a:solidFill>
                            <a:latin typeface="Cambria Math" panose="02040503050406030204" pitchFamily="18" charset="0"/>
                            <a:sym typeface="Times New Roman Bold"/>
                          </a:rPr>
                          <m:t>𝑚</m:t>
                        </m:r>
                      </m:sub>
                    </m:sSub>
                  </m:oMath>
                </a14:m>
                <a:r>
                  <a:rPr lang="en-US" sz="1688" b="1" dirty="0">
                    <a:solidFill>
                      <a:srgbClr val="000000"/>
                    </a:solidFill>
                    <a:latin typeface="Times New Roman Bold"/>
                    <a:ea typeface="Times New Roman Bold"/>
                    <a:cs typeface="Times New Roman Bold"/>
                    <a:sym typeface="Times New Roman Bold"/>
                  </a:rPr>
                  <a:t> rad electrical.</a:t>
                </a: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2 phase</a:t>
                </a: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m = 2</a:t>
                </a: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 π/2 rad → a winding</a:t>
                </a: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 π/2 || → </a:t>
                </a:r>
                <a:r>
                  <a:rPr lang="en-US" sz="1688" b="1" dirty="0" err="1">
                    <a:solidFill>
                      <a:srgbClr val="000000"/>
                    </a:solidFill>
                    <a:latin typeface="Times New Roman Bold"/>
                    <a:ea typeface="Times New Roman Bold"/>
                    <a:cs typeface="Times New Roman Bold"/>
                    <a:sym typeface="Times New Roman Bold"/>
                  </a:rPr>
                  <a:t>wt</a:t>
                </a:r>
                <a:r>
                  <a:rPr lang="en-US" sz="1688" b="1" dirty="0">
                    <a:solidFill>
                      <a:srgbClr val="000000"/>
                    </a:solidFill>
                    <a:latin typeface="Times New Roman Bold"/>
                    <a:ea typeface="Times New Roman Bold"/>
                    <a:cs typeface="Times New Roman Bold"/>
                    <a:sym typeface="Times New Roman Bold"/>
                  </a:rPr>
                  <a:t> current</a:t>
                </a: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Fa = Fm </a:t>
                </a:r>
                <a:r>
                  <a:rPr lang="en-US" sz="1688" b="1" dirty="0" err="1">
                    <a:solidFill>
                      <a:srgbClr val="000000"/>
                    </a:solidFill>
                    <a:latin typeface="Times New Roman Bold"/>
                    <a:ea typeface="Times New Roman Bold"/>
                    <a:cs typeface="Times New Roman Bold"/>
                    <a:sym typeface="Times New Roman Bold"/>
                  </a:rPr>
                  <a:t>cosθ</a:t>
                </a:r>
                <a:r>
                  <a:rPr lang="en-US" sz="1688" b="1" dirty="0">
                    <a:solidFill>
                      <a:srgbClr val="000000"/>
                    </a:solidFill>
                    <a:latin typeface="Times New Roman Bold"/>
                    <a:ea typeface="Times New Roman Bold"/>
                    <a:cs typeface="Times New Roman Bold"/>
                    <a:sym typeface="Times New Roman Bold"/>
                  </a:rPr>
                  <a:t> </a:t>
                </a:r>
                <a:r>
                  <a:rPr lang="en-US" sz="1688" b="1" dirty="0" err="1">
                    <a:solidFill>
                      <a:srgbClr val="000000"/>
                    </a:solidFill>
                    <a:latin typeface="Times New Roman Bold"/>
                    <a:ea typeface="Times New Roman Bold"/>
                    <a:cs typeface="Times New Roman Bold"/>
                    <a:sym typeface="Times New Roman Bold"/>
                  </a:rPr>
                  <a:t>cosωt</a:t>
                </a:r>
                <a:endParaRPr lang="en-US" sz="1688" b="1" dirty="0">
                  <a:solidFill>
                    <a:srgbClr val="000000"/>
                  </a:solidFill>
                  <a:latin typeface="Times New Roman Bold"/>
                  <a:ea typeface="Times New Roman Bold"/>
                  <a:cs typeface="Times New Roman Bold"/>
                  <a:sym typeface="Times New Roman Bold"/>
                </a:endParaRP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 Fb = Fm cos(θ − 90°) </a:t>
                </a:r>
                <a:r>
                  <a:rPr lang="en-US" sz="1688" b="1" dirty="0" err="1">
                    <a:solidFill>
                      <a:srgbClr val="000000"/>
                    </a:solidFill>
                    <a:latin typeface="Times New Roman Bold"/>
                    <a:ea typeface="Times New Roman Bold"/>
                    <a:cs typeface="Times New Roman Bold"/>
                    <a:sym typeface="Times New Roman Bold"/>
                  </a:rPr>
                  <a:t>Im</a:t>
                </a:r>
                <a:r>
                  <a:rPr lang="en-US" sz="1688" b="1" dirty="0">
                    <a:solidFill>
                      <a:srgbClr val="000000"/>
                    </a:solidFill>
                    <a:latin typeface="Times New Roman Bold"/>
                    <a:ea typeface="Times New Roman Bold"/>
                    <a:cs typeface="Times New Roman Bold"/>
                    <a:sym typeface="Times New Roman Bold"/>
                  </a:rPr>
                  <a:t> cos(</a:t>
                </a:r>
                <a:r>
                  <a:rPr lang="en-US" sz="1688" b="1" dirty="0" err="1">
                    <a:solidFill>
                      <a:srgbClr val="000000"/>
                    </a:solidFill>
                    <a:latin typeface="Times New Roman Bold"/>
                    <a:ea typeface="Times New Roman Bold"/>
                    <a:cs typeface="Times New Roman Bold"/>
                    <a:sym typeface="Times New Roman Bold"/>
                  </a:rPr>
                  <a:t>ωt</a:t>
                </a:r>
                <a:r>
                  <a:rPr lang="en-US" sz="1688" b="1" dirty="0">
                    <a:solidFill>
                      <a:srgbClr val="000000"/>
                    </a:solidFill>
                    <a:latin typeface="Times New Roman Bold"/>
                    <a:ea typeface="Times New Roman Bold"/>
                    <a:cs typeface="Times New Roman Bold"/>
                    <a:sym typeface="Times New Roman Bold"/>
                  </a:rPr>
                  <a:t> − 90°)</a:t>
                </a: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 Fb = Fm </a:t>
                </a:r>
                <a:r>
                  <a:rPr lang="en-US" sz="1688" b="1" dirty="0" err="1">
                    <a:solidFill>
                      <a:srgbClr val="000000"/>
                    </a:solidFill>
                    <a:latin typeface="Times New Roman Bold"/>
                    <a:ea typeface="Times New Roman Bold"/>
                    <a:cs typeface="Times New Roman Bold"/>
                    <a:sym typeface="Times New Roman Bold"/>
                  </a:rPr>
                  <a:t>sinθ</a:t>
                </a:r>
                <a:r>
                  <a:rPr lang="en-US" sz="1688" b="1" dirty="0">
                    <a:solidFill>
                      <a:srgbClr val="000000"/>
                    </a:solidFill>
                    <a:latin typeface="Times New Roman Bold"/>
                    <a:ea typeface="Times New Roman Bold"/>
                    <a:cs typeface="Times New Roman Bold"/>
                    <a:sym typeface="Times New Roman Bold"/>
                  </a:rPr>
                  <a:t> </a:t>
                </a:r>
                <a:r>
                  <a:rPr lang="en-US" sz="1688" b="1" dirty="0" err="1">
                    <a:solidFill>
                      <a:srgbClr val="000000"/>
                    </a:solidFill>
                    <a:latin typeface="Times New Roman Bold"/>
                    <a:ea typeface="Times New Roman Bold"/>
                    <a:cs typeface="Times New Roman Bold"/>
                    <a:sym typeface="Times New Roman Bold"/>
                  </a:rPr>
                  <a:t>sinωt</a:t>
                </a:r>
                <a:endParaRPr lang="en-US" sz="1688" b="1" dirty="0">
                  <a:solidFill>
                    <a:srgbClr val="000000"/>
                  </a:solidFill>
                  <a:latin typeface="Times New Roman Bold"/>
                  <a:ea typeface="Times New Roman Bold"/>
                  <a:cs typeface="Times New Roman Bold"/>
                  <a:sym typeface="Times New Roman Bold"/>
                </a:endParaRPr>
              </a:p>
              <a:p>
                <a:pPr algn="l">
                  <a:lnSpc>
                    <a:spcPts val="2026"/>
                  </a:lnSpc>
                  <a:spcBef>
                    <a:spcPct val="0"/>
                  </a:spcBef>
                </a:pPr>
                <a:r>
                  <a:rPr lang="en-US" sz="1688" b="1" dirty="0">
                    <a:solidFill>
                      <a:srgbClr val="000000"/>
                    </a:solidFill>
                    <a:latin typeface="Times New Roman Bold"/>
                    <a:ea typeface="Times New Roman Bold"/>
                    <a:cs typeface="Times New Roman Bold"/>
                    <a:sym typeface="Times New Roman Bold"/>
                  </a:rPr>
                  <a:t>⇒ Fe = Fa + Fb</a:t>
                </a:r>
              </a:p>
            </p:txBody>
          </p:sp>
        </mc:Choice>
        <mc:Fallback xmlns="">
          <p:sp>
            <p:nvSpPr>
              <p:cNvPr id="14" name="TextBox 14"/>
              <p:cNvSpPr txBox="1">
                <a:spLocks noRot="1" noChangeAspect="1" noMove="1" noResize="1" noEditPoints="1" noAdjustHandles="1" noChangeArrowheads="1" noChangeShapeType="1" noTextEdit="1"/>
              </p:cNvSpPr>
              <p:nvPr/>
            </p:nvSpPr>
            <p:spPr>
              <a:xfrm>
                <a:off x="2133600" y="6479449"/>
                <a:ext cx="15648333" cy="5129609"/>
              </a:xfrm>
              <a:prstGeom prst="rect">
                <a:avLst/>
              </a:prstGeom>
              <a:blipFill>
                <a:blip r:embed="R7a935045af8d4204"/>
                <a:stretch>
                  <a:fillRect l="-818" t="-1308" b="-16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38280A7-9580-BF13-06BD-BDAC0778A965}"/>
                  </a:ext>
                </a:extLst>
              </p:cNvPr>
              <p:cNvSpPr txBox="1"/>
              <p:nvPr/>
            </p:nvSpPr>
            <p:spPr>
              <a:xfrm>
                <a:off x="-1219200" y="5675584"/>
                <a:ext cx="9144000" cy="6170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i="1">
                              <a:latin typeface="Cambria Math" panose="02040503050406030204" pitchFamily="18" charset="0"/>
                            </a:rPr>
                          </m:ctrlPr>
                        </m:fPr>
                        <m:num>
                          <m:r>
                            <a:rPr lang="en-IN" i="0">
                              <a:latin typeface="Cambria Math" panose="02040503050406030204" pitchFamily="18" charset="0"/>
                            </a:rPr>
                            <m:t>120</m:t>
                          </m:r>
                          <m:r>
                            <m:rPr>
                              <m:sty m:val="p"/>
                            </m:rPr>
                            <a:rPr lang="en-IN" b="0" i="0">
                              <a:latin typeface="Cambria Math" panose="02040503050406030204" pitchFamily="18" charset="0"/>
                            </a:rPr>
                            <m:t>f</m:t>
                          </m:r>
                        </m:num>
                        <m:den>
                          <m:r>
                            <a:rPr lang="en-IN" i="1">
                              <a:latin typeface="Cambria Math" panose="02040503050406030204" pitchFamily="18" charset="0"/>
                            </a:rPr>
                            <m:t>𝑃</m:t>
                          </m:r>
                        </m:den>
                      </m:f>
                    </m:oMath>
                  </m:oMathPara>
                </a14:m>
                <a:endParaRPr lang="en-IN" dirty="0"/>
              </a:p>
            </p:txBody>
          </p:sp>
        </mc:Choice>
        <mc:Fallback xmlns="">
          <p:sp>
            <p:nvSpPr>
              <p:cNvPr id="16" name="TextBox 15">
                <a:extLst>
                  <a:ext uri="{FF2B5EF4-FFF2-40B4-BE49-F238E27FC236}">
                    <a16:creationId xmlns:a16="http://schemas.microsoft.com/office/drawing/2014/main" id="{538280A7-9580-BF13-06BD-BDAC0778A965}"/>
                  </a:ext>
                </a:extLst>
              </p:cNvPr>
              <p:cNvSpPr txBox="1">
                <a:spLocks noRot="1" noChangeAspect="1" noMove="1" noResize="1" noEditPoints="1" noAdjustHandles="1" noChangeArrowheads="1" noChangeShapeType="1" noTextEdit="1"/>
              </p:cNvSpPr>
              <p:nvPr/>
            </p:nvSpPr>
            <p:spPr>
              <a:xfrm>
                <a:off x="-1219200" y="5675584"/>
                <a:ext cx="9144000" cy="617092"/>
              </a:xfrm>
              <a:prstGeom prst="rect">
                <a:avLst/>
              </a:prstGeom>
              <a:blipFill>
                <a:blip r:embed="Rcf5510b39256434e"/>
                <a:stretch>
                  <a:fillRect/>
                </a:stretch>
              </a:blipFill>
            </p:spPr>
            <p:txBody>
              <a:bodyPr/>
              <a:lstStyle/>
              <a:p>
                <a:r>
                  <a:rPr lang="en-IN">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830999"/>
            <a:ext cx="13716000" cy="617209"/>
            <a:chOff x="0" y="0"/>
            <a:chExt cx="18288000" cy="822945"/>
          </a:xfrm>
        </p:grpSpPr>
        <p:sp>
          <p:nvSpPr>
            <p:cNvPr id="3" name="Freeform 3"/>
            <p:cNvSpPr/>
            <p:nvPr/>
          </p:nvSpPr>
          <p:spPr>
            <a:xfrm>
              <a:off x="0" y="0"/>
              <a:ext cx="18288000" cy="822958"/>
            </a:xfrm>
            <a:custGeom>
              <a:avLst/>
              <a:gdLst/>
              <a:ahLst/>
              <a:cxnLst/>
              <a:rect l="l" t="t" r="r" b="b"/>
              <a:pathLst>
                <a:path w="18288000" h="822958">
                  <a:moveTo>
                    <a:pt x="0" y="0"/>
                  </a:moveTo>
                  <a:lnTo>
                    <a:pt x="18288000" y="0"/>
                  </a:lnTo>
                  <a:lnTo>
                    <a:pt x="18288000" y="822958"/>
                  </a:lnTo>
                  <a:lnTo>
                    <a:pt x="0" y="822958"/>
                  </a:lnTo>
                  <a:close/>
                </a:path>
              </a:pathLst>
            </a:custGeom>
            <a:solidFill>
              <a:srgbClr val="E59EDD">
                <a:alpha val="27059"/>
              </a:srgbClr>
            </a:solidFill>
            <a:ln w="12700">
              <a:solidFill>
                <a:srgbClr val="000000"/>
              </a:solidFill>
            </a:ln>
          </p:spPr>
        </p:sp>
        <p:sp>
          <p:nvSpPr>
            <p:cNvPr id="4" name="TextBox 4"/>
            <p:cNvSpPr txBox="1"/>
            <p:nvPr/>
          </p:nvSpPr>
          <p:spPr>
            <a:xfrm>
              <a:off x="0" y="-19050"/>
              <a:ext cx="18288000" cy="841995"/>
            </a:xfrm>
            <a:prstGeom prst="rect">
              <a:avLst/>
            </a:prstGeom>
          </p:spPr>
          <p:txBody>
            <a:bodyPr lIns="50800" tIns="50800" rIns="50800" bIns="50800" rtlCol="0" anchor="t"/>
            <a:lstStyle/>
            <a:p>
              <a:pPr algn="ctr">
                <a:lnSpc>
                  <a:spcPts val="3240"/>
                </a:lnSpc>
              </a:pPr>
              <a:r>
                <a:rPr lang="en-US" sz="2700" b="1">
                  <a:solidFill>
                    <a:srgbClr val="000000"/>
                  </a:solidFill>
                  <a:latin typeface="Times New Roman Bold"/>
                  <a:ea typeface="Times New Roman Bold"/>
                  <a:cs typeface="Times New Roman Bold"/>
                  <a:sym typeface="Times New Roman Bold"/>
                </a:rPr>
                <a:t> </a:t>
              </a:r>
            </a:p>
          </p:txBody>
        </p:sp>
      </p:grpSp>
      <p:grpSp>
        <p:nvGrpSpPr>
          <p:cNvPr id="5" name="Group 5"/>
          <p:cNvGrpSpPr/>
          <p:nvPr/>
        </p:nvGrpSpPr>
        <p:grpSpPr>
          <a:xfrm>
            <a:off x="2286000" y="1"/>
            <a:ext cx="13716000" cy="747998"/>
            <a:chOff x="0" y="0"/>
            <a:chExt cx="18288000" cy="997331"/>
          </a:xfrm>
        </p:grpSpPr>
        <p:sp>
          <p:nvSpPr>
            <p:cNvPr id="6" name="Freeform 6"/>
            <p:cNvSpPr/>
            <p:nvPr/>
          </p:nvSpPr>
          <p:spPr>
            <a:xfrm>
              <a:off x="0" y="0"/>
              <a:ext cx="18288000" cy="997331"/>
            </a:xfrm>
            <a:custGeom>
              <a:avLst/>
              <a:gdLst/>
              <a:ahLst/>
              <a:cxnLst/>
              <a:rect l="l" t="t" r="r" b="b"/>
              <a:pathLst>
                <a:path w="18288000" h="997331">
                  <a:moveTo>
                    <a:pt x="0" y="0"/>
                  </a:moveTo>
                  <a:lnTo>
                    <a:pt x="18288000" y="0"/>
                  </a:lnTo>
                  <a:lnTo>
                    <a:pt x="18288000" y="997331"/>
                  </a:lnTo>
                  <a:lnTo>
                    <a:pt x="0" y="997331"/>
                  </a:lnTo>
                  <a:close/>
                </a:path>
              </a:pathLst>
            </a:custGeom>
            <a:solidFill>
              <a:srgbClr val="E97132"/>
            </a:solidFill>
            <a:ln w="12700">
              <a:solidFill>
                <a:srgbClr val="000000"/>
              </a:solidFill>
            </a:ln>
          </p:spPr>
        </p:sp>
        <p:sp>
          <p:nvSpPr>
            <p:cNvPr id="7" name="TextBox 7"/>
            <p:cNvSpPr txBox="1"/>
            <p:nvPr/>
          </p:nvSpPr>
          <p:spPr>
            <a:xfrm>
              <a:off x="0" y="-200025"/>
              <a:ext cx="18288000" cy="1197356"/>
            </a:xfrm>
            <a:prstGeom prst="rect">
              <a:avLst/>
            </a:prstGeom>
          </p:spPr>
          <p:txBody>
            <a:bodyPr lIns="50800" tIns="50800" rIns="50800" bIns="50800" rtlCol="0" anchor="t"/>
            <a:lstStyle/>
            <a:p>
              <a:pPr algn="ctr">
                <a:lnSpc>
                  <a:spcPts val="5400"/>
                </a:lnSpc>
              </a:pPr>
              <a:r>
                <a:rPr lang="en-US" sz="3000" b="1">
                  <a:solidFill>
                    <a:srgbClr val="EEECE1"/>
                  </a:solidFill>
                  <a:latin typeface="Times New Roman Bold"/>
                  <a:ea typeface="Times New Roman Bold"/>
                  <a:cs typeface="Times New Roman Bold"/>
                  <a:sym typeface="Times New Roman Bold"/>
                </a:rPr>
                <a:t>SECTION : I</a:t>
              </a:r>
            </a:p>
          </p:txBody>
        </p:sp>
      </p:grpSp>
      <p:sp>
        <p:nvSpPr>
          <p:cNvPr id="11" name="Freeform 11"/>
          <p:cNvSpPr/>
          <p:nvPr/>
        </p:nvSpPr>
        <p:spPr>
          <a:xfrm>
            <a:off x="15001875" y="101184"/>
            <a:ext cx="1000125" cy="1000125"/>
          </a:xfrm>
          <a:custGeom>
            <a:avLst/>
            <a:gdLst/>
            <a:ahLst/>
            <a:cxnLst/>
            <a:rect l="l" t="t" r="r" b="b"/>
            <a:pathLst>
              <a:path w="1000125" h="1000125">
                <a:moveTo>
                  <a:pt x="0" y="0"/>
                </a:moveTo>
                <a:lnTo>
                  <a:pt x="1000125" y="0"/>
                </a:lnTo>
                <a:lnTo>
                  <a:pt x="1000125" y="1000125"/>
                </a:lnTo>
                <a:lnTo>
                  <a:pt x="0" y="1000125"/>
                </a:lnTo>
                <a:lnTo>
                  <a:pt x="0" y="0"/>
                </a:lnTo>
                <a:close/>
              </a:path>
            </a:pathLst>
          </a:custGeom>
          <a:blipFill>
            <a:blip r:embed="rId3"/>
            <a:stretch>
              <a:fillRect/>
            </a:stretch>
          </a:blipFill>
        </p:spPr>
      </p:sp>
      <mc:AlternateContent xmlns:mc="http://schemas.openxmlformats.org/markup-compatibility/2006" xmlns:a14="http://schemas.microsoft.com/office/drawing/2010/main">
        <mc:Choice Requires="a14">
          <p:sp>
            <p:nvSpPr>
              <p:cNvPr id="12" name="TextBox 12"/>
              <p:cNvSpPr txBox="1"/>
              <p:nvPr/>
            </p:nvSpPr>
            <p:spPr>
              <a:xfrm>
                <a:off x="2286000" y="1448208"/>
                <a:ext cx="9371293" cy="9475671"/>
              </a:xfrm>
              <a:prstGeom prst="rect">
                <a:avLst/>
              </a:prstGeom>
            </p:spPr>
            <p:txBody>
              <a:bodyPr lIns="0" tIns="0" rIns="0" bIns="0" rtlCol="0" anchor="t">
                <a:spAutoFit/>
              </a:bodyPr>
              <a:lstStyle/>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π/2 || → </a:t>
                </a:r>
                <a:r>
                  <a:rPr lang="en-US" sz="1664" b="1" dirty="0" err="1">
                    <a:solidFill>
                      <a:srgbClr val="000000"/>
                    </a:solidFill>
                    <a:latin typeface="Times New Roman Bold"/>
                    <a:ea typeface="Times New Roman Bold"/>
                    <a:cs typeface="Times New Roman Bold"/>
                    <a:sym typeface="Times New Roman Bold"/>
                  </a:rPr>
                  <a:t>wt</a:t>
                </a:r>
                <a:r>
                  <a:rPr lang="en-US" sz="1664" b="1" dirty="0">
                    <a:solidFill>
                      <a:srgbClr val="000000"/>
                    </a:solidFill>
                    <a:latin typeface="Times New Roman Bold"/>
                    <a:ea typeface="Times New Roman Bold"/>
                    <a:cs typeface="Times New Roman Bold"/>
                    <a:sym typeface="Times New Roman Bold"/>
                  </a:rPr>
                  <a:t> current</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Fa = Fm </a:t>
                </a:r>
                <a:r>
                  <a:rPr lang="en-US" sz="1664" b="1" dirty="0" err="1">
                    <a:solidFill>
                      <a:srgbClr val="000000"/>
                    </a:solidFill>
                    <a:latin typeface="Times New Roman Bold"/>
                    <a:ea typeface="Times New Roman Bold"/>
                    <a:cs typeface="Times New Roman Bold"/>
                    <a:sym typeface="Times New Roman Bold"/>
                  </a:rPr>
                  <a:t>cosθ</a:t>
                </a:r>
                <a:r>
                  <a:rPr lang="en-US" sz="1664" b="1" dirty="0">
                    <a:solidFill>
                      <a:srgbClr val="000000"/>
                    </a:solidFill>
                    <a:latin typeface="Times New Roman Bold"/>
                    <a:ea typeface="Times New Roman Bold"/>
                    <a:cs typeface="Times New Roman Bold"/>
                    <a:sym typeface="Times New Roman Bold"/>
                  </a:rPr>
                  <a:t> </a:t>
                </a:r>
                <a:r>
                  <a:rPr lang="en-US" sz="1664" b="1" dirty="0" err="1">
                    <a:solidFill>
                      <a:srgbClr val="000000"/>
                    </a:solidFill>
                    <a:latin typeface="Times New Roman Bold"/>
                    <a:ea typeface="Times New Roman Bold"/>
                    <a:cs typeface="Times New Roman Bold"/>
                    <a:sym typeface="Times New Roman Bold"/>
                  </a:rPr>
                  <a:t>cosωt</a:t>
                </a:r>
                <a:endParaRPr lang="en-US" sz="1664" b="1" dirty="0">
                  <a:solidFill>
                    <a:srgbClr val="000000"/>
                  </a:solidFill>
                  <a:latin typeface="Times New Roman Bold"/>
                  <a:ea typeface="Times New Roman Bold"/>
                  <a:cs typeface="Times New Roman Bold"/>
                  <a:sym typeface="Times New Roman Bold"/>
                </a:endParaRP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Fb = Fm cos(θ − 90°) </a:t>
                </a:r>
                <a:r>
                  <a:rPr lang="en-US" sz="1664" b="1" dirty="0" err="1">
                    <a:solidFill>
                      <a:srgbClr val="000000"/>
                    </a:solidFill>
                    <a:latin typeface="Times New Roman Bold"/>
                    <a:ea typeface="Times New Roman Bold"/>
                    <a:cs typeface="Times New Roman Bold"/>
                    <a:sym typeface="Times New Roman Bold"/>
                  </a:rPr>
                  <a:t>Im</a:t>
                </a:r>
                <a:r>
                  <a:rPr lang="en-US" sz="1664" b="1" dirty="0">
                    <a:solidFill>
                      <a:srgbClr val="000000"/>
                    </a:solidFill>
                    <a:latin typeface="Times New Roman Bold"/>
                    <a:ea typeface="Times New Roman Bold"/>
                    <a:cs typeface="Times New Roman Bold"/>
                    <a:sym typeface="Times New Roman Bold"/>
                  </a:rPr>
                  <a:t> cos(</a:t>
                </a:r>
                <a:r>
                  <a:rPr lang="en-US" sz="1664" b="1" dirty="0" err="1">
                    <a:solidFill>
                      <a:srgbClr val="000000"/>
                    </a:solidFill>
                    <a:latin typeface="Times New Roman Bold"/>
                    <a:ea typeface="Times New Roman Bold"/>
                    <a:cs typeface="Times New Roman Bold"/>
                    <a:sym typeface="Times New Roman Bold"/>
                  </a:rPr>
                  <a:t>ωt</a:t>
                </a:r>
                <a:r>
                  <a:rPr lang="en-US" sz="1664" b="1" dirty="0">
                    <a:solidFill>
                      <a:srgbClr val="000000"/>
                    </a:solidFill>
                    <a:latin typeface="Times New Roman Bold"/>
                    <a:ea typeface="Times New Roman Bold"/>
                    <a:cs typeface="Times New Roman Bold"/>
                    <a:sym typeface="Times New Roman Bold"/>
                  </a:rPr>
                  <a:t> − 90°)</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Fb = Fm </a:t>
                </a:r>
                <a:r>
                  <a:rPr lang="en-US" sz="1664" b="1" dirty="0" err="1">
                    <a:solidFill>
                      <a:srgbClr val="000000"/>
                    </a:solidFill>
                    <a:latin typeface="Times New Roman Bold"/>
                    <a:ea typeface="Times New Roman Bold"/>
                    <a:cs typeface="Times New Roman Bold"/>
                    <a:sym typeface="Times New Roman Bold"/>
                  </a:rPr>
                  <a:t>sinθ</a:t>
                </a:r>
                <a:r>
                  <a:rPr lang="en-US" sz="1664" b="1" dirty="0">
                    <a:solidFill>
                      <a:srgbClr val="000000"/>
                    </a:solidFill>
                    <a:latin typeface="Times New Roman Bold"/>
                    <a:ea typeface="Times New Roman Bold"/>
                    <a:cs typeface="Times New Roman Bold"/>
                    <a:sym typeface="Times New Roman Bold"/>
                  </a:rPr>
                  <a:t> </a:t>
                </a:r>
                <a:r>
                  <a:rPr lang="en-US" sz="1664" b="1" dirty="0" err="1">
                    <a:solidFill>
                      <a:srgbClr val="000000"/>
                    </a:solidFill>
                    <a:latin typeface="Times New Roman Bold"/>
                    <a:ea typeface="Times New Roman Bold"/>
                    <a:cs typeface="Times New Roman Bold"/>
                    <a:sym typeface="Times New Roman Bold"/>
                  </a:rPr>
                  <a:t>sinωt</a:t>
                </a:r>
                <a:endParaRPr lang="en-US" sz="1664" b="1" dirty="0">
                  <a:solidFill>
                    <a:srgbClr val="000000"/>
                  </a:solidFill>
                  <a:latin typeface="Times New Roman Bold"/>
                  <a:ea typeface="Times New Roman Bold"/>
                  <a:cs typeface="Times New Roman Bold"/>
                  <a:sym typeface="Times New Roman Bold"/>
                </a:endParaRP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Fe = Fa + Fb</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Double field Revolving theory</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Fa = Fm </a:t>
                </a:r>
                <a:r>
                  <a:rPr lang="en-US" sz="1664" b="1" dirty="0" err="1">
                    <a:solidFill>
                      <a:srgbClr val="000000"/>
                    </a:solidFill>
                    <a:latin typeface="Times New Roman Bold"/>
                    <a:ea typeface="Times New Roman Bold"/>
                    <a:cs typeface="Times New Roman Bold"/>
                    <a:sym typeface="Times New Roman Bold"/>
                  </a:rPr>
                  <a:t>cosθ</a:t>
                </a:r>
                <a:r>
                  <a:rPr lang="en-US" sz="1664" b="1" dirty="0">
                    <a:solidFill>
                      <a:srgbClr val="000000"/>
                    </a:solidFill>
                    <a:latin typeface="Times New Roman Bold"/>
                    <a:ea typeface="Times New Roman Bold"/>
                    <a:cs typeface="Times New Roman Bold"/>
                    <a:sym typeface="Times New Roman Bold"/>
                  </a:rPr>
                  <a:t> </a:t>
                </a:r>
                <a:r>
                  <a:rPr lang="en-US" sz="1664" b="1" dirty="0" err="1">
                    <a:solidFill>
                      <a:srgbClr val="000000"/>
                    </a:solidFill>
                    <a:latin typeface="Times New Roman Bold"/>
                    <a:ea typeface="Times New Roman Bold"/>
                    <a:cs typeface="Times New Roman Bold"/>
                    <a:sym typeface="Times New Roman Bold"/>
                  </a:rPr>
                  <a:t>cosωt</a:t>
                </a:r>
                <a:endParaRPr lang="en-US" sz="1664" b="1" dirty="0">
                  <a:solidFill>
                    <a:srgbClr val="000000"/>
                  </a:solidFill>
                  <a:latin typeface="Times New Roman Bold"/>
                  <a:ea typeface="Times New Roman Bold"/>
                  <a:cs typeface="Times New Roman Bold"/>
                  <a:sym typeface="Times New Roman Bold"/>
                </a:endParaRPr>
              </a:p>
              <a:p>
                <a:pPr algn="l">
                  <a:lnSpc>
                    <a:spcPts val="1997"/>
                  </a:lnSpc>
                  <a:spcBef>
                    <a:spcPct val="0"/>
                  </a:spcBef>
                </a:pPr>
                <a:endParaRPr lang="en-US" sz="1664" b="1" dirty="0">
                  <a:solidFill>
                    <a:srgbClr val="000000"/>
                  </a:solidFill>
                  <a:latin typeface="Times New Roman Bold"/>
                  <a:ea typeface="Times New Roman Bold"/>
                  <a:cs typeface="Times New Roman Bold"/>
                  <a:sym typeface="Times New Roman Bold"/>
                </a:endParaRPr>
              </a:p>
              <a:p>
                <a:pPr algn="l">
                  <a:lnSpc>
                    <a:spcPts val="1997"/>
                  </a:lnSpc>
                  <a:spcBef>
                    <a:spcPct val="0"/>
                  </a:spcBef>
                </a:pPr>
                <a:endParaRPr lang="en-US" sz="1664" b="1" dirty="0">
                  <a:solidFill>
                    <a:srgbClr val="000000"/>
                  </a:solidFill>
                  <a:latin typeface="Times New Roman Bold"/>
                  <a:ea typeface="Times New Roman Bold"/>
                  <a:cs typeface="Times New Roman Bold"/>
                  <a:sym typeface="Times New Roman Bold"/>
                </a:endParaRP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forward rotating </a:t>
                </a:r>
                <a:r>
                  <a:rPr lang="en-US" sz="1664" b="1" dirty="0" err="1">
                    <a:solidFill>
                      <a:srgbClr val="000000"/>
                    </a:solidFill>
                    <a:latin typeface="Times New Roman Bold"/>
                    <a:ea typeface="Times New Roman Bold"/>
                    <a:cs typeface="Times New Roman Bold"/>
                    <a:sym typeface="Times New Roman Bold"/>
                  </a:rPr>
                  <a:t>mmf</a:t>
                </a:r>
                <a:r>
                  <a:rPr lang="en-US" sz="1664" b="1" dirty="0">
                    <a:solidFill>
                      <a:srgbClr val="000000"/>
                    </a:solidFill>
                    <a:latin typeface="Times New Roman Bold"/>
                    <a:ea typeface="Times New Roman Bold"/>
                    <a:cs typeface="Times New Roman Bold"/>
                    <a:sym typeface="Times New Roman Bold"/>
                  </a:rPr>
                  <a:t> due to Fa⁺</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(backward rotating </a:t>
                </a:r>
                <a:r>
                  <a:rPr lang="en-US" sz="1664" b="1" dirty="0" err="1">
                    <a:solidFill>
                      <a:srgbClr val="000000"/>
                    </a:solidFill>
                    <a:latin typeface="Times New Roman Bold"/>
                    <a:ea typeface="Times New Roman Bold"/>
                    <a:cs typeface="Times New Roman Bold"/>
                    <a:sym typeface="Times New Roman Bold"/>
                  </a:rPr>
                  <a:t>mmf</a:t>
                </a:r>
                <a:r>
                  <a:rPr lang="en-US" sz="1664" b="1" dirty="0">
                    <a:solidFill>
                      <a:srgbClr val="000000"/>
                    </a:solidFill>
                    <a:latin typeface="Times New Roman Bold"/>
                    <a:ea typeface="Times New Roman Bold"/>
                    <a:cs typeface="Times New Roman Bold"/>
                    <a:sym typeface="Times New Roman Bold"/>
                  </a:rPr>
                  <a:t>)</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(but opposite direction)</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Rotating Ns</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Rotating Nr</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phase a</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fb = Fm cos(θ − 120°) cos(</a:t>
                </a:r>
                <a:r>
                  <a:rPr lang="en-US" sz="1664" b="1" dirty="0" err="1">
                    <a:solidFill>
                      <a:srgbClr val="000000"/>
                    </a:solidFill>
                    <a:latin typeface="Times New Roman Bold"/>
                    <a:ea typeface="Times New Roman Bold"/>
                    <a:cs typeface="Times New Roman Bold"/>
                    <a:sym typeface="Times New Roman Bold"/>
                  </a:rPr>
                  <a:t>ωt</a:t>
                </a:r>
                <a:r>
                  <a:rPr lang="en-US" sz="1664" b="1" dirty="0">
                    <a:solidFill>
                      <a:srgbClr val="000000"/>
                    </a:solidFill>
                    <a:latin typeface="Times New Roman Bold"/>
                    <a:ea typeface="Times New Roman Bold"/>
                    <a:cs typeface="Times New Roman Bold"/>
                    <a:sym typeface="Times New Roman Bold"/>
                  </a:rPr>
                  <a:t> − 120°)</a:t>
                </a:r>
              </a:p>
              <a:p>
                <a:pPr>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 </a:t>
                </a:r>
                <a14:m>
                  <m:oMath xmlns:m="http://schemas.openxmlformats.org/officeDocument/2006/math">
                    <m:sSub>
                      <m:sSubPr>
                        <m:ctrlPr>
                          <a:rPr lang="en-IN" sz="1600" i="1">
                            <a:latin typeface="Cambria Math" panose="02040503050406030204" pitchFamily="18" charset="0"/>
                          </a:rPr>
                        </m:ctrlPr>
                      </m:sSubPr>
                      <m:e>
                        <m:r>
                          <a:rPr lang="en-IN" sz="1600" i="1">
                            <a:latin typeface="Cambria Math" panose="02040503050406030204" pitchFamily="18" charset="0"/>
                          </a:rPr>
                          <m:t>𝐹</m:t>
                        </m:r>
                      </m:e>
                      <m:sub>
                        <m:r>
                          <a:rPr lang="en-IN" sz="1600" i="1">
                            <a:latin typeface="Cambria Math" panose="02040503050406030204" pitchFamily="18" charset="0"/>
                          </a:rPr>
                          <m:t>𝑎</m:t>
                        </m:r>
                      </m:sub>
                    </m:sSub>
                    <m:r>
                      <a:rPr lang="en-IN" sz="1600">
                        <a:latin typeface="Cambria Math" panose="02040503050406030204" pitchFamily="18" charset="0"/>
                      </a:rPr>
                      <m:t>=</m:t>
                    </m:r>
                    <m:f>
                      <m:fPr>
                        <m:ctrlPr>
                          <a:rPr lang="en-IN" sz="1600" i="1">
                            <a:latin typeface="Cambria Math" panose="02040503050406030204" pitchFamily="18" charset="0"/>
                          </a:rPr>
                        </m:ctrlPr>
                      </m:fPr>
                      <m:num>
                        <m:sSub>
                          <m:sSubPr>
                            <m:ctrlPr>
                              <a:rPr lang="en-IN" sz="1600" i="1">
                                <a:latin typeface="Cambria Math" panose="02040503050406030204" pitchFamily="18" charset="0"/>
                              </a:rPr>
                            </m:ctrlPr>
                          </m:sSubPr>
                          <m:e>
                            <m:r>
                              <a:rPr lang="en-IN" sz="1600" i="1">
                                <a:latin typeface="Cambria Math" panose="02040503050406030204" pitchFamily="18" charset="0"/>
                              </a:rPr>
                              <m:t>𝐹</m:t>
                            </m:r>
                          </m:e>
                          <m:sub>
                            <m:r>
                              <a:rPr lang="en-IN" sz="1600" i="1">
                                <a:latin typeface="Cambria Math" panose="02040503050406030204" pitchFamily="18" charset="0"/>
                              </a:rPr>
                              <m:t>𝑚</m:t>
                            </m:r>
                          </m:sub>
                        </m:sSub>
                      </m:num>
                      <m:den>
                        <m:r>
                          <a:rPr lang="en-IN" sz="1600">
                            <a:latin typeface="Cambria Math" panose="02040503050406030204" pitchFamily="18" charset="0"/>
                          </a:rPr>
                          <m:t>2</m:t>
                        </m:r>
                      </m:den>
                    </m:f>
                    <m:r>
                      <m:rPr>
                        <m:sty m:val="p"/>
                      </m:rPr>
                      <a:rPr lang="en-IN" sz="1600">
                        <a:latin typeface="Cambria Math" panose="02040503050406030204" pitchFamily="18" charset="0"/>
                      </a:rPr>
                      <m:t>cos</m:t>
                    </m:r>
                    <m:d>
                      <m:dPr>
                        <m:ctrlPr>
                          <a:rPr lang="en-IN" sz="1600" i="1">
                            <a:latin typeface="Cambria Math" panose="02040503050406030204" pitchFamily="18" charset="0"/>
                          </a:rPr>
                        </m:ctrlPr>
                      </m:dPr>
                      <m:e>
                        <m:r>
                          <a:rPr lang="en-IN" sz="1600" i="1">
                            <a:latin typeface="Cambria Math" panose="02040503050406030204" pitchFamily="18" charset="0"/>
                          </a:rPr>
                          <m:t>𝜃</m:t>
                        </m:r>
                        <m:r>
                          <a:rPr lang="en-IN" sz="1600">
                            <a:latin typeface="Cambria Math" panose="02040503050406030204" pitchFamily="18" charset="0"/>
                          </a:rPr>
                          <m:t>−</m:t>
                        </m:r>
                        <m:r>
                          <a:rPr lang="en-IN" sz="1600" i="1">
                            <a:latin typeface="Cambria Math" panose="02040503050406030204" pitchFamily="18" charset="0"/>
                          </a:rPr>
                          <m:t>𝜔</m:t>
                        </m:r>
                        <m:r>
                          <a:rPr lang="en-IN" sz="1600" i="1">
                            <a:latin typeface="Cambria Math" panose="02040503050406030204" pitchFamily="18" charset="0"/>
                          </a:rPr>
                          <m:t>𝑡</m:t>
                        </m:r>
                      </m:e>
                    </m:d>
                    <m:r>
                      <a:rPr lang="en-IN" sz="1600">
                        <a:latin typeface="Cambria Math" panose="02040503050406030204" pitchFamily="18" charset="0"/>
                      </a:rPr>
                      <m:t>+</m:t>
                    </m:r>
                    <m:f>
                      <m:fPr>
                        <m:ctrlPr>
                          <a:rPr lang="en-IN" sz="1600" i="1">
                            <a:latin typeface="Cambria Math" panose="02040503050406030204" pitchFamily="18" charset="0"/>
                          </a:rPr>
                        </m:ctrlPr>
                      </m:fPr>
                      <m:num>
                        <m:sSub>
                          <m:sSubPr>
                            <m:ctrlPr>
                              <a:rPr lang="en-IN" sz="1600" i="1">
                                <a:latin typeface="Cambria Math" panose="02040503050406030204" pitchFamily="18" charset="0"/>
                              </a:rPr>
                            </m:ctrlPr>
                          </m:sSubPr>
                          <m:e>
                            <m:r>
                              <a:rPr lang="en-IN" sz="1600" i="1">
                                <a:latin typeface="Cambria Math" panose="02040503050406030204" pitchFamily="18" charset="0"/>
                              </a:rPr>
                              <m:t>𝐹</m:t>
                            </m:r>
                          </m:e>
                          <m:sub>
                            <m:r>
                              <a:rPr lang="en-IN" sz="1600" i="1">
                                <a:latin typeface="Cambria Math" panose="02040503050406030204" pitchFamily="18" charset="0"/>
                              </a:rPr>
                              <m:t>𝑚</m:t>
                            </m:r>
                          </m:sub>
                        </m:sSub>
                      </m:num>
                      <m:den>
                        <m:r>
                          <a:rPr lang="en-IN" sz="1600">
                            <a:latin typeface="Cambria Math" panose="02040503050406030204" pitchFamily="18" charset="0"/>
                          </a:rPr>
                          <m:t>2</m:t>
                        </m:r>
                      </m:den>
                    </m:f>
                    <m:r>
                      <m:rPr>
                        <m:sty m:val="p"/>
                      </m:rPr>
                      <a:rPr lang="en-IN" sz="1600">
                        <a:latin typeface="Cambria Math" panose="02040503050406030204" pitchFamily="18" charset="0"/>
                      </a:rPr>
                      <m:t>cos</m:t>
                    </m:r>
                    <m:d>
                      <m:dPr>
                        <m:ctrlPr>
                          <a:rPr lang="en-IN" sz="1600" i="1">
                            <a:latin typeface="Cambria Math" panose="02040503050406030204" pitchFamily="18" charset="0"/>
                          </a:rPr>
                        </m:ctrlPr>
                      </m:dPr>
                      <m:e>
                        <m:r>
                          <a:rPr lang="en-IN" sz="1600" i="1">
                            <a:latin typeface="Cambria Math" panose="02040503050406030204" pitchFamily="18" charset="0"/>
                          </a:rPr>
                          <m:t>𝜃</m:t>
                        </m:r>
                        <m:r>
                          <a:rPr lang="en-IN" sz="1600">
                            <a:latin typeface="Cambria Math" panose="02040503050406030204" pitchFamily="18" charset="0"/>
                          </a:rPr>
                          <m:t>+</m:t>
                        </m:r>
                        <m:r>
                          <a:rPr lang="en-IN" sz="1600" i="1">
                            <a:latin typeface="Cambria Math" panose="02040503050406030204" pitchFamily="18" charset="0"/>
                          </a:rPr>
                          <m:t>𝜔</m:t>
                        </m:r>
                        <m:r>
                          <a:rPr lang="en-IN" sz="1600" i="1">
                            <a:latin typeface="Cambria Math" panose="02040503050406030204" pitchFamily="18" charset="0"/>
                          </a:rPr>
                          <m:t>𝑡</m:t>
                        </m:r>
                        <m:r>
                          <a:rPr lang="en-IN" sz="1600" b="0" i="1">
                            <a:latin typeface="Cambria Math" panose="02040503050406030204" pitchFamily="18" charset="0"/>
                          </a:rPr>
                          <m:t>−</m:t>
                        </m:r>
                        <m:r>
                          <a:rPr lang="en-IN" sz="1600" b="0" i="1">
                            <a:latin typeface="Cambria Math" panose="02040503050406030204" pitchFamily="18" charset="0"/>
                          </a:rPr>
                          <m:t>240</m:t>
                        </m:r>
                      </m:e>
                    </m:d>
                  </m:oMath>
                </a14:m>
                <a:endParaRPr lang="en-US" sz="1664" b="1" dirty="0">
                  <a:solidFill>
                    <a:srgbClr val="000000"/>
                  </a:solidFill>
                  <a:latin typeface="Times New Roman Bold"/>
                  <a:ea typeface="Times New Roman Bold"/>
                  <a:cs typeface="Times New Roman Bold"/>
                  <a:sym typeface="Times New Roman Bold"/>
                </a:endParaRP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fb⁺ + fb⁻</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(Ns) (Nr)</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phase c</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fc = Fm cos(θ − 240°) cos(</a:t>
                </a:r>
                <a:r>
                  <a:rPr lang="en-US" sz="1664" b="1" dirty="0" err="1">
                    <a:solidFill>
                      <a:srgbClr val="000000"/>
                    </a:solidFill>
                    <a:latin typeface="Times New Roman Bold"/>
                    <a:ea typeface="Times New Roman Bold"/>
                    <a:cs typeface="Times New Roman Bold"/>
                    <a:sym typeface="Times New Roman Bold"/>
                  </a:rPr>
                  <a:t>ωt</a:t>
                </a:r>
                <a:r>
                  <a:rPr lang="en-US" sz="1664" b="1" dirty="0">
                    <a:solidFill>
                      <a:srgbClr val="000000"/>
                    </a:solidFill>
                    <a:latin typeface="Times New Roman Bold"/>
                    <a:ea typeface="Times New Roman Bold"/>
                    <a:cs typeface="Times New Roman Bold"/>
                    <a:sym typeface="Times New Roman Bold"/>
                  </a:rPr>
                  <a:t> − 240°)</a:t>
                </a:r>
              </a:p>
              <a:p>
                <a:pPr>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 </a:t>
                </a:r>
                <a14:m>
                  <m:oMath xmlns:m="http://schemas.openxmlformats.org/officeDocument/2006/math">
                    <m:f>
                      <m:fPr>
                        <m:ctrlPr>
                          <a:rPr lang="en-IN" sz="1600" i="1">
                            <a:latin typeface="Cambria Math" panose="02040503050406030204" pitchFamily="18" charset="0"/>
                          </a:rPr>
                        </m:ctrlPr>
                      </m:fPr>
                      <m:num>
                        <m:sSub>
                          <m:sSubPr>
                            <m:ctrlPr>
                              <a:rPr lang="en-IN" sz="1600" i="1">
                                <a:latin typeface="Cambria Math" panose="02040503050406030204" pitchFamily="18" charset="0"/>
                              </a:rPr>
                            </m:ctrlPr>
                          </m:sSubPr>
                          <m:e>
                            <m:r>
                              <a:rPr lang="en-IN" sz="1600" i="1">
                                <a:latin typeface="Cambria Math" panose="02040503050406030204" pitchFamily="18" charset="0"/>
                              </a:rPr>
                              <m:t>𝐹</m:t>
                            </m:r>
                          </m:e>
                          <m:sub>
                            <m:r>
                              <a:rPr lang="en-IN" sz="1600" i="1">
                                <a:latin typeface="Cambria Math" panose="02040503050406030204" pitchFamily="18" charset="0"/>
                              </a:rPr>
                              <m:t>𝑚</m:t>
                            </m:r>
                          </m:sub>
                        </m:sSub>
                      </m:num>
                      <m:den>
                        <m:r>
                          <a:rPr lang="en-IN" sz="1600">
                            <a:latin typeface="Cambria Math" panose="02040503050406030204" pitchFamily="18" charset="0"/>
                          </a:rPr>
                          <m:t>2</m:t>
                        </m:r>
                      </m:den>
                    </m:f>
                    <m:r>
                      <m:rPr>
                        <m:sty m:val="p"/>
                      </m:rPr>
                      <a:rPr lang="en-IN" sz="1600">
                        <a:latin typeface="Cambria Math" panose="02040503050406030204" pitchFamily="18" charset="0"/>
                      </a:rPr>
                      <m:t>cos</m:t>
                    </m:r>
                    <m:d>
                      <m:dPr>
                        <m:ctrlPr>
                          <a:rPr lang="en-IN" sz="1600" i="1">
                            <a:latin typeface="Cambria Math" panose="02040503050406030204" pitchFamily="18" charset="0"/>
                          </a:rPr>
                        </m:ctrlPr>
                      </m:dPr>
                      <m:e>
                        <m:r>
                          <a:rPr lang="en-IN" sz="1600" i="1">
                            <a:latin typeface="Cambria Math" panose="02040503050406030204" pitchFamily="18" charset="0"/>
                          </a:rPr>
                          <m:t>𝜃</m:t>
                        </m:r>
                        <m:r>
                          <a:rPr lang="en-IN" sz="1600">
                            <a:latin typeface="Cambria Math" panose="02040503050406030204" pitchFamily="18" charset="0"/>
                          </a:rPr>
                          <m:t>−</m:t>
                        </m:r>
                        <m:r>
                          <a:rPr lang="en-IN" sz="1600" i="1">
                            <a:latin typeface="Cambria Math" panose="02040503050406030204" pitchFamily="18" charset="0"/>
                          </a:rPr>
                          <m:t>𝜔</m:t>
                        </m:r>
                        <m:r>
                          <a:rPr lang="en-IN" sz="1600" i="1">
                            <a:latin typeface="Cambria Math" panose="02040503050406030204" pitchFamily="18" charset="0"/>
                          </a:rPr>
                          <m:t>𝑡</m:t>
                        </m:r>
                      </m:e>
                    </m:d>
                    <m:r>
                      <a:rPr lang="en-IN" sz="1600">
                        <a:latin typeface="Cambria Math" panose="02040503050406030204" pitchFamily="18" charset="0"/>
                      </a:rPr>
                      <m:t>+</m:t>
                    </m:r>
                    <m:f>
                      <m:fPr>
                        <m:ctrlPr>
                          <a:rPr lang="en-IN" sz="1600" i="1">
                            <a:latin typeface="Cambria Math" panose="02040503050406030204" pitchFamily="18" charset="0"/>
                          </a:rPr>
                        </m:ctrlPr>
                      </m:fPr>
                      <m:num>
                        <m:sSub>
                          <m:sSubPr>
                            <m:ctrlPr>
                              <a:rPr lang="en-IN" sz="1600" i="1">
                                <a:latin typeface="Cambria Math" panose="02040503050406030204" pitchFamily="18" charset="0"/>
                              </a:rPr>
                            </m:ctrlPr>
                          </m:sSubPr>
                          <m:e>
                            <m:r>
                              <a:rPr lang="en-IN" sz="1600" i="1">
                                <a:latin typeface="Cambria Math" panose="02040503050406030204" pitchFamily="18" charset="0"/>
                              </a:rPr>
                              <m:t>𝐹</m:t>
                            </m:r>
                          </m:e>
                          <m:sub>
                            <m:r>
                              <a:rPr lang="en-IN" sz="1600" i="1">
                                <a:latin typeface="Cambria Math" panose="02040503050406030204" pitchFamily="18" charset="0"/>
                              </a:rPr>
                              <m:t>𝑚</m:t>
                            </m:r>
                          </m:sub>
                        </m:sSub>
                      </m:num>
                      <m:den>
                        <m:r>
                          <a:rPr lang="en-IN" sz="1600">
                            <a:latin typeface="Cambria Math" panose="02040503050406030204" pitchFamily="18" charset="0"/>
                          </a:rPr>
                          <m:t>2</m:t>
                        </m:r>
                      </m:den>
                    </m:f>
                    <m:r>
                      <m:rPr>
                        <m:sty m:val="p"/>
                      </m:rPr>
                      <a:rPr lang="en-IN" sz="1600">
                        <a:latin typeface="Cambria Math" panose="02040503050406030204" pitchFamily="18" charset="0"/>
                      </a:rPr>
                      <m:t>cos</m:t>
                    </m:r>
                    <m:d>
                      <m:dPr>
                        <m:ctrlPr>
                          <a:rPr lang="en-IN" sz="1600" i="1">
                            <a:latin typeface="Cambria Math" panose="02040503050406030204" pitchFamily="18" charset="0"/>
                          </a:rPr>
                        </m:ctrlPr>
                      </m:dPr>
                      <m:e>
                        <m:r>
                          <a:rPr lang="en-IN" sz="1600" i="1">
                            <a:latin typeface="Cambria Math" panose="02040503050406030204" pitchFamily="18" charset="0"/>
                          </a:rPr>
                          <m:t>𝜃</m:t>
                        </m:r>
                        <m:r>
                          <a:rPr lang="en-IN" sz="1600">
                            <a:latin typeface="Cambria Math" panose="02040503050406030204" pitchFamily="18" charset="0"/>
                          </a:rPr>
                          <m:t>+</m:t>
                        </m:r>
                        <m:r>
                          <a:rPr lang="en-IN" sz="1600" i="1">
                            <a:latin typeface="Cambria Math" panose="02040503050406030204" pitchFamily="18" charset="0"/>
                          </a:rPr>
                          <m:t>𝜔</m:t>
                        </m:r>
                        <m:r>
                          <a:rPr lang="en-IN" sz="1600" i="1">
                            <a:latin typeface="Cambria Math" panose="02040503050406030204" pitchFamily="18" charset="0"/>
                          </a:rPr>
                          <m:t>𝑡</m:t>
                        </m:r>
                        <m:r>
                          <a:rPr lang="en-IN" sz="1600" b="0" i="1">
                            <a:latin typeface="Cambria Math" panose="02040503050406030204" pitchFamily="18" charset="0"/>
                          </a:rPr>
                          <m:t>−</m:t>
                        </m:r>
                        <m:r>
                          <a:rPr lang="en-IN" sz="1600" b="0" i="1">
                            <a:latin typeface="Cambria Math" panose="02040503050406030204" pitchFamily="18" charset="0"/>
                          </a:rPr>
                          <m:t>120</m:t>
                        </m:r>
                      </m:e>
                    </m:d>
                  </m:oMath>
                </a14:m>
                <a:endParaRPr lang="en-US" sz="1664" b="1" dirty="0">
                  <a:solidFill>
                    <a:srgbClr val="000000"/>
                  </a:solidFill>
                  <a:latin typeface="Times New Roman Bold"/>
                  <a:ea typeface="Times New Roman Bold"/>
                  <a:cs typeface="Times New Roman Bold"/>
                  <a:sym typeface="Times New Roman Bold"/>
                </a:endParaRP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fc⁺ + fc⁻</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Resultant backward </a:t>
                </a:r>
                <a:r>
                  <a:rPr lang="en-US" sz="1664" b="1" dirty="0" err="1">
                    <a:solidFill>
                      <a:srgbClr val="000000"/>
                    </a:solidFill>
                    <a:latin typeface="Times New Roman Bold"/>
                    <a:ea typeface="Times New Roman Bold"/>
                    <a:cs typeface="Times New Roman Bold"/>
                    <a:sym typeface="Times New Roman Bold"/>
                  </a:rPr>
                  <a:t>mmf</a:t>
                </a:r>
                <a:r>
                  <a:rPr lang="en-US" sz="1664" b="1" dirty="0">
                    <a:solidFill>
                      <a:srgbClr val="000000"/>
                    </a:solidFill>
                    <a:latin typeface="Times New Roman Bold"/>
                    <a:ea typeface="Times New Roman Bold"/>
                    <a:cs typeface="Times New Roman Bold"/>
                    <a:sym typeface="Times New Roman Bold"/>
                  </a:rPr>
                  <a:t> = 0</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Resultant forward </a:t>
                </a:r>
                <a:r>
                  <a:rPr lang="en-US" sz="1664" b="1" dirty="0" err="1">
                    <a:solidFill>
                      <a:srgbClr val="000000"/>
                    </a:solidFill>
                    <a:latin typeface="Times New Roman Bold"/>
                    <a:ea typeface="Times New Roman Bold"/>
                    <a:cs typeface="Times New Roman Bold"/>
                    <a:sym typeface="Times New Roman Bold"/>
                  </a:rPr>
                  <a:t>mmf</a:t>
                </a:r>
                <a:r>
                  <a:rPr lang="en-US" sz="1664" b="1" dirty="0">
                    <a:solidFill>
                      <a:srgbClr val="000000"/>
                    </a:solidFill>
                    <a:latin typeface="Times New Roman Bold"/>
                    <a:ea typeface="Times New Roman Bold"/>
                    <a:cs typeface="Times New Roman Bold"/>
                    <a:sym typeface="Times New Roman Bold"/>
                  </a:rPr>
                  <a:t> = ?</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Lower Image</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Of 2Φ</a:t>
                </a:r>
              </a:p>
              <a:p>
                <a:pPr algn="l">
                  <a:lnSpc>
                    <a:spcPts val="1997"/>
                  </a:lnSpc>
                  <a:spcBef>
                    <a:spcPct val="0"/>
                  </a:spcBef>
                </a:pPr>
                <a:r>
                  <a:rPr lang="en-US" sz="1664" b="1" dirty="0" err="1">
                    <a:solidFill>
                      <a:srgbClr val="000000"/>
                    </a:solidFill>
                    <a:latin typeface="Times New Roman Bold"/>
                    <a:ea typeface="Times New Roman Bold"/>
                    <a:cs typeface="Times New Roman Bold"/>
                    <a:sym typeface="Times New Roman Bold"/>
                  </a:rPr>
                  <a:t>φf</a:t>
                </a:r>
                <a:r>
                  <a:rPr lang="en-US" sz="1664" b="1" dirty="0">
                    <a:solidFill>
                      <a:srgbClr val="000000"/>
                    </a:solidFill>
                    <a:latin typeface="Times New Roman Bold"/>
                    <a:ea typeface="Times New Roman Bold"/>
                    <a:cs typeface="Times New Roman Bold"/>
                    <a:sym typeface="Times New Roman Bold"/>
                  </a:rPr>
                  <a:t> </a:t>
                </a:r>
                <a:r>
                  <a:rPr lang="en-US" sz="1664" b="1" dirty="0" err="1">
                    <a:solidFill>
                      <a:srgbClr val="000000"/>
                    </a:solidFill>
                    <a:latin typeface="Times New Roman Bold"/>
                    <a:ea typeface="Times New Roman Bold"/>
                    <a:cs typeface="Times New Roman Bold"/>
                    <a:sym typeface="Times New Roman Bold"/>
                  </a:rPr>
                  <a:t>φb</a:t>
                </a:r>
                <a:endParaRPr lang="en-US" sz="1664" b="1" dirty="0">
                  <a:solidFill>
                    <a:srgbClr val="000000"/>
                  </a:solidFill>
                  <a:latin typeface="Times New Roman Bold"/>
                  <a:ea typeface="Times New Roman Bold"/>
                  <a:cs typeface="Times New Roman Bold"/>
                  <a:sym typeface="Times New Roman Bold"/>
                </a:endParaRP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Tc → ← Tb</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Net T = 0 (No starting torque)</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But 3Φ</a:t>
                </a:r>
              </a:p>
              <a:p>
                <a:pPr algn="l">
                  <a:lnSpc>
                    <a:spcPts val="1997"/>
                  </a:lnSpc>
                  <a:spcBef>
                    <a:spcPct val="0"/>
                  </a:spcBef>
                </a:pPr>
                <a:r>
                  <a:rPr lang="en-US" sz="1664" b="1" dirty="0" err="1">
                    <a:solidFill>
                      <a:srgbClr val="000000"/>
                    </a:solidFill>
                    <a:latin typeface="Times New Roman Bold"/>
                    <a:ea typeface="Times New Roman Bold"/>
                    <a:cs typeface="Times New Roman Bold"/>
                    <a:sym typeface="Times New Roman Bold"/>
                  </a:rPr>
                  <a:t>φf</a:t>
                </a:r>
                <a:r>
                  <a:rPr lang="en-US" sz="1664" b="1" dirty="0">
                    <a:solidFill>
                      <a:srgbClr val="000000"/>
                    </a:solidFill>
                    <a:latin typeface="Times New Roman Bold"/>
                    <a:ea typeface="Times New Roman Bold"/>
                    <a:cs typeface="Times New Roman Bold"/>
                    <a:sym typeface="Times New Roman Bold"/>
                  </a:rPr>
                  <a:t> </a:t>
                </a:r>
                <a:r>
                  <a:rPr lang="en-US" sz="1664" b="1" dirty="0" err="1">
                    <a:solidFill>
                      <a:srgbClr val="000000"/>
                    </a:solidFill>
                    <a:latin typeface="Times New Roman Bold"/>
                    <a:ea typeface="Times New Roman Bold"/>
                    <a:cs typeface="Times New Roman Bold"/>
                    <a:sym typeface="Times New Roman Bold"/>
                  </a:rPr>
                  <a:t>φb</a:t>
                </a:r>
                <a:r>
                  <a:rPr lang="en-US" sz="1664" b="1" dirty="0">
                    <a:solidFill>
                      <a:srgbClr val="000000"/>
                    </a:solidFill>
                    <a:latin typeface="Times New Roman Bold"/>
                    <a:ea typeface="Times New Roman Bold"/>
                    <a:cs typeface="Times New Roman Bold"/>
                    <a:sym typeface="Times New Roman Bold"/>
                  </a:rPr>
                  <a:t> → absent</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 </a:t>
                </a:r>
                <a:r>
                  <a:rPr lang="en-US" sz="1664" b="1" dirty="0" err="1">
                    <a:solidFill>
                      <a:srgbClr val="000000"/>
                    </a:solidFill>
                    <a:latin typeface="Times New Roman Bold"/>
                    <a:ea typeface="Times New Roman Bold"/>
                    <a:cs typeface="Times New Roman Bold"/>
                    <a:sym typeface="Times New Roman Bold"/>
                  </a:rPr>
                  <a:t>Tf</a:t>
                </a:r>
                <a:r>
                  <a:rPr lang="en-US" sz="1664" b="1" dirty="0">
                    <a:solidFill>
                      <a:srgbClr val="000000"/>
                    </a:solidFill>
                    <a:latin typeface="Times New Roman Bold"/>
                    <a:ea typeface="Times New Roman Bold"/>
                    <a:cs typeface="Times New Roman Bold"/>
                    <a:sym typeface="Times New Roman Bold"/>
                  </a:rPr>
                  <a:t> Tb → absent</a:t>
                </a: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Net T = </a:t>
                </a:r>
                <a:r>
                  <a:rPr lang="en-US" sz="1664" b="1" dirty="0" err="1">
                    <a:solidFill>
                      <a:srgbClr val="000000"/>
                    </a:solidFill>
                    <a:latin typeface="Times New Roman Bold"/>
                    <a:ea typeface="Times New Roman Bold"/>
                    <a:cs typeface="Times New Roman Bold"/>
                    <a:sym typeface="Times New Roman Bold"/>
                  </a:rPr>
                  <a:t>Tf</a:t>
                </a:r>
                <a:endParaRPr lang="en-US" sz="1664" b="1" dirty="0">
                  <a:solidFill>
                    <a:srgbClr val="000000"/>
                  </a:solidFill>
                  <a:latin typeface="Times New Roman Bold"/>
                  <a:ea typeface="Times New Roman Bold"/>
                  <a:cs typeface="Times New Roman Bold"/>
                  <a:sym typeface="Times New Roman Bold"/>
                </a:endParaRPr>
              </a:p>
              <a:p>
                <a:pPr algn="l">
                  <a:lnSpc>
                    <a:spcPts val="1997"/>
                  </a:lnSpc>
                  <a:spcBef>
                    <a:spcPct val="0"/>
                  </a:spcBef>
                </a:pPr>
                <a:r>
                  <a:rPr lang="en-US" sz="1664" b="1" dirty="0">
                    <a:solidFill>
                      <a:srgbClr val="000000"/>
                    </a:solidFill>
                    <a:latin typeface="Times New Roman Bold"/>
                    <a:ea typeface="Times New Roman Bold"/>
                    <a:cs typeface="Times New Roman Bold"/>
                    <a:sym typeface="Times New Roman Bold"/>
                  </a:rPr>
                  <a:t>So self starting</a:t>
                </a:r>
              </a:p>
            </p:txBody>
          </p:sp>
        </mc:Choice>
        <mc:Fallback xmlns="">
          <p:sp>
            <p:nvSpPr>
              <p:cNvPr id="12" name="TextBox 12"/>
              <p:cNvSpPr txBox="1">
                <a:spLocks noRot="1" noChangeAspect="1" noMove="1" noResize="1" noEditPoints="1" noAdjustHandles="1" noChangeArrowheads="1" noChangeShapeType="1" noTextEdit="1"/>
              </p:cNvSpPr>
              <p:nvPr/>
            </p:nvSpPr>
            <p:spPr>
              <a:xfrm>
                <a:off x="2286000" y="1448208"/>
                <a:ext cx="9371293" cy="9475671"/>
              </a:xfrm>
              <a:prstGeom prst="rect">
                <a:avLst/>
              </a:prstGeom>
              <a:blipFill>
                <a:blip r:embed="R8bd70968d6fe4587"/>
                <a:stretch>
                  <a:fillRect l="-1366" t="-8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7614732-8DE8-A1AC-45F2-199FB5CC5DED}"/>
                  </a:ext>
                </a:extLst>
              </p:cNvPr>
              <p:cNvSpPr txBox="1"/>
              <p:nvPr/>
            </p:nvSpPr>
            <p:spPr>
              <a:xfrm>
                <a:off x="-381000" y="3238500"/>
                <a:ext cx="9144000"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𝐹</m:t>
                          </m:r>
                        </m:e>
                        <m:sub>
                          <m:r>
                            <a:rPr lang="en-IN" i="1">
                              <a:latin typeface="Cambria Math" panose="02040503050406030204" pitchFamily="18" charset="0"/>
                            </a:rPr>
                            <m:t>𝑎</m:t>
                          </m:r>
                        </m:sub>
                      </m:sSub>
                      <m:r>
                        <a:rPr lang="en-IN" i="0">
                          <a:latin typeface="Cambria Math" panose="02040503050406030204" pitchFamily="18" charset="0"/>
                        </a:rPr>
                        <m:t>=</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𝐹</m:t>
                              </m:r>
                            </m:e>
                            <m:sub>
                              <m:r>
                                <a:rPr lang="en-IN" i="1">
                                  <a:latin typeface="Cambria Math" panose="02040503050406030204" pitchFamily="18" charset="0"/>
                                </a:rPr>
                                <m:t>𝑚</m:t>
                              </m:r>
                            </m:sub>
                          </m:sSub>
                        </m:num>
                        <m:den>
                          <m:r>
                            <a:rPr lang="en-IN" i="0">
                              <a:latin typeface="Cambria Math" panose="02040503050406030204" pitchFamily="18" charset="0"/>
                            </a:rPr>
                            <m:t>2</m:t>
                          </m:r>
                        </m:den>
                      </m:f>
                      <m:r>
                        <m:rPr>
                          <m:sty m:val="p"/>
                        </m:rPr>
                        <a:rPr lang="en-IN" i="0">
                          <a:latin typeface="Cambria Math" panose="02040503050406030204" pitchFamily="18" charset="0"/>
                        </a:rPr>
                        <m:t>cos</m:t>
                      </m:r>
                      <m:d>
                        <m:dPr>
                          <m:ctrlPr>
                            <a:rPr lang="en-IN" i="1">
                              <a:latin typeface="Cambria Math" panose="02040503050406030204" pitchFamily="18" charset="0"/>
                            </a:rPr>
                          </m:ctrlPr>
                        </m:dPr>
                        <m:e>
                          <m:r>
                            <a:rPr lang="en-IN" i="1">
                              <a:latin typeface="Cambria Math" panose="02040503050406030204" pitchFamily="18" charset="0"/>
                            </a:rPr>
                            <m:t>𝜃</m:t>
                          </m:r>
                          <m:r>
                            <a:rPr lang="en-IN" i="0">
                              <a:latin typeface="Cambria Math" panose="02040503050406030204" pitchFamily="18" charset="0"/>
                            </a:rPr>
                            <m:t>−</m:t>
                          </m:r>
                          <m:r>
                            <a:rPr lang="en-IN" i="1">
                              <a:latin typeface="Cambria Math" panose="02040503050406030204" pitchFamily="18" charset="0"/>
                            </a:rPr>
                            <m:t>𝜔</m:t>
                          </m:r>
                          <m:r>
                            <a:rPr lang="en-IN" i="1">
                              <a:latin typeface="Cambria Math" panose="02040503050406030204" pitchFamily="18" charset="0"/>
                            </a:rPr>
                            <m:t>𝑡</m:t>
                          </m:r>
                        </m:e>
                      </m:d>
                      <m:r>
                        <a:rPr lang="en-IN" i="0">
                          <a:latin typeface="Cambria Math" panose="02040503050406030204" pitchFamily="18" charset="0"/>
                        </a:rPr>
                        <m:t>+</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𝐹</m:t>
                              </m:r>
                            </m:e>
                            <m:sub>
                              <m:r>
                                <a:rPr lang="en-IN" i="1">
                                  <a:latin typeface="Cambria Math" panose="02040503050406030204" pitchFamily="18" charset="0"/>
                                </a:rPr>
                                <m:t>𝑚</m:t>
                              </m:r>
                            </m:sub>
                          </m:sSub>
                        </m:num>
                        <m:den>
                          <m:r>
                            <a:rPr lang="en-IN" i="0">
                              <a:latin typeface="Cambria Math" panose="02040503050406030204" pitchFamily="18" charset="0"/>
                            </a:rPr>
                            <m:t>2</m:t>
                          </m:r>
                        </m:den>
                      </m:f>
                      <m:r>
                        <m:rPr>
                          <m:sty m:val="p"/>
                        </m:rPr>
                        <a:rPr lang="en-IN" i="0">
                          <a:latin typeface="Cambria Math" panose="02040503050406030204" pitchFamily="18" charset="0"/>
                        </a:rPr>
                        <m:t>cos</m:t>
                      </m:r>
                      <m:d>
                        <m:dPr>
                          <m:ctrlPr>
                            <a:rPr lang="en-IN" i="1">
                              <a:latin typeface="Cambria Math" panose="02040503050406030204" pitchFamily="18" charset="0"/>
                            </a:rPr>
                          </m:ctrlPr>
                        </m:dPr>
                        <m:e>
                          <m:r>
                            <a:rPr lang="en-IN" i="1">
                              <a:latin typeface="Cambria Math" panose="02040503050406030204" pitchFamily="18" charset="0"/>
                            </a:rPr>
                            <m:t>𝜃</m:t>
                          </m:r>
                          <m:r>
                            <a:rPr lang="en-IN" i="0">
                              <a:latin typeface="Cambria Math" panose="02040503050406030204" pitchFamily="18" charset="0"/>
                            </a:rPr>
                            <m:t>+</m:t>
                          </m:r>
                          <m:r>
                            <a:rPr lang="en-IN" i="1">
                              <a:latin typeface="Cambria Math" panose="02040503050406030204" pitchFamily="18" charset="0"/>
                            </a:rPr>
                            <m:t>𝜔</m:t>
                          </m:r>
                          <m:r>
                            <a:rPr lang="en-IN" i="1">
                              <a:latin typeface="Cambria Math" panose="02040503050406030204" pitchFamily="18" charset="0"/>
                            </a:rPr>
                            <m:t>𝑡</m:t>
                          </m:r>
                        </m:e>
                      </m:d>
                    </m:oMath>
                  </m:oMathPara>
                </a14:m>
                <a:endParaRPr lang="en-IN" dirty="0"/>
              </a:p>
            </p:txBody>
          </p:sp>
        </mc:Choice>
        <mc:Fallback xmlns="">
          <p:sp>
            <p:nvSpPr>
              <p:cNvPr id="14" name="TextBox 13">
                <a:extLst>
                  <a:ext uri="{FF2B5EF4-FFF2-40B4-BE49-F238E27FC236}">
                    <a16:creationId xmlns:a16="http://schemas.microsoft.com/office/drawing/2014/main" id="{67614732-8DE8-A1AC-45F2-199FB5CC5DED}"/>
                  </a:ext>
                </a:extLst>
              </p:cNvPr>
              <p:cNvSpPr txBox="1">
                <a:spLocks noRot="1" noChangeAspect="1" noMove="1" noResize="1" noEditPoints="1" noAdjustHandles="1" noChangeArrowheads="1" noChangeShapeType="1" noTextEdit="1"/>
              </p:cNvSpPr>
              <p:nvPr/>
            </p:nvSpPr>
            <p:spPr>
              <a:xfrm>
                <a:off x="-381000" y="3238500"/>
                <a:ext cx="9144000" cy="609077"/>
              </a:xfrm>
              <a:prstGeom prst="rect">
                <a:avLst/>
              </a:prstGeom>
              <a:blipFill>
                <a:blip r:embed="R0ebba8d6b6244d7b"/>
                <a:stretch>
                  <a:fillRect/>
                </a:stretch>
              </a:blipFill>
            </p:spPr>
            <p:txBody>
              <a:bodyPr/>
              <a:lstStyle/>
              <a:p>
                <a:r>
                  <a:rPr lang="en-IN">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830999"/>
            <a:ext cx="13716000" cy="617209"/>
            <a:chOff x="0" y="0"/>
            <a:chExt cx="18288000" cy="822945"/>
          </a:xfrm>
        </p:grpSpPr>
        <p:sp>
          <p:nvSpPr>
            <p:cNvPr id="3" name="Freeform 3"/>
            <p:cNvSpPr/>
            <p:nvPr/>
          </p:nvSpPr>
          <p:spPr>
            <a:xfrm>
              <a:off x="0" y="0"/>
              <a:ext cx="18288000" cy="822958"/>
            </a:xfrm>
            <a:custGeom>
              <a:avLst/>
              <a:gdLst/>
              <a:ahLst/>
              <a:cxnLst/>
              <a:rect l="l" t="t" r="r" b="b"/>
              <a:pathLst>
                <a:path w="18288000" h="822958">
                  <a:moveTo>
                    <a:pt x="0" y="0"/>
                  </a:moveTo>
                  <a:lnTo>
                    <a:pt x="18288000" y="0"/>
                  </a:lnTo>
                  <a:lnTo>
                    <a:pt x="18288000" y="822958"/>
                  </a:lnTo>
                  <a:lnTo>
                    <a:pt x="0" y="822958"/>
                  </a:lnTo>
                  <a:close/>
                </a:path>
              </a:pathLst>
            </a:custGeom>
            <a:solidFill>
              <a:srgbClr val="E59EDD">
                <a:alpha val="27059"/>
              </a:srgbClr>
            </a:solidFill>
            <a:ln w="12700">
              <a:solidFill>
                <a:srgbClr val="000000"/>
              </a:solidFill>
            </a:ln>
          </p:spPr>
        </p:sp>
        <p:sp>
          <p:nvSpPr>
            <p:cNvPr id="4" name="TextBox 4"/>
            <p:cNvSpPr txBox="1"/>
            <p:nvPr/>
          </p:nvSpPr>
          <p:spPr>
            <a:xfrm>
              <a:off x="0" y="-19050"/>
              <a:ext cx="18288000" cy="841995"/>
            </a:xfrm>
            <a:prstGeom prst="rect">
              <a:avLst/>
            </a:prstGeom>
          </p:spPr>
          <p:txBody>
            <a:bodyPr lIns="50800" tIns="50800" rIns="50800" bIns="50800" rtlCol="0" anchor="t"/>
            <a:lstStyle/>
            <a:p>
              <a:pPr algn="ctr">
                <a:lnSpc>
                  <a:spcPts val="3240"/>
                </a:lnSpc>
              </a:pPr>
              <a:r>
                <a:rPr lang="en-US" sz="2700" b="1">
                  <a:solidFill>
                    <a:srgbClr val="000000"/>
                  </a:solidFill>
                  <a:latin typeface="Times New Roman Bold"/>
                  <a:ea typeface="Times New Roman Bold"/>
                  <a:cs typeface="Times New Roman Bold"/>
                  <a:sym typeface="Times New Roman Bold"/>
                </a:rPr>
                <a:t> </a:t>
              </a:r>
            </a:p>
          </p:txBody>
        </p:sp>
      </p:grpSp>
      <p:grpSp>
        <p:nvGrpSpPr>
          <p:cNvPr id="5" name="Group 5"/>
          <p:cNvGrpSpPr/>
          <p:nvPr/>
        </p:nvGrpSpPr>
        <p:grpSpPr>
          <a:xfrm>
            <a:off x="2286000" y="1"/>
            <a:ext cx="13716000" cy="747998"/>
            <a:chOff x="0" y="0"/>
            <a:chExt cx="18288000" cy="997331"/>
          </a:xfrm>
        </p:grpSpPr>
        <p:sp>
          <p:nvSpPr>
            <p:cNvPr id="6" name="Freeform 6"/>
            <p:cNvSpPr/>
            <p:nvPr/>
          </p:nvSpPr>
          <p:spPr>
            <a:xfrm>
              <a:off x="0" y="0"/>
              <a:ext cx="18288000" cy="997331"/>
            </a:xfrm>
            <a:custGeom>
              <a:avLst/>
              <a:gdLst/>
              <a:ahLst/>
              <a:cxnLst/>
              <a:rect l="l" t="t" r="r" b="b"/>
              <a:pathLst>
                <a:path w="18288000" h="997331">
                  <a:moveTo>
                    <a:pt x="0" y="0"/>
                  </a:moveTo>
                  <a:lnTo>
                    <a:pt x="18288000" y="0"/>
                  </a:lnTo>
                  <a:lnTo>
                    <a:pt x="18288000" y="997331"/>
                  </a:lnTo>
                  <a:lnTo>
                    <a:pt x="0" y="997331"/>
                  </a:lnTo>
                  <a:close/>
                </a:path>
              </a:pathLst>
            </a:custGeom>
            <a:solidFill>
              <a:srgbClr val="E97132"/>
            </a:solidFill>
            <a:ln w="12700">
              <a:solidFill>
                <a:srgbClr val="000000"/>
              </a:solidFill>
            </a:ln>
          </p:spPr>
        </p:sp>
        <p:sp>
          <p:nvSpPr>
            <p:cNvPr id="7" name="TextBox 7"/>
            <p:cNvSpPr txBox="1"/>
            <p:nvPr/>
          </p:nvSpPr>
          <p:spPr>
            <a:xfrm>
              <a:off x="0" y="-200025"/>
              <a:ext cx="18288000" cy="1197356"/>
            </a:xfrm>
            <a:prstGeom prst="rect">
              <a:avLst/>
            </a:prstGeom>
          </p:spPr>
          <p:txBody>
            <a:bodyPr lIns="50800" tIns="50800" rIns="50800" bIns="50800" rtlCol="0" anchor="t"/>
            <a:lstStyle/>
            <a:p>
              <a:pPr algn="ctr">
                <a:lnSpc>
                  <a:spcPts val="5400"/>
                </a:lnSpc>
              </a:pPr>
              <a:r>
                <a:rPr lang="en-US" sz="3000" b="1">
                  <a:solidFill>
                    <a:srgbClr val="EEECE1"/>
                  </a:solidFill>
                  <a:latin typeface="Times New Roman Bold"/>
                  <a:ea typeface="Times New Roman Bold"/>
                  <a:cs typeface="Times New Roman Bold"/>
                  <a:sym typeface="Times New Roman Bold"/>
                </a:rPr>
                <a:t>SECTION : I</a:t>
              </a:r>
            </a:p>
          </p:txBody>
        </p:sp>
      </p:grpSp>
      <p:sp>
        <p:nvSpPr>
          <p:cNvPr id="11" name="Freeform 11"/>
          <p:cNvSpPr/>
          <p:nvPr/>
        </p:nvSpPr>
        <p:spPr>
          <a:xfrm>
            <a:off x="15001875" y="101184"/>
            <a:ext cx="1000125" cy="1000125"/>
          </a:xfrm>
          <a:custGeom>
            <a:avLst/>
            <a:gdLst/>
            <a:ahLst/>
            <a:cxnLst/>
            <a:rect l="l" t="t" r="r" b="b"/>
            <a:pathLst>
              <a:path w="1000125" h="1000125">
                <a:moveTo>
                  <a:pt x="0" y="0"/>
                </a:moveTo>
                <a:lnTo>
                  <a:pt x="1000125" y="0"/>
                </a:lnTo>
                <a:lnTo>
                  <a:pt x="1000125" y="1000125"/>
                </a:lnTo>
                <a:lnTo>
                  <a:pt x="0" y="1000125"/>
                </a:lnTo>
                <a:lnTo>
                  <a:pt x="0" y="0"/>
                </a:lnTo>
                <a:close/>
              </a:path>
            </a:pathLst>
          </a:custGeom>
          <a:blipFill>
            <a:blip r:embed="rId3"/>
            <a:stretch>
              <a:fillRect/>
            </a:stretch>
          </a:blipFill>
        </p:spPr>
      </p:sp>
      <p:sp>
        <p:nvSpPr>
          <p:cNvPr id="12" name="TextBox 12"/>
          <p:cNvSpPr txBox="1"/>
          <p:nvPr/>
        </p:nvSpPr>
        <p:spPr>
          <a:xfrm>
            <a:off x="2286000" y="1811011"/>
            <a:ext cx="14744700" cy="8135265"/>
          </a:xfrm>
          <a:prstGeom prst="rect">
            <a:avLst/>
          </a:prstGeom>
        </p:spPr>
        <p:txBody>
          <a:bodyPr lIns="0" tIns="0" rIns="0" bIns="0" rtlCol="0" anchor="t">
            <a:spAutoFit/>
          </a:bodyPr>
          <a:lstStyle/>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According to double field revolving theory, a rotating </a:t>
            </a:r>
            <a:r>
              <a:rPr lang="en-US" sz="1433" b="1" dirty="0" err="1">
                <a:solidFill>
                  <a:srgbClr val="000000"/>
                </a:solidFill>
                <a:latin typeface="Times New Roman Bold"/>
                <a:ea typeface="Times New Roman Bold"/>
                <a:cs typeface="Times New Roman Bold"/>
                <a:sym typeface="Times New Roman Bold"/>
              </a:rPr>
              <a:t>m.m.f</a:t>
            </a:r>
            <a:r>
              <a:rPr lang="en-US" sz="1433" b="1" dirty="0">
                <a:solidFill>
                  <a:srgbClr val="000000"/>
                </a:solidFill>
                <a:latin typeface="Times New Roman Bold"/>
                <a:ea typeface="Times New Roman Bold"/>
                <a:cs typeface="Times New Roman Bold"/>
                <a:sym typeface="Times New Roman Bold"/>
              </a:rPr>
              <a:t> due to 3Ø phases can be divided into two opposite rotating </a:t>
            </a:r>
            <a:r>
              <a:rPr lang="en-US" sz="1433" b="1" dirty="0" err="1">
                <a:solidFill>
                  <a:srgbClr val="000000"/>
                </a:solidFill>
                <a:latin typeface="Times New Roman Bold"/>
                <a:ea typeface="Times New Roman Bold"/>
                <a:cs typeface="Times New Roman Bold"/>
                <a:sym typeface="Times New Roman Bold"/>
              </a:rPr>
              <a:t>m.m.f</a:t>
            </a:r>
            <a:r>
              <a:rPr lang="en-US" sz="1433" b="1" dirty="0">
                <a:solidFill>
                  <a:srgbClr val="000000"/>
                </a:solidFill>
                <a:latin typeface="Times New Roman Bold"/>
                <a:ea typeface="Times New Roman Bold"/>
                <a:cs typeface="Times New Roman Bold"/>
                <a:sym typeface="Times New Roman Bold"/>
              </a:rPr>
              <a:t> both rotating opposite direction. But in synchronous speed.</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All the 3 forward rotating </a:t>
            </a:r>
            <a:r>
              <a:rPr lang="en-US" sz="1433" b="1" dirty="0" err="1">
                <a:solidFill>
                  <a:srgbClr val="000000"/>
                </a:solidFill>
                <a:latin typeface="Times New Roman Bold"/>
                <a:ea typeface="Times New Roman Bold"/>
                <a:cs typeface="Times New Roman Bold"/>
                <a:sym typeface="Times New Roman Bold"/>
              </a:rPr>
              <a:t>m.m.f</a:t>
            </a:r>
            <a:r>
              <a:rPr lang="en-US" sz="1433" b="1" dirty="0">
                <a:solidFill>
                  <a:srgbClr val="000000"/>
                </a:solidFill>
                <a:latin typeface="Times New Roman Bold"/>
                <a:ea typeface="Times New Roman Bold"/>
                <a:cs typeface="Times New Roman Bold"/>
                <a:sym typeface="Times New Roman Bold"/>
              </a:rPr>
              <a:t> due to 3 phase or 2 phase </a:t>
            </a:r>
            <a:r>
              <a:rPr lang="en-US" sz="1433" b="1" dirty="0" err="1">
                <a:solidFill>
                  <a:srgbClr val="000000"/>
                </a:solidFill>
                <a:latin typeface="Times New Roman Bold"/>
                <a:ea typeface="Times New Roman Bold"/>
                <a:cs typeface="Times New Roman Bold"/>
                <a:sym typeface="Times New Roman Bold"/>
              </a:rPr>
              <a:t>phase</a:t>
            </a:r>
            <a:r>
              <a:rPr lang="en-US" sz="1433" b="1" dirty="0">
                <a:solidFill>
                  <a:srgbClr val="000000"/>
                </a:solidFill>
                <a:latin typeface="Times New Roman Bold"/>
                <a:ea typeface="Times New Roman Bold"/>
                <a:cs typeface="Times New Roman Bold"/>
                <a:sym typeface="Times New Roman Bold"/>
              </a:rPr>
              <a:t> combined that gives rise a resultant forward rotating </a:t>
            </a:r>
            <a:r>
              <a:rPr lang="en-US" sz="1433" b="1" dirty="0" err="1">
                <a:solidFill>
                  <a:srgbClr val="000000"/>
                </a:solidFill>
                <a:latin typeface="Times New Roman Bold"/>
                <a:ea typeface="Times New Roman Bold"/>
                <a:cs typeface="Times New Roman Bold"/>
                <a:sym typeface="Times New Roman Bold"/>
              </a:rPr>
              <a:t>m.m.f</a:t>
            </a:r>
            <a:r>
              <a:rPr lang="en-US" sz="1433" b="1" dirty="0">
                <a:solidFill>
                  <a:srgbClr val="000000"/>
                </a:solidFill>
                <a:latin typeface="Times New Roman Bold"/>
                <a:ea typeface="Times New Roman Bold"/>
                <a:cs typeface="Times New Roman Bold"/>
                <a:sym typeface="Times New Roman Bold"/>
              </a:rPr>
              <a:t> in the air gap. The backward rotating </a:t>
            </a:r>
            <a:r>
              <a:rPr lang="en-US" sz="1433" b="1" dirty="0" err="1">
                <a:solidFill>
                  <a:srgbClr val="000000"/>
                </a:solidFill>
                <a:latin typeface="Times New Roman Bold"/>
                <a:ea typeface="Times New Roman Bold"/>
                <a:cs typeface="Times New Roman Bold"/>
                <a:sym typeface="Times New Roman Bold"/>
              </a:rPr>
              <a:t>m.m.f</a:t>
            </a:r>
            <a:r>
              <a:rPr lang="en-US" sz="1433" b="1" dirty="0">
                <a:solidFill>
                  <a:srgbClr val="000000"/>
                </a:solidFill>
                <a:latin typeface="Times New Roman Bold"/>
                <a:ea typeface="Times New Roman Bold"/>
                <a:cs typeface="Times New Roman Bold"/>
                <a:sym typeface="Times New Roman Bold"/>
              </a:rPr>
              <a:t> due to 3Ø are displaced 120° apart. Therefore they are added to zero. That means a 3Ø system only produces a rotating </a:t>
            </a:r>
            <a:r>
              <a:rPr lang="en-US" sz="1433" b="1" dirty="0" err="1">
                <a:solidFill>
                  <a:srgbClr val="000000"/>
                </a:solidFill>
                <a:latin typeface="Times New Roman Bold"/>
                <a:ea typeface="Times New Roman Bold"/>
                <a:cs typeface="Times New Roman Bold"/>
                <a:sym typeface="Times New Roman Bold"/>
              </a:rPr>
              <a:t>m.m.f</a:t>
            </a:r>
            <a:r>
              <a:rPr lang="en-US" sz="1433" b="1" dirty="0">
                <a:solidFill>
                  <a:srgbClr val="000000"/>
                </a:solidFill>
                <a:latin typeface="Times New Roman Bold"/>
                <a:ea typeface="Times New Roman Bold"/>
                <a:cs typeface="Times New Roman Bold"/>
                <a:sym typeface="Times New Roman Bold"/>
              </a:rPr>
              <a:t> forward. And backward </a:t>
            </a:r>
            <a:r>
              <a:rPr lang="en-US" sz="1433" b="1" dirty="0" err="1">
                <a:solidFill>
                  <a:srgbClr val="000000"/>
                </a:solidFill>
                <a:latin typeface="Times New Roman Bold"/>
                <a:ea typeface="Times New Roman Bold"/>
                <a:cs typeface="Times New Roman Bold"/>
                <a:sym typeface="Times New Roman Bold"/>
              </a:rPr>
              <a:t>m.m.f</a:t>
            </a:r>
            <a:r>
              <a:rPr lang="en-US" sz="1433" b="1" dirty="0">
                <a:solidFill>
                  <a:srgbClr val="000000"/>
                </a:solidFill>
                <a:latin typeface="Times New Roman Bold"/>
                <a:ea typeface="Times New Roman Bold"/>
                <a:cs typeface="Times New Roman Bold"/>
                <a:sym typeface="Times New Roman Bold"/>
              </a:rPr>
              <a:t> is cancelled. So only forward flux is present, backward flux is absent.</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Construction Detail</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Stator</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Rotor</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Air gap</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Rotating part</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Stator :</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Stator = Silicon steel is used.</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 CRGO used in transformer.</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Slot :</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Open type</a:t>
            </a:r>
          </a:p>
          <a:p>
            <a:pPr algn="l">
              <a:lnSpc>
                <a:spcPts val="1720"/>
              </a:lnSpc>
              <a:spcBef>
                <a:spcPct val="0"/>
              </a:spcBef>
            </a:pPr>
            <a:r>
              <a:rPr lang="en-US" sz="1433" b="1">
                <a:solidFill>
                  <a:srgbClr val="000000"/>
                </a:solidFill>
                <a:latin typeface="Times New Roman Bold"/>
                <a:ea typeface="Times New Roman Bold"/>
                <a:cs typeface="Times New Roman Bold"/>
                <a:sym typeface="Times New Roman Bold"/>
              </a:rPr>
              <a:t>Semi open</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Completely close type slot</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Open type :</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Former wound coils (former type slot) → Easily access</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Low leakage reactance</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Distribution of the stator winding gives more air gap flux</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So excitation current required is more</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Non uniform reluctance → So flux distribution is non uniform</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Harmonic flux is present → So vibration, more losses, operation is not smooth</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Narrow open type :</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Used small former wound coil whose </a:t>
            </a:r>
            <a:r>
              <a:rPr lang="en-US" sz="1433" b="1" dirty="0" err="1">
                <a:solidFill>
                  <a:srgbClr val="000000"/>
                </a:solidFill>
                <a:latin typeface="Times New Roman Bold"/>
                <a:ea typeface="Times New Roman Bold"/>
                <a:cs typeface="Times New Roman Bold"/>
                <a:sym typeface="Times New Roman Bold"/>
              </a:rPr>
              <a:t>dia</a:t>
            </a:r>
            <a:r>
              <a:rPr lang="en-US" sz="1433" b="1" dirty="0">
                <a:solidFill>
                  <a:srgbClr val="000000"/>
                </a:solidFill>
                <a:latin typeface="Times New Roman Bold"/>
                <a:ea typeface="Times New Roman Bold"/>
                <a:cs typeface="Times New Roman Bold"/>
                <a:sym typeface="Times New Roman Bold"/>
              </a:rPr>
              <a:t> is less than old</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Average air gap is reduced → Core gap loss</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The flux is more uniform than harmonic flux is less</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Operation smooth and silent, vibration reduced</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Leakage flux is small → So starting torque more</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Semi closed type :</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More </a:t>
            </a:r>
            <a:r>
              <a:rPr lang="en-US" sz="1433" b="1" dirty="0" err="1">
                <a:solidFill>
                  <a:srgbClr val="000000"/>
                </a:solidFill>
                <a:latin typeface="Times New Roman Bold"/>
                <a:ea typeface="Times New Roman Bold"/>
                <a:cs typeface="Times New Roman Bold"/>
                <a:sym typeface="Times New Roman Bold"/>
              </a:rPr>
              <a:t>labour</a:t>
            </a:r>
            <a:r>
              <a:rPr lang="en-US" sz="1433" b="1" dirty="0">
                <a:solidFill>
                  <a:srgbClr val="000000"/>
                </a:solidFill>
                <a:latin typeface="Times New Roman Bold"/>
                <a:ea typeface="Times New Roman Bold"/>
                <a:cs typeface="Times New Roman Bold"/>
                <a:sym typeface="Times New Roman Bold"/>
              </a:rPr>
              <a:t> required as it is hard to insert winding</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The average air gap is minimum → It is cost</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Flux distribution is uniform as air gap is uniform</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Harmonic torque is less, less noise</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Yoke :</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It is made of laminated steel</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 Used as protection cover</a:t>
            </a:r>
          </a:p>
          <a:p>
            <a:pPr algn="l">
              <a:lnSpc>
                <a:spcPts val="1720"/>
              </a:lnSpc>
              <a:spcBef>
                <a:spcPct val="0"/>
              </a:spcBef>
            </a:pPr>
            <a:r>
              <a:rPr lang="en-US" sz="1433" b="1" dirty="0">
                <a:solidFill>
                  <a:srgbClr val="000000"/>
                </a:solidFill>
                <a:latin typeface="Times New Roman Bold"/>
                <a:ea typeface="Times New Roman Bold"/>
                <a:cs typeface="Times New Roman Bold"/>
                <a:sym typeface="Times New Roman Bold"/>
              </a:rPr>
              <a:t> Magnetic path for flux</a:t>
            </a:r>
          </a:p>
        </p:txBody>
      </p:sp>
      <p:pic>
        <p:nvPicPr>
          <p:cNvPr id="14" name="Picture 13">
            <a:extLst>
              <a:ext uri="{FF2B5EF4-FFF2-40B4-BE49-F238E27FC236}">
                <a16:creationId xmlns:a16="http://schemas.microsoft.com/office/drawing/2014/main" id="{E7D730B6-5A4A-3F5A-BCA7-3B58DAE91C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9084" y="3467100"/>
            <a:ext cx="4924425" cy="2743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9DD3493-AD25-CEF9-C901-CA4DBAB9010D}"/>
              </a:ext>
            </a:extLst>
          </p:cNvPr>
          <p:cNvSpPr/>
          <p:nvPr/>
        </p:nvSpPr>
        <p:spPr>
          <a:xfrm>
            <a:off x="2286000" y="1"/>
            <a:ext cx="13716000" cy="747994"/>
          </a:xfrm>
          <a:prstGeom prst="rect">
            <a:avLst/>
          </a:prstGeom>
          <a:solidFill>
            <a:srgbClr val="E97132"/>
          </a:solidFill>
        </p:spPr>
        <p:txBody>
          <a:bodyPr wrap="square">
            <a:spAutoFit/>
          </a:bodyPr>
          <a:lstStyle/>
          <a:p>
            <a:pPr marL="342900" lvl="0" indent="-342900" algn="ctr">
              <a:lnSpc>
                <a:spcPct val="150000"/>
              </a:lnSpc>
              <a:defRPr/>
            </a:pPr>
            <a:endParaRPr kumimoji="0" lang="en-US" sz="3000" b="1" i="0" strike="noStrike" kern="0" cap="none" spc="0" normalizeH="0" baseline="0" noProof="0" dirty="0">
              <a:ln>
                <a:noFill/>
              </a:ln>
              <a:solidFill>
                <a:schemeClr val="bg1"/>
              </a:solidFill>
              <a:effectLst/>
              <a:uLnTx/>
              <a:uFillTx/>
              <a:latin typeface="Times New Roman" panose="02020603050405020304" pitchFamily="18" charset="0"/>
              <a:cs typeface="Times New Roman" pitchFamily="18" charset="0"/>
            </a:endParaRPr>
          </a:p>
        </p:txBody>
      </p:sp>
      <p:sp>
        <p:nvSpPr>
          <p:cNvPr id="3" name="TextBox 1">
            <a:extLst>
              <a:ext uri="{FF2B5EF4-FFF2-40B4-BE49-F238E27FC236}">
                <a16:creationId xmlns:a16="http://schemas.microsoft.com/office/drawing/2014/main" id="{7B0D41C3-307F-ABFD-55FB-B422C75065DD}"/>
              </a:ext>
            </a:extLst>
          </p:cNvPr>
          <p:cNvSpPr txBox="1">
            <a:spLocks noChangeArrowheads="1"/>
          </p:cNvSpPr>
          <p:nvPr/>
        </p:nvSpPr>
        <p:spPr bwMode="auto">
          <a:xfrm>
            <a:off x="2286000" y="830997"/>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sz="3000" b="1" dirty="0">
                <a:latin typeface="Times New Roman" panose="02020603050405020304" pitchFamily="18" charset="0"/>
                <a:cs typeface="Times New Roman" panose="02020603050405020304" pitchFamily="18" charset="0"/>
              </a:rPr>
              <a:t>Slot Shape and Flux Distribution</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sp>
        <p:nvSpPr>
          <p:cNvPr id="6" name="TextBox 2">
            <a:extLst>
              <a:ext uri="{FF2B5EF4-FFF2-40B4-BE49-F238E27FC236}">
                <a16:creationId xmlns:a16="http://schemas.microsoft.com/office/drawing/2014/main" id="{ACC3CAD5-0470-774C-BAAF-08F508C1EF6E}"/>
              </a:ext>
            </a:extLst>
          </p:cNvPr>
          <p:cNvSpPr txBox="1">
            <a:spLocks noChangeArrowheads="1"/>
          </p:cNvSpPr>
          <p:nvPr/>
        </p:nvSpPr>
        <p:spPr bwMode="auto">
          <a:xfrm>
            <a:off x="2514600" y="1834888"/>
            <a:ext cx="13144500" cy="1133965"/>
          </a:xfrm>
          <a:prstGeom prst="rect">
            <a:avLst/>
          </a:prstGeom>
          <a:noFill/>
          <a:ln w="9525">
            <a:solidFill>
              <a:srgbClr val="002060"/>
            </a:solidFill>
            <a:miter lim="800000"/>
            <a:headEnd/>
            <a:tailEnd/>
          </a:ln>
        </p:spPr>
        <p:txBody>
          <a:bodyPr wrap="square">
            <a:spAutoFit/>
          </a:bodyPr>
          <a:lstStyle/>
          <a:p>
            <a:pPr marL="285750" indent="-285750" algn="just">
              <a:lnSpc>
                <a:spcPct val="150000"/>
              </a:lnSpc>
              <a:buClr>
                <a:srgbClr val="4F81BD"/>
              </a:buClr>
              <a:buFont typeface="Wingdings" panose="05000000000000000000" pitchFamily="2" charset="2"/>
              <a:buChar char="Ø"/>
            </a:pPr>
            <a:r>
              <a:rPr lang="en-US" sz="2400" b="1" dirty="0">
                <a:solidFill>
                  <a:srgbClr val="7030A0"/>
                </a:solidFill>
                <a:latin typeface="Times New Roman" pitchFamily="18" charset="0"/>
                <a:cs typeface="Times New Roman" pitchFamily="18" charset="0"/>
              </a:rPr>
              <a:t>Flux distribution is uniform, as air gap is uniform.</a:t>
            </a:r>
          </a:p>
          <a:p>
            <a:pPr marL="285750" indent="-285750" algn="just">
              <a:lnSpc>
                <a:spcPct val="150000"/>
              </a:lnSpc>
              <a:buClr>
                <a:srgbClr val="4F81BD"/>
              </a:buClr>
              <a:buFont typeface="Wingdings" panose="05000000000000000000" pitchFamily="2" charset="2"/>
              <a:buChar char="Ø"/>
            </a:pPr>
            <a:r>
              <a:rPr lang="en-US" sz="2400" b="1" dirty="0">
                <a:solidFill>
                  <a:srgbClr val="7030A0"/>
                </a:solidFill>
                <a:latin typeface="Times New Roman" pitchFamily="18" charset="0"/>
                <a:cs typeface="Times New Roman" pitchFamily="18" charset="0"/>
              </a:rPr>
              <a:t>Harmonic torque is less, So less noise.</a:t>
            </a:r>
          </a:p>
        </p:txBody>
      </p:sp>
      <p:graphicFrame>
        <p:nvGraphicFramePr>
          <p:cNvPr id="10" name="Table 9">
            <a:extLst>
              <a:ext uri="{FF2B5EF4-FFF2-40B4-BE49-F238E27FC236}">
                <a16:creationId xmlns:a16="http://schemas.microsoft.com/office/drawing/2014/main" id="{D5F41482-D4F6-6410-D876-73D5227A1D48}"/>
              </a:ext>
            </a:extLst>
          </p:cNvPr>
          <p:cNvGraphicFramePr>
            <a:graphicFrameLocks noGrp="1"/>
          </p:cNvGraphicFramePr>
          <p:nvPr>
            <p:extLst>
              <p:ext uri="{D42A27DB-BD31-4B8C-83A1-F6EECF244321}">
                <p14:modId xmlns:p14="http://schemas.microsoft.com/office/powerpoint/2010/main" val="2927066501"/>
              </p:ext>
            </p:extLst>
          </p:nvPr>
        </p:nvGraphicFramePr>
        <p:xfrm>
          <a:off x="1943100" y="3464913"/>
          <a:ext cx="14401800" cy="5811818"/>
        </p:xfrm>
        <a:graphic>
          <a:graphicData uri="http://schemas.openxmlformats.org/drawingml/2006/table">
            <a:tbl>
              <a:tblPr>
                <a:tableStyleId>{35758FB7-9AC5-4552-8A53-C91805E547FA}</a:tableStyleId>
              </a:tblPr>
              <a:tblGrid>
                <a:gridCol w="4800600">
                  <a:extLst>
                    <a:ext uri="{9D8B030D-6E8A-4147-A177-3AD203B41FA5}">
                      <a16:colId xmlns:a16="http://schemas.microsoft.com/office/drawing/2014/main" val="2097480013"/>
                    </a:ext>
                  </a:extLst>
                </a:gridCol>
                <a:gridCol w="4800600">
                  <a:extLst>
                    <a:ext uri="{9D8B030D-6E8A-4147-A177-3AD203B41FA5}">
                      <a16:colId xmlns:a16="http://schemas.microsoft.com/office/drawing/2014/main" val="4243122867"/>
                    </a:ext>
                  </a:extLst>
                </a:gridCol>
                <a:gridCol w="4800600">
                  <a:extLst>
                    <a:ext uri="{9D8B030D-6E8A-4147-A177-3AD203B41FA5}">
                      <a16:colId xmlns:a16="http://schemas.microsoft.com/office/drawing/2014/main" val="953743791"/>
                    </a:ext>
                  </a:extLst>
                </a:gridCol>
              </a:tblGrid>
              <a:tr h="1561146">
                <a:tc>
                  <a:txBody>
                    <a:bodyPr/>
                    <a:lstStyle/>
                    <a:p>
                      <a:pPr>
                        <a:buNone/>
                      </a:pPr>
                      <a:r>
                        <a:rPr lang="en-IN" b="0" dirty="0"/>
                        <a:t>Open slot</a:t>
                      </a:r>
                    </a:p>
                  </a:txBody>
                  <a:tcPr anchor="ctr"/>
                </a:tc>
                <a:tc>
                  <a:txBody>
                    <a:bodyPr/>
                    <a:lstStyle/>
                    <a:p>
                      <a:pPr>
                        <a:buNone/>
                      </a:pPr>
                      <a:r>
                        <a:rPr lang="en-IN" b="0"/>
                        <a:t>Semi-closed slot</a:t>
                      </a:r>
                    </a:p>
                  </a:txBody>
                  <a:tcPr anchor="ctr"/>
                </a:tc>
                <a:tc>
                  <a:txBody>
                    <a:bodyPr/>
                    <a:lstStyle/>
                    <a:p>
                      <a:pPr>
                        <a:buNone/>
                      </a:pPr>
                      <a:r>
                        <a:rPr lang="en-IN" b="0"/>
                        <a:t>Closed slot</a:t>
                      </a:r>
                    </a:p>
                  </a:txBody>
                  <a:tcPr anchor="ctr"/>
                </a:tc>
                <a:extLst>
                  <a:ext uri="{0D108BD9-81ED-4DB2-BD59-A6C34878D82A}">
                    <a16:rowId xmlns:a16="http://schemas.microsoft.com/office/drawing/2014/main" val="3650897504"/>
                  </a:ext>
                </a:extLst>
              </a:tr>
              <a:tr h="916534">
                <a:tc>
                  <a:txBody>
                    <a:bodyPr/>
                    <a:lstStyle/>
                    <a:p>
                      <a:pPr>
                        <a:buNone/>
                      </a:pPr>
                      <a:r>
                        <a:rPr lang="en-US" b="0" dirty="0"/>
                        <a:t>1) Ie (magnetizing / exciting current) &gt;</a:t>
                      </a:r>
                    </a:p>
                  </a:txBody>
                  <a:tcPr anchor="ctr"/>
                </a:tc>
                <a:tc>
                  <a:txBody>
                    <a:bodyPr/>
                    <a:lstStyle/>
                    <a:p>
                      <a:pPr>
                        <a:buNone/>
                      </a:pPr>
                      <a:r>
                        <a:rPr lang="en-IN" b="0"/>
                        <a:t>Ie &gt;</a:t>
                      </a:r>
                    </a:p>
                  </a:txBody>
                  <a:tcPr anchor="ctr"/>
                </a:tc>
                <a:tc>
                  <a:txBody>
                    <a:bodyPr/>
                    <a:lstStyle/>
                    <a:p>
                      <a:pPr>
                        <a:buNone/>
                      </a:pPr>
                      <a:r>
                        <a:rPr lang="en-IN" b="0"/>
                        <a:t>Ie</a:t>
                      </a:r>
                    </a:p>
                  </a:txBody>
                  <a:tcPr anchor="ctr"/>
                </a:tc>
                <a:extLst>
                  <a:ext uri="{0D108BD9-81ED-4DB2-BD59-A6C34878D82A}">
                    <a16:rowId xmlns:a16="http://schemas.microsoft.com/office/drawing/2014/main" val="1271103435"/>
                  </a:ext>
                </a:extLst>
              </a:tr>
              <a:tr h="509043">
                <a:tc>
                  <a:txBody>
                    <a:bodyPr/>
                    <a:lstStyle/>
                    <a:p>
                      <a:pPr>
                        <a:buNone/>
                      </a:pPr>
                      <a:endParaRPr lang="en-US" b="0" dirty="0"/>
                    </a:p>
                  </a:txBody>
                  <a:tcPr anchor="ctr"/>
                </a:tc>
                <a:tc>
                  <a:txBody>
                    <a:bodyPr/>
                    <a:lstStyle/>
                    <a:p>
                      <a:pPr>
                        <a:buNone/>
                      </a:pPr>
                      <a:endParaRPr lang="en-IN" b="0"/>
                    </a:p>
                  </a:txBody>
                  <a:tcPr anchor="ctr"/>
                </a:tc>
                <a:tc>
                  <a:txBody>
                    <a:bodyPr/>
                    <a:lstStyle/>
                    <a:p>
                      <a:pPr>
                        <a:buNone/>
                      </a:pPr>
                      <a:endParaRPr lang="en-IN" b="0"/>
                    </a:p>
                  </a:txBody>
                  <a:tcPr anchor="ctr"/>
                </a:tc>
                <a:extLst>
                  <a:ext uri="{0D108BD9-81ED-4DB2-BD59-A6C34878D82A}">
                    <a16:rowId xmlns:a16="http://schemas.microsoft.com/office/drawing/2014/main" val="1397576245"/>
                  </a:ext>
                </a:extLst>
              </a:tr>
              <a:tr h="594757">
                <a:tc>
                  <a:txBody>
                    <a:bodyPr/>
                    <a:lstStyle/>
                    <a:p>
                      <a:pPr>
                        <a:buNone/>
                      </a:pPr>
                      <a:r>
                        <a:rPr lang="nl-NL" b="0" dirty="0"/>
                        <a:t>2) cosφ₀ (net loss pf) &lt;</a:t>
                      </a:r>
                    </a:p>
                  </a:txBody>
                  <a:tcPr anchor="ctr"/>
                </a:tc>
                <a:tc>
                  <a:txBody>
                    <a:bodyPr/>
                    <a:lstStyle/>
                    <a:p>
                      <a:pPr>
                        <a:buNone/>
                      </a:pPr>
                      <a:r>
                        <a:rPr lang="nl-NL" b="0" dirty="0"/>
                        <a:t>cosφ₀</a:t>
                      </a:r>
                      <a:r>
                        <a:rPr lang="el-GR" b="0" dirty="0"/>
                        <a:t>&lt;</a:t>
                      </a:r>
                    </a:p>
                  </a:txBody>
                  <a:tcPr anchor="ctr"/>
                </a:tc>
                <a:tc>
                  <a:txBody>
                    <a:bodyPr/>
                    <a:lstStyle/>
                    <a:p>
                      <a:pPr>
                        <a:buNone/>
                      </a:pPr>
                      <a:r>
                        <a:rPr lang="nl-NL" b="0" dirty="0"/>
                        <a:t>cosφ₀</a:t>
                      </a:r>
                      <a:r>
                        <a:rPr lang="el-GR" b="0" dirty="0"/>
                        <a:t> (</a:t>
                      </a:r>
                      <a:r>
                        <a:rPr lang="en-IN" b="0" dirty="0"/>
                        <a:t>loss pf)</a:t>
                      </a:r>
                    </a:p>
                  </a:txBody>
                  <a:tcPr anchor="ctr"/>
                </a:tc>
                <a:extLst>
                  <a:ext uri="{0D108BD9-81ED-4DB2-BD59-A6C34878D82A}">
                    <a16:rowId xmlns:a16="http://schemas.microsoft.com/office/drawing/2014/main" val="2997884058"/>
                  </a:ext>
                </a:extLst>
              </a:tr>
              <a:tr h="594757">
                <a:tc>
                  <a:txBody>
                    <a:bodyPr/>
                    <a:lstStyle/>
                    <a:p>
                      <a:pPr>
                        <a:buNone/>
                      </a:pPr>
                      <a:r>
                        <a:rPr lang="en-IN" b="0" dirty="0"/>
                        <a:t>3) Xₗ &lt;</a:t>
                      </a:r>
                    </a:p>
                  </a:txBody>
                  <a:tcPr anchor="ctr"/>
                </a:tc>
                <a:tc>
                  <a:txBody>
                    <a:bodyPr/>
                    <a:lstStyle/>
                    <a:p>
                      <a:pPr>
                        <a:buNone/>
                      </a:pPr>
                      <a:r>
                        <a:rPr lang="en-IN" b="0" dirty="0"/>
                        <a:t>Xₗ &lt;</a:t>
                      </a:r>
                    </a:p>
                  </a:txBody>
                  <a:tcPr anchor="ctr"/>
                </a:tc>
                <a:tc>
                  <a:txBody>
                    <a:bodyPr/>
                    <a:lstStyle/>
                    <a:p>
                      <a:pPr>
                        <a:buNone/>
                      </a:pPr>
                      <a:r>
                        <a:rPr lang="en-IN" b="0"/>
                        <a:t>Xₗ</a:t>
                      </a:r>
                    </a:p>
                  </a:txBody>
                  <a:tcPr anchor="ctr"/>
                </a:tc>
                <a:extLst>
                  <a:ext uri="{0D108BD9-81ED-4DB2-BD59-A6C34878D82A}">
                    <a16:rowId xmlns:a16="http://schemas.microsoft.com/office/drawing/2014/main" val="1129366693"/>
                  </a:ext>
                </a:extLst>
              </a:tr>
              <a:tr h="1040824">
                <a:tc>
                  <a:txBody>
                    <a:bodyPr/>
                    <a:lstStyle/>
                    <a:p>
                      <a:pPr>
                        <a:buNone/>
                      </a:pPr>
                      <a:r>
                        <a:rPr lang="en-US" b="0" dirty="0"/>
                        <a:t>(leakage flux is less as air gap is more)</a:t>
                      </a:r>
                    </a:p>
                  </a:txBody>
                  <a:tcPr anchor="ctr"/>
                </a:tc>
                <a:tc>
                  <a:txBody>
                    <a:bodyPr/>
                    <a:lstStyle/>
                    <a:p>
                      <a:pPr>
                        <a:buNone/>
                      </a:pPr>
                      <a:endParaRPr lang="en-IN" b="0" dirty="0"/>
                    </a:p>
                  </a:txBody>
                  <a:tcPr anchor="ctr"/>
                </a:tc>
                <a:tc>
                  <a:txBody>
                    <a:bodyPr/>
                    <a:lstStyle/>
                    <a:p>
                      <a:pPr>
                        <a:buNone/>
                      </a:pPr>
                      <a:endParaRPr lang="en-IN" b="0"/>
                    </a:p>
                  </a:txBody>
                  <a:tcPr anchor="ctr"/>
                </a:tc>
                <a:extLst>
                  <a:ext uri="{0D108BD9-81ED-4DB2-BD59-A6C34878D82A}">
                    <a16:rowId xmlns:a16="http://schemas.microsoft.com/office/drawing/2014/main" val="2105137019"/>
                  </a:ext>
                </a:extLst>
              </a:tr>
              <a:tr h="594757">
                <a:tc>
                  <a:txBody>
                    <a:bodyPr/>
                    <a:lstStyle/>
                    <a:p>
                      <a:pPr>
                        <a:buNone/>
                      </a:pPr>
                      <a:r>
                        <a:rPr lang="en-IN" b="0" dirty="0"/>
                        <a:t>4) Noise  &gt;</a:t>
                      </a:r>
                    </a:p>
                  </a:txBody>
                  <a:tcPr anchor="ctr"/>
                </a:tc>
                <a:tc>
                  <a:txBody>
                    <a:bodyPr/>
                    <a:lstStyle/>
                    <a:p>
                      <a:pPr>
                        <a:buNone/>
                      </a:pPr>
                      <a:r>
                        <a:rPr lang="en-IN" b="0" dirty="0"/>
                        <a:t>Noise  &gt;</a:t>
                      </a:r>
                    </a:p>
                  </a:txBody>
                  <a:tcPr anchor="ctr"/>
                </a:tc>
                <a:tc>
                  <a:txBody>
                    <a:bodyPr/>
                    <a:lstStyle/>
                    <a:p>
                      <a:pPr>
                        <a:buNone/>
                      </a:pPr>
                      <a:r>
                        <a:rPr lang="en-IN" b="0" dirty="0"/>
                        <a:t>Noise</a:t>
                      </a:r>
                    </a:p>
                  </a:txBody>
                  <a:tcPr anchor="ctr"/>
                </a:tc>
                <a:extLst>
                  <a:ext uri="{0D108BD9-81ED-4DB2-BD59-A6C34878D82A}">
                    <a16:rowId xmlns:a16="http://schemas.microsoft.com/office/drawing/2014/main" val="1704837867"/>
                  </a:ext>
                </a:extLst>
              </a:tr>
            </a:tbl>
          </a:graphicData>
        </a:graphic>
      </p:graphicFrame>
      <p:pic>
        <p:nvPicPr>
          <p:cNvPr id="11" name="Picture 81">
            <a:extLst>
              <a:ext uri="{FF2B5EF4-FFF2-40B4-BE49-F238E27FC236}">
                <a16:creationId xmlns:a16="http://schemas.microsoft.com/office/drawing/2014/main" id="{9CF0C88C-AFB7-97C7-8EC6-7DF452789D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477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8DDAC4-94E2-D6ED-3607-46BE0B94D99F}"/>
              </a:ext>
            </a:extLst>
          </p:cNvPr>
          <p:cNvSpPr/>
          <p:nvPr/>
        </p:nvSpPr>
        <p:spPr>
          <a:xfrm>
            <a:off x="2286000" y="1"/>
            <a:ext cx="13716000" cy="747994"/>
          </a:xfrm>
          <a:prstGeom prst="rect">
            <a:avLst/>
          </a:prstGeom>
          <a:solidFill>
            <a:srgbClr val="E97132"/>
          </a:solidFill>
        </p:spPr>
        <p:txBody>
          <a:bodyPr wrap="square">
            <a:spAutoFit/>
          </a:bodyPr>
          <a:lstStyle/>
          <a:p>
            <a:pPr marL="342900" indent="-342900" algn="ctr">
              <a:lnSpc>
                <a:spcPct val="150000"/>
              </a:lnSpc>
              <a:defRPr/>
            </a:pPr>
            <a:endParaRPr lang="en-US" sz="3000" b="1" kern="0" dirty="0">
              <a:solidFill>
                <a:schemeClr val="bg1"/>
              </a:solidFill>
              <a:latin typeface="Times New Roman" panose="02020603050405020304" pitchFamily="18" charset="0"/>
              <a:cs typeface="Times New Roman" pitchFamily="18" charset="0"/>
            </a:endParaRPr>
          </a:p>
        </p:txBody>
      </p:sp>
      <p:sp>
        <p:nvSpPr>
          <p:cNvPr id="7" name="TextBox 1">
            <a:extLst>
              <a:ext uri="{FF2B5EF4-FFF2-40B4-BE49-F238E27FC236}">
                <a16:creationId xmlns:a16="http://schemas.microsoft.com/office/drawing/2014/main" id="{6D183532-E6BD-2702-E308-EE80B182AC07}"/>
              </a:ext>
            </a:extLst>
          </p:cNvPr>
          <p:cNvSpPr txBox="1">
            <a:spLocks noChangeArrowheads="1"/>
          </p:cNvSpPr>
          <p:nvPr/>
        </p:nvSpPr>
        <p:spPr bwMode="auto">
          <a:xfrm>
            <a:off x="2286000" y="830997"/>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sz="3000" b="1" dirty="0">
                <a:latin typeface="Times New Roman" panose="02020603050405020304" pitchFamily="18" charset="0"/>
                <a:cs typeface="Times New Roman" panose="02020603050405020304" pitchFamily="18" charset="0"/>
              </a:rPr>
              <a:t>Effect of Slot Type on Reactance, Stability and SCR</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8" name="Picture 81">
            <a:extLst>
              <a:ext uri="{FF2B5EF4-FFF2-40B4-BE49-F238E27FC236}">
                <a16:creationId xmlns:a16="http://schemas.microsoft.com/office/drawing/2014/main" id="{D341E2FA-CF0A-984C-4EDB-BD6309F179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2">
            <a:extLst>
              <a:ext uri="{FF2B5EF4-FFF2-40B4-BE49-F238E27FC236}">
                <a16:creationId xmlns:a16="http://schemas.microsoft.com/office/drawing/2014/main" id="{82E68AEE-110D-678B-902A-2549347371B9}"/>
              </a:ext>
            </a:extLst>
          </p:cNvPr>
          <p:cNvSpPr txBox="1">
            <a:spLocks noChangeArrowheads="1"/>
          </p:cNvSpPr>
          <p:nvPr/>
        </p:nvSpPr>
        <p:spPr bwMode="auto">
          <a:xfrm>
            <a:off x="2514600" y="1834888"/>
            <a:ext cx="13144500" cy="3396121"/>
          </a:xfrm>
          <a:prstGeom prst="rect">
            <a:avLst/>
          </a:prstGeom>
          <a:noFill/>
          <a:ln w="9525">
            <a:solidFill>
              <a:srgbClr val="002060"/>
            </a:solidFill>
            <a:miter lim="800000"/>
            <a:headEnd/>
            <a:tailEnd/>
          </a:ln>
        </p:spPr>
        <p:txBody>
          <a:bodyPr wrap="square">
            <a:spAutoFit/>
          </a:bodyPr>
          <a:lstStyle/>
          <a:p>
            <a:pPr marL="285750" indent="-285750" algn="just">
              <a:lnSpc>
                <a:spcPct val="150000"/>
              </a:lnSpc>
              <a:buClr>
                <a:srgbClr val="4F81BD"/>
              </a:buClr>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As open type slot requires more magnetizing component of current and also the operation is not smooth and salient.</a:t>
            </a:r>
          </a:p>
          <a:p>
            <a:pPr marL="285750" indent="-285750" algn="just">
              <a:lnSpc>
                <a:spcPct val="150000"/>
              </a:lnSpc>
              <a:buClr>
                <a:srgbClr val="4F81BD"/>
              </a:buClr>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The open slot type are not preferred for IM, Only semi closed or completely closed type slots are preferred.</a:t>
            </a:r>
          </a:p>
          <a:p>
            <a:pPr marL="285750" indent="-285750" algn="just">
              <a:lnSpc>
                <a:spcPct val="150000"/>
              </a:lnSpc>
              <a:buClr>
                <a:srgbClr val="4F81BD"/>
              </a:buClr>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Open type slots are generally preferred in synchronous Machines and also in DC Machines.</a:t>
            </a:r>
          </a:p>
          <a:p>
            <a:pPr marL="285750" indent="-285750" algn="just">
              <a:lnSpc>
                <a:spcPct val="150000"/>
              </a:lnSpc>
              <a:buClr>
                <a:srgbClr val="4F81BD"/>
              </a:buClr>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In practical, semi closed slots are preferred.</a:t>
            </a:r>
          </a:p>
        </p:txBody>
      </p:sp>
      <p:sp>
        <p:nvSpPr>
          <p:cNvPr id="10" name="Rectangle 9">
            <a:extLst>
              <a:ext uri="{FF2B5EF4-FFF2-40B4-BE49-F238E27FC236}">
                <a16:creationId xmlns:a16="http://schemas.microsoft.com/office/drawing/2014/main" id="{A82A0AB9-101B-DD09-E59A-E1EB28E0C782}"/>
              </a:ext>
            </a:extLst>
          </p:cNvPr>
          <p:cNvSpPr/>
          <p:nvPr/>
        </p:nvSpPr>
        <p:spPr>
          <a:xfrm>
            <a:off x="2713701" y="6117448"/>
            <a:ext cx="3849331" cy="1526086"/>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t>↓ Xs = Xa + Xl ↓  </a:t>
            </a:r>
          </a:p>
        </p:txBody>
      </p:sp>
      <p:sp>
        <p:nvSpPr>
          <p:cNvPr id="11" name="Rectangle 10">
            <a:extLst>
              <a:ext uri="{FF2B5EF4-FFF2-40B4-BE49-F238E27FC236}">
                <a16:creationId xmlns:a16="http://schemas.microsoft.com/office/drawing/2014/main" id="{88079A25-2CC3-D829-105D-79DA99AF58C2}"/>
              </a:ext>
            </a:extLst>
          </p:cNvPr>
          <p:cNvSpPr/>
          <p:nvPr/>
        </p:nvSpPr>
        <p:spPr>
          <a:xfrm>
            <a:off x="7846144" y="5902741"/>
            <a:ext cx="7757652" cy="195549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t>↑ Steady state stability  ∝  1/Xs ↓ (Xs decreases)</a:t>
            </a:r>
          </a:p>
          <a:p>
            <a:pPr algn="ctr"/>
            <a:endParaRPr lang="en-US" b="1" dirty="0"/>
          </a:p>
          <a:p>
            <a:pPr algn="ctr"/>
            <a:r>
              <a:rPr lang="en-US" b="1" dirty="0"/>
              <a:t>↑ Rigidity factor  ∝  1/Xs ↓</a:t>
            </a:r>
          </a:p>
        </p:txBody>
      </p:sp>
      <p:sp>
        <p:nvSpPr>
          <p:cNvPr id="13" name="Rectangle 12">
            <a:extLst>
              <a:ext uri="{FF2B5EF4-FFF2-40B4-BE49-F238E27FC236}">
                <a16:creationId xmlns:a16="http://schemas.microsoft.com/office/drawing/2014/main" id="{303F1F9D-3B75-2FA5-1948-839F8C5AFC8F}"/>
              </a:ext>
            </a:extLst>
          </p:cNvPr>
          <p:cNvSpPr/>
          <p:nvPr/>
        </p:nvSpPr>
        <p:spPr>
          <a:xfrm>
            <a:off x="6120580" y="8513890"/>
            <a:ext cx="5132437" cy="114630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t>↑ Short Circuit Ratio ∝  1/Xs ↓</a:t>
            </a:r>
          </a:p>
        </p:txBody>
      </p:sp>
    </p:spTree>
    <p:extLst>
      <p:ext uri="{BB962C8B-B14F-4D97-AF65-F5344CB8AC3E}">
        <p14:creationId xmlns:p14="http://schemas.microsoft.com/office/powerpoint/2010/main" val="625831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686D46-69EA-370F-2C0E-90DBA7577FD1}"/>
              </a:ext>
            </a:extLst>
          </p:cNvPr>
          <p:cNvSpPr/>
          <p:nvPr/>
        </p:nvSpPr>
        <p:spPr>
          <a:xfrm>
            <a:off x="2286000" y="1"/>
            <a:ext cx="13716000" cy="747994"/>
          </a:xfrm>
          <a:prstGeom prst="rect">
            <a:avLst/>
          </a:prstGeom>
          <a:solidFill>
            <a:srgbClr val="E97132"/>
          </a:solidFill>
        </p:spPr>
        <p:txBody>
          <a:bodyPr wrap="square">
            <a:spAutoFit/>
          </a:bodyPr>
          <a:lstStyle/>
          <a:p>
            <a:pPr marL="342900" indent="-342900" algn="ctr">
              <a:lnSpc>
                <a:spcPct val="150000"/>
              </a:lnSpc>
              <a:defRPr/>
            </a:pPr>
            <a:endParaRPr lang="en-US" sz="3000" b="1" kern="0" dirty="0">
              <a:solidFill>
                <a:schemeClr val="bg1"/>
              </a:solidFill>
              <a:latin typeface="Times New Roman" panose="02020603050405020304" pitchFamily="18" charset="0"/>
              <a:cs typeface="Times New Roman" pitchFamily="18" charset="0"/>
            </a:endParaRPr>
          </a:p>
        </p:txBody>
      </p:sp>
      <p:sp>
        <p:nvSpPr>
          <p:cNvPr id="3" name="TextBox 1">
            <a:extLst>
              <a:ext uri="{FF2B5EF4-FFF2-40B4-BE49-F238E27FC236}">
                <a16:creationId xmlns:a16="http://schemas.microsoft.com/office/drawing/2014/main" id="{6DB39EF6-8E90-72E3-6793-D0BA5A1AE211}"/>
              </a:ext>
            </a:extLst>
          </p:cNvPr>
          <p:cNvSpPr txBox="1">
            <a:spLocks noChangeArrowheads="1"/>
          </p:cNvSpPr>
          <p:nvPr/>
        </p:nvSpPr>
        <p:spPr bwMode="auto">
          <a:xfrm>
            <a:off x="2286000" y="846690"/>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sz="3000" b="1" dirty="0">
                <a:latin typeface="Times New Roman" panose="02020603050405020304" pitchFamily="18" charset="0"/>
                <a:cs typeface="Times New Roman" panose="02020603050405020304" pitchFamily="18" charset="0"/>
              </a:rPr>
              <a:t>Practical Preference of Slot Types in Electrical Machines</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4" name="Picture 81">
            <a:extLst>
              <a:ext uri="{FF2B5EF4-FFF2-40B4-BE49-F238E27FC236}">
                <a16:creationId xmlns:a16="http://schemas.microsoft.com/office/drawing/2014/main" id="{7B31B08B-05A5-EFB5-84F4-D718842A6D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2">
            <a:extLst>
              <a:ext uri="{FF2B5EF4-FFF2-40B4-BE49-F238E27FC236}">
                <a16:creationId xmlns:a16="http://schemas.microsoft.com/office/drawing/2014/main" id="{6AC2526B-1708-CA1A-BB40-063B969249D7}"/>
              </a:ext>
            </a:extLst>
          </p:cNvPr>
          <p:cNvSpPr txBox="1">
            <a:spLocks noChangeArrowheads="1"/>
          </p:cNvSpPr>
          <p:nvPr/>
        </p:nvSpPr>
        <p:spPr bwMode="auto">
          <a:xfrm>
            <a:off x="2571750" y="1852695"/>
            <a:ext cx="13144500" cy="6581610"/>
          </a:xfrm>
          <a:prstGeom prst="rect">
            <a:avLst/>
          </a:prstGeom>
          <a:noFill/>
          <a:ln w="9525">
            <a:solidFill>
              <a:srgbClr val="002060"/>
            </a:solidFill>
            <a:miter lim="800000"/>
            <a:headEnd/>
            <a:tailEnd/>
          </a:ln>
        </p:spPr>
        <p:txBody>
          <a:bodyPr wrap="square">
            <a:spAutoFit/>
          </a:bodyPr>
          <a:lstStyle/>
          <a:p>
            <a:pPr marL="285750" indent="-285750">
              <a:lnSpc>
                <a:spcPct val="150000"/>
              </a:lnSpc>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Commutation is increased in a direct current machine.</a:t>
            </a:r>
          </a:p>
          <a:p>
            <a:pPr marL="285750" indent="-285750">
              <a:lnSpc>
                <a:spcPct val="150000"/>
              </a:lnSpc>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In a direct current machine, commutation delay occurs due to inductance.</a:t>
            </a:r>
          </a:p>
          <a:p>
            <a:pPr marL="285750" indent="-285750">
              <a:lnSpc>
                <a:spcPct val="150000"/>
              </a:lnSpc>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This delay causes more sparking.</a:t>
            </a:r>
          </a:p>
          <a:p>
            <a:pPr marL="285750" indent="-285750">
              <a:lnSpc>
                <a:spcPct val="150000"/>
              </a:lnSpc>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Therefore, to improve commutation, open slots are used in the armature of a direct current machine. As a result, armature reaction is decreased.</a:t>
            </a:r>
          </a:p>
          <a:p>
            <a:pPr marL="285750" indent="-285750">
              <a:buFont typeface="Wingdings" panose="05000000000000000000" pitchFamily="2" charset="2"/>
              <a:buChar char="Ø"/>
            </a:pPr>
            <a:endParaRPr lang="en-US" sz="2400" b="1" dirty="0">
              <a:solidFill>
                <a:srgbClr val="7030A0"/>
              </a:solidFill>
              <a:latin typeface="Times New Roman" panose="02020603050405020304" pitchFamily="18" charset="0"/>
              <a:cs typeface="Times New Roman" panose="02020603050405020304" pitchFamily="18" charset="0"/>
            </a:endParaRPr>
          </a:p>
          <a:p>
            <a:r>
              <a:rPr lang="en-US" b="1" u="sng" dirty="0">
                <a:solidFill>
                  <a:srgbClr val="2850FC"/>
                </a:solidFill>
              </a:rPr>
              <a:t> Number of Poles</a:t>
            </a:r>
            <a:r>
              <a:rPr lang="en-US" b="1" dirty="0">
                <a:solidFill>
                  <a:srgbClr val="2850FC"/>
                </a:solidFill>
              </a:rPr>
              <a:t> – </a:t>
            </a:r>
            <a:r>
              <a:rPr lang="en-US" b="1" u="sng" dirty="0">
                <a:solidFill>
                  <a:srgbClr val="2850FC"/>
                </a:solidFill>
              </a:rPr>
              <a:t>Determination</a:t>
            </a:r>
            <a:r>
              <a:rPr lang="en-US" b="1" dirty="0">
                <a:solidFill>
                  <a:srgbClr val="2850FC"/>
                </a:solidFill>
              </a:rPr>
              <a:t>:</a:t>
            </a:r>
          </a:p>
          <a:p>
            <a:pPr marL="285750" indent="-285750">
              <a:lnSpc>
                <a:spcPct val="150000"/>
              </a:lnSpc>
              <a:buFont typeface="Arial" panose="020B0604020202020204" pitchFamily="34" charset="0"/>
              <a:buChar char="•"/>
            </a:pPr>
            <a:r>
              <a:rPr lang="en-US" sz="2400" b="1" dirty="0">
                <a:solidFill>
                  <a:srgbClr val="7030A0"/>
                </a:solidFill>
                <a:latin typeface="Times New Roman" panose="02020603050405020304" pitchFamily="18" charset="0"/>
                <a:cs typeface="Times New Roman" panose="02020603050405020304" pitchFamily="18" charset="0"/>
              </a:rPr>
              <a:t>If two consecutive conductors or coils carry current in opposite directions, then pole formation occurs between them.</a:t>
            </a:r>
          </a:p>
          <a:p>
            <a:pPr marL="285750" indent="-285750">
              <a:lnSpc>
                <a:spcPct val="150000"/>
              </a:lnSpc>
              <a:buFont typeface="Arial" panose="020B0604020202020204" pitchFamily="34" charset="0"/>
              <a:buChar char="•"/>
            </a:pPr>
            <a:r>
              <a:rPr lang="en-US" sz="2400" b="1" dirty="0">
                <a:solidFill>
                  <a:srgbClr val="7030A0"/>
                </a:solidFill>
                <a:latin typeface="Times New Roman" panose="02020603050405020304" pitchFamily="18" charset="0"/>
                <a:cs typeface="Times New Roman" panose="02020603050405020304" pitchFamily="18" charset="0"/>
              </a:rPr>
              <a:t>On the other hand, if two consecutive conductors or coils carry current in the same direction, then pole formation does not occur between them.</a:t>
            </a:r>
          </a:p>
          <a:p>
            <a:pPr marL="285750" indent="-285750" algn="just">
              <a:lnSpc>
                <a:spcPct val="150000"/>
              </a:lnSpc>
              <a:buClr>
                <a:srgbClr val="4F81BD"/>
              </a:buClr>
              <a:buFont typeface="Wingdings" panose="05000000000000000000" pitchFamily="2" charset="2"/>
              <a:buChar char="Ø"/>
            </a:pPr>
            <a:endParaRPr lang="en-US" sz="2400"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5835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92987C-0943-8970-D2EF-2BE78C6AD9DD}"/>
              </a:ext>
            </a:extLst>
          </p:cNvPr>
          <p:cNvPicPr>
            <a:picLocks noChangeAspect="1"/>
          </p:cNvPicPr>
          <p:nvPr/>
        </p:nvPicPr>
        <p:blipFill>
          <a:blip r:embed="rId2"/>
          <a:stretch>
            <a:fillRect/>
          </a:stretch>
        </p:blipFill>
        <p:spPr>
          <a:xfrm>
            <a:off x="4704735" y="1642299"/>
            <a:ext cx="8229600" cy="3860664"/>
          </a:xfrm>
          <a:prstGeom prst="rect">
            <a:avLst/>
          </a:prstGeom>
        </p:spPr>
      </p:pic>
      <p:sp>
        <p:nvSpPr>
          <p:cNvPr id="3" name="Rectangle 2">
            <a:extLst>
              <a:ext uri="{FF2B5EF4-FFF2-40B4-BE49-F238E27FC236}">
                <a16:creationId xmlns:a16="http://schemas.microsoft.com/office/drawing/2014/main" id="{117A0A19-3192-ABB9-60BD-57036B972C26}"/>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4" name="TextBox 1">
            <a:extLst>
              <a:ext uri="{FF2B5EF4-FFF2-40B4-BE49-F238E27FC236}">
                <a16:creationId xmlns:a16="http://schemas.microsoft.com/office/drawing/2014/main" id="{3346BF71-3C9E-3141-4A1D-AAB7285BCEF0}"/>
              </a:ext>
            </a:extLst>
          </p:cNvPr>
          <p:cNvSpPr txBox="1">
            <a:spLocks noChangeArrowheads="1"/>
          </p:cNvSpPr>
          <p:nvPr/>
        </p:nvSpPr>
        <p:spPr bwMode="auto">
          <a:xfrm>
            <a:off x="2286000" y="844993"/>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sz="3000" b="1" dirty="0">
                <a:latin typeface="Times New Roman" panose="02020603050405020304" pitchFamily="18" charset="0"/>
                <a:cs typeface="Times New Roman" panose="02020603050405020304" pitchFamily="18" charset="0"/>
              </a:rPr>
              <a:t>Pole Formation and Number of Conductors per Phase per Pole</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5" name="Picture 81">
            <a:extLst>
              <a:ext uri="{FF2B5EF4-FFF2-40B4-BE49-F238E27FC236}">
                <a16:creationId xmlns:a16="http://schemas.microsoft.com/office/drawing/2014/main" id="{9B48D11A-258D-6B01-960F-7449A92FC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2">
                <a:extLst>
                  <a:ext uri="{FF2B5EF4-FFF2-40B4-BE49-F238E27FC236}">
                    <a16:creationId xmlns:a16="http://schemas.microsoft.com/office/drawing/2014/main" id="{987E4A9D-CDE2-BD8A-6D8E-9BDF92E4EAD9}"/>
                  </a:ext>
                </a:extLst>
              </p:cNvPr>
              <p:cNvSpPr txBox="1">
                <a:spLocks noChangeArrowheads="1"/>
              </p:cNvSpPr>
              <p:nvPr/>
            </p:nvSpPr>
            <p:spPr bwMode="auto">
              <a:xfrm>
                <a:off x="2711398" y="5746272"/>
                <a:ext cx="13290601" cy="4252414"/>
              </a:xfrm>
              <a:prstGeom prst="rect">
                <a:avLst/>
              </a:prstGeom>
              <a:noFill/>
              <a:ln w="9525">
                <a:solidFill>
                  <a:srgbClr val="002060"/>
                </a:solidFill>
                <a:miter lim="800000"/>
                <a:headEnd/>
                <a:tailEnd/>
              </a:ln>
            </p:spPr>
            <p:txBody>
              <a:bodyPr wrap="square">
                <a:spAutoFit/>
              </a:bodyPr>
              <a:lstStyle/>
              <a:p>
                <a:pPr marL="285750" indent="-285750">
                  <a:lnSpc>
                    <a:spcPct val="150000"/>
                  </a:lnSpc>
                  <a:buFont typeface="Wingdings" panose="05000000000000000000" pitchFamily="2" charset="2"/>
                  <a:buChar char="§"/>
                </a:pPr>
                <a:r>
                  <a:rPr lang="en-IN" sz="2400" b="1" u="sng" dirty="0">
                    <a:solidFill>
                      <a:srgbClr val="2850FC"/>
                    </a:solidFill>
                    <a:latin typeface="Times New Roman" panose="02020603050405020304" pitchFamily="18" charset="0"/>
                    <a:cs typeface="Times New Roman" panose="02020603050405020304" pitchFamily="18" charset="0"/>
                  </a:rPr>
                  <a:t>Example</a:t>
                </a:r>
                <a:r>
                  <a:rPr lang="en-IN" sz="2400" b="1" dirty="0">
                    <a:solidFill>
                      <a:srgbClr val="2850FC"/>
                    </a:solidFill>
                    <a:latin typeface="Times New Roman" panose="02020603050405020304" pitchFamily="18" charset="0"/>
                    <a:cs typeface="Times New Roman" panose="02020603050405020304" pitchFamily="18" charset="0"/>
                  </a:rPr>
                  <a:t>: Number of Conductors per Phase per Pole</a:t>
                </a:r>
              </a:p>
              <a:p>
                <a:pPr marL="285750" indent="-285750">
                  <a:buFont typeface="Wingdings" panose="05000000000000000000" pitchFamily="2" charset="2"/>
                  <a:buChar char="§"/>
                </a:pPr>
                <a:endParaRPr lang="en-IN" sz="2400" b="1" dirty="0">
                  <a:solidFill>
                    <a:srgbClr val="2850FC"/>
                  </a:solidFill>
                  <a:latin typeface="Times New Roman" panose="02020603050405020304" pitchFamily="18" charset="0"/>
                  <a:cs typeface="Times New Roman" panose="02020603050405020304" pitchFamily="18" charset="0"/>
                </a:endParaRPr>
              </a:p>
              <a:p>
                <a:pPr>
                  <a:lnSpc>
                    <a:spcPct val="150000"/>
                  </a:lnSpc>
                </a:pPr>
                <a:r>
                  <a:rPr lang="en-IN" sz="2400" b="1" dirty="0">
                    <a:solidFill>
                      <a:srgbClr val="7030A0"/>
                    </a:solidFill>
                    <a:latin typeface="Times New Roman" panose="02020603050405020304" pitchFamily="18" charset="0"/>
                    <a:cs typeface="Times New Roman" panose="02020603050405020304" pitchFamily="18" charset="0"/>
                  </a:rPr>
                  <a:t>       </a:t>
                </a:r>
                <a:r>
                  <a:rPr lang="en-IN" sz="2400" b="1" u="sng" dirty="0">
                    <a:solidFill>
                      <a:srgbClr val="7030A0"/>
                    </a:solidFill>
                    <a:latin typeface="Times New Roman" panose="02020603050405020304" pitchFamily="18" charset="0"/>
                    <a:cs typeface="Times New Roman" panose="02020603050405020304" pitchFamily="18" charset="0"/>
                  </a:rPr>
                  <a:t>Solution</a:t>
                </a:r>
                <a:r>
                  <a:rPr lang="en-IN" sz="2400" b="1" dirty="0">
                    <a:solidFill>
                      <a:srgbClr val="7030A0"/>
                    </a:solidFill>
                    <a:latin typeface="Times New Roman" panose="02020603050405020304" pitchFamily="18" charset="0"/>
                    <a:cs typeface="Times New Roman" panose="02020603050405020304" pitchFamily="18" charset="0"/>
                  </a:rPr>
                  <a:t>:</a:t>
                </a:r>
                <a:endParaRPr lang="en-IN" sz="2400" dirty="0">
                  <a:solidFill>
                    <a:srgbClr val="7030A0"/>
                  </a:solidFill>
                  <a:latin typeface="Times New Roman" panose="02020603050405020304" pitchFamily="18" charset="0"/>
                  <a:cs typeface="Times New Roman" panose="02020603050405020304" pitchFamily="18" charset="0"/>
                </a:endParaRPr>
              </a:p>
              <a:p>
                <a:pPr>
                  <a:lnSpc>
                    <a:spcPct val="150000"/>
                  </a:lnSpc>
                </a:pPr>
                <a:r>
                  <a:rPr lang="en-IN" sz="2400" dirty="0">
                    <a:solidFill>
                      <a:srgbClr val="7030A0"/>
                    </a:solidFill>
                    <a:latin typeface="Times New Roman" panose="02020603050405020304" pitchFamily="18" charset="0"/>
                    <a:cs typeface="Times New Roman" panose="02020603050405020304" pitchFamily="18" charset="0"/>
                  </a:rPr>
                  <a:t>                   Let 180 conductors be distributed in a three-phase and four-pole machine.</a:t>
                </a:r>
              </a:p>
              <a:p>
                <a:pPr>
                  <a:lnSpc>
                    <a:spcPct val="150000"/>
                  </a:lnSpc>
                </a:pPr>
                <a14:m>
                  <m:oMathPara xmlns:m="http://schemas.openxmlformats.org/officeDocument/2006/math">
                    <m:oMathParaPr>
                      <m:jc m:val="centerGroup"/>
                    </m:oMathParaPr>
                    <m:oMath xmlns:m="http://schemas.openxmlformats.org/officeDocument/2006/math">
                      <m:r>
                        <m:rPr>
                          <m:nor/>
                        </m:rPr>
                        <a:rPr lang="en-IN" sz="2400">
                          <a:solidFill>
                            <a:srgbClr val="7030A0"/>
                          </a:solidFill>
                          <a:latin typeface="Times New Roman" panose="02020603050405020304" pitchFamily="18" charset="0"/>
                          <a:cs typeface="Times New Roman" panose="02020603050405020304" pitchFamily="18" charset="0"/>
                        </a:rPr>
                        <m:t>Number</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of</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conductors</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per</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phase</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per</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pole</m:t>
                      </m:r>
                      <m:r>
                        <a:rPr lang="en-IN" sz="2400" b="0">
                          <a:solidFill>
                            <a:srgbClr val="7030A0"/>
                          </a:solidFill>
                          <a:latin typeface="Cambria Math" panose="02040503050406030204" pitchFamily="18" charset="0"/>
                        </a:rPr>
                        <m:t>=</m:t>
                      </m:r>
                      <m:f>
                        <m:fPr>
                          <m:ctrlPr>
                            <a:rPr lang="ar-AE" sz="2400" i="1">
                              <a:solidFill>
                                <a:srgbClr val="7030A0"/>
                              </a:solidFill>
                              <a:latin typeface="Cambria Math" panose="02040503050406030204" pitchFamily="18" charset="0"/>
                            </a:rPr>
                          </m:ctrlPr>
                        </m:fPr>
                        <m:num>
                          <m:r>
                            <a:rPr lang="ar-AE" sz="2400" b="0">
                              <a:solidFill>
                                <a:srgbClr val="7030A0"/>
                              </a:solidFill>
                              <a:latin typeface="Cambria Math" panose="02040503050406030204" pitchFamily="18" charset="0"/>
                            </a:rPr>
                            <m:t>180</m:t>
                          </m:r>
                        </m:num>
                        <m:den>
                          <m:r>
                            <a:rPr lang="ar-AE" sz="2400" b="0">
                              <a:solidFill>
                                <a:srgbClr val="7030A0"/>
                              </a:solidFill>
                              <a:latin typeface="Cambria Math" panose="02040503050406030204" pitchFamily="18" charset="0"/>
                            </a:rPr>
                            <m:t>3</m:t>
                          </m:r>
                          <m:r>
                            <a:rPr lang="ar-AE" sz="2400" b="0">
                              <a:solidFill>
                                <a:srgbClr val="7030A0"/>
                              </a:solidFill>
                              <a:latin typeface="Cambria Math" panose="02040503050406030204" pitchFamily="18" charset="0"/>
                            </a:rPr>
                            <m:t>×</m:t>
                          </m:r>
                          <m:r>
                            <a:rPr lang="ar-AE" sz="2400" b="0">
                              <a:solidFill>
                                <a:srgbClr val="7030A0"/>
                              </a:solidFill>
                              <a:latin typeface="Cambria Math" panose="02040503050406030204" pitchFamily="18" charset="0"/>
                            </a:rPr>
                            <m:t>4</m:t>
                          </m:r>
                        </m:den>
                      </m:f>
                      <m:r>
                        <a:rPr lang="ar-AE" sz="2400" b="0">
                          <a:solidFill>
                            <a:srgbClr val="7030A0"/>
                          </a:solidFill>
                          <a:latin typeface="Cambria Math" panose="02040503050406030204" pitchFamily="18" charset="0"/>
                        </a:rPr>
                        <m:t>=</m:t>
                      </m:r>
                      <m:r>
                        <a:rPr lang="ar-AE" sz="2400" b="0">
                          <a:solidFill>
                            <a:srgbClr val="7030A0"/>
                          </a:solidFill>
                          <a:latin typeface="Cambria Math" panose="02040503050406030204" pitchFamily="18" charset="0"/>
                        </a:rPr>
                        <m:t>15</m:t>
                      </m:r>
                    </m:oMath>
                  </m:oMathPara>
                </a14:m>
                <a:endParaRPr lang="ar-AE" sz="2400" dirty="0">
                  <a:solidFill>
                    <a:srgbClr val="7030A0"/>
                  </a:solidFill>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ar-AE" sz="2400" b="0">
                          <a:solidFill>
                            <a:srgbClr val="7030A0"/>
                          </a:solidFill>
                          <a:latin typeface="Cambria Math" panose="02040503050406030204" pitchFamily="18" charset="0"/>
                        </a:rPr>
                        <m:t>∴</m:t>
                      </m:r>
                      <m:r>
                        <m:rPr>
                          <m:nor/>
                        </m:rPr>
                        <a:rPr lang="en-IN" sz="2400" i="1">
                          <a:solidFill>
                            <a:srgbClr val="7030A0"/>
                          </a:solidFill>
                          <a:latin typeface="Times New Roman" panose="02020603050405020304" pitchFamily="18" charset="0"/>
                          <a:cs typeface="Times New Roman" panose="02020603050405020304" pitchFamily="18" charset="0"/>
                        </a:rPr>
                        <m:t>Number</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of</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conductors</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per</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phase</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per</m:t>
                      </m:r>
                      <m:r>
                        <m:rPr>
                          <m:nor/>
                        </m:rPr>
                        <a:rPr lang="en-IN" sz="2400" i="1">
                          <a:solidFill>
                            <a:srgbClr val="7030A0"/>
                          </a:solidFill>
                          <a:latin typeface="Times New Roman" panose="02020603050405020304" pitchFamily="18" charset="0"/>
                          <a:cs typeface="Times New Roman" panose="02020603050405020304" pitchFamily="18" charset="0"/>
                        </a:rPr>
                        <m:t> </m:t>
                      </m:r>
                      <m:r>
                        <m:rPr>
                          <m:nor/>
                        </m:rPr>
                        <a:rPr lang="en-IN" sz="2400" i="1">
                          <a:solidFill>
                            <a:srgbClr val="7030A0"/>
                          </a:solidFill>
                          <a:latin typeface="Times New Roman" panose="02020603050405020304" pitchFamily="18" charset="0"/>
                          <a:cs typeface="Times New Roman" panose="02020603050405020304" pitchFamily="18" charset="0"/>
                        </a:rPr>
                        <m:t>pole</m:t>
                      </m:r>
                      <m:r>
                        <a:rPr lang="en-IN" sz="2400" b="0">
                          <a:solidFill>
                            <a:srgbClr val="7030A0"/>
                          </a:solidFill>
                          <a:latin typeface="Cambria Math" panose="02040503050406030204" pitchFamily="18" charset="0"/>
                        </a:rPr>
                        <m:t>=</m:t>
                      </m:r>
                      <m:r>
                        <a:rPr lang="en-IN" sz="2400" b="0">
                          <a:solidFill>
                            <a:srgbClr val="7030A0"/>
                          </a:solidFill>
                          <a:latin typeface="Cambria Math" panose="02040503050406030204" pitchFamily="18" charset="0"/>
                        </a:rPr>
                        <m:t>15</m:t>
                      </m:r>
                    </m:oMath>
                  </m:oMathPara>
                </a14:m>
                <a:endParaRPr lang="en-IN" sz="2400" dirty="0">
                  <a:solidFill>
                    <a:srgbClr val="7030A0"/>
                  </a:solidFill>
                  <a:latin typeface="Times New Roman" panose="02020603050405020304" pitchFamily="18" charset="0"/>
                  <a:cs typeface="Times New Roman" panose="02020603050405020304" pitchFamily="18" charset="0"/>
                </a:endParaRPr>
              </a:p>
              <a:p>
                <a:pPr marL="285750" indent="-285750" algn="just">
                  <a:lnSpc>
                    <a:spcPct val="150000"/>
                  </a:lnSpc>
                  <a:buClr>
                    <a:srgbClr val="4F81BD"/>
                  </a:buClr>
                  <a:buFont typeface="Wingdings" panose="05000000000000000000" pitchFamily="2" charset="2"/>
                  <a:buChar char="Ø"/>
                </a:pPr>
                <a:endParaRPr lang="en-US" sz="2400" b="1" dirty="0">
                  <a:solidFill>
                    <a:srgbClr val="7030A0"/>
                  </a:solidFill>
                  <a:latin typeface="Times New Roman" panose="02020603050405020304" pitchFamily="18" charset="0"/>
                  <a:cs typeface="Times New Roman" panose="02020603050405020304" pitchFamily="18" charset="0"/>
                </a:endParaRPr>
              </a:p>
            </p:txBody>
          </p:sp>
        </mc:Choice>
        <mc:Fallback xmlns="">
          <p:sp>
            <p:nvSpPr>
              <p:cNvPr id="6" name="TextBox 2">
                <a:extLst>
                  <a:ext uri="{FF2B5EF4-FFF2-40B4-BE49-F238E27FC236}">
                    <a16:creationId xmlns:a16="http://schemas.microsoft.com/office/drawing/2014/main" id="{987E4A9D-CDE2-BD8A-6D8E-9BDF92E4EAD9}"/>
                  </a:ext>
                </a:extLst>
              </p:cNvPr>
              <p:cNvSpPr txBox="1">
                <a:spLocks noRot="1" noChangeAspect="1" noMove="1" noResize="1" noEditPoints="1" noAdjustHandles="1" noChangeArrowheads="1" noChangeShapeType="1" noTextEdit="1"/>
              </p:cNvSpPr>
              <p:nvPr/>
            </p:nvSpPr>
            <p:spPr bwMode="auto">
              <a:xfrm>
                <a:off x="2711398" y="5746272"/>
                <a:ext cx="13290601" cy="4252414"/>
              </a:xfrm>
              <a:prstGeom prst="rect">
                <a:avLst/>
              </a:prstGeom>
              <a:blipFill>
                <a:blip r:embed="Rca8a5df6c9094262"/>
                <a:stretch>
                  <a:fillRect l="-206"/>
                </a:stretch>
              </a:blipFill>
              <a:ln w="9525">
                <a:solidFill>
                  <a:srgbClr val="002060"/>
                </a:solidFill>
                <a:miter lim="800000"/>
                <a:headEnd/>
                <a:tailEnd/>
              </a:ln>
            </p:spPr>
            <p:txBody>
              <a:bodyPr/>
              <a:lstStyle/>
              <a:p>
                <a:r>
                  <a:rPr lang="en-IN">
                    <a:noFill/>
                  </a:rPr>
                  <a:t> </a:t>
                </a:r>
              </a:p>
            </p:txBody>
          </p:sp>
        </mc:Fallback>
      </mc:AlternateContent>
    </p:spTree>
    <p:extLst>
      <p:ext uri="{BB962C8B-B14F-4D97-AF65-F5344CB8AC3E}">
        <p14:creationId xmlns:p14="http://schemas.microsoft.com/office/powerpoint/2010/main" val="4077235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F4C2E2-C2B2-1043-6E5B-1EFC81A68C5E}"/>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3" name="TextBox 1">
            <a:extLst>
              <a:ext uri="{FF2B5EF4-FFF2-40B4-BE49-F238E27FC236}">
                <a16:creationId xmlns:a16="http://schemas.microsoft.com/office/drawing/2014/main" id="{1365639E-CB2D-F9E0-211F-3D3B8CF4F2B6}"/>
              </a:ext>
            </a:extLst>
          </p:cNvPr>
          <p:cNvSpPr txBox="1">
            <a:spLocks noChangeArrowheads="1"/>
          </p:cNvSpPr>
          <p:nvPr/>
        </p:nvSpPr>
        <p:spPr bwMode="auto">
          <a:xfrm>
            <a:off x="2286000" y="844993"/>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sz="3000" b="1" dirty="0">
                <a:latin typeface="Times New Roman" panose="02020603050405020304" pitchFamily="18" charset="0"/>
                <a:cs typeface="Times New Roman" panose="02020603050405020304" pitchFamily="18" charset="0"/>
              </a:rPr>
              <a:t>Concentrated and Distributed Winding – Air Gap MMF</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4" name="Picture 81">
            <a:extLst>
              <a:ext uri="{FF2B5EF4-FFF2-40B4-BE49-F238E27FC236}">
                <a16:creationId xmlns:a16="http://schemas.microsoft.com/office/drawing/2014/main" id="{03518B0E-9EBD-DA3B-17DF-3188949489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2">
            <a:extLst>
              <a:ext uri="{FF2B5EF4-FFF2-40B4-BE49-F238E27FC236}">
                <a16:creationId xmlns:a16="http://schemas.microsoft.com/office/drawing/2014/main" id="{D4BCC152-52E6-E8BE-E8BF-F0726BFAE095}"/>
              </a:ext>
            </a:extLst>
          </p:cNvPr>
          <p:cNvSpPr txBox="1">
            <a:spLocks noChangeArrowheads="1"/>
          </p:cNvSpPr>
          <p:nvPr/>
        </p:nvSpPr>
        <p:spPr bwMode="auto">
          <a:xfrm>
            <a:off x="2498698" y="1660969"/>
            <a:ext cx="13385314" cy="8566768"/>
          </a:xfrm>
          <a:prstGeom prst="rect">
            <a:avLst/>
          </a:prstGeom>
          <a:noFill/>
          <a:ln w="9525">
            <a:solidFill>
              <a:srgbClr val="002060"/>
            </a:solidFill>
            <a:miter lim="800000"/>
            <a:headEnd/>
            <a:tailEnd/>
          </a:ln>
        </p:spPr>
        <p:txBody>
          <a:bodyPr wrap="square">
            <a:spAutoFit/>
          </a:bodyPr>
          <a:lstStyle/>
          <a:p>
            <a:pPr marL="285750" indent="-285750" algn="just">
              <a:lnSpc>
                <a:spcPct val="150000"/>
              </a:lnSpc>
              <a:buClr>
                <a:srgbClr val="4F81BD"/>
              </a:buClr>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If 15 conductors are placed in a single slot is called Concentrated winding.</a:t>
            </a:r>
          </a:p>
          <a:p>
            <a:pPr marL="285750" indent="-285750" algn="just">
              <a:lnSpc>
                <a:spcPct val="150000"/>
              </a:lnSpc>
              <a:buClr>
                <a:srgbClr val="4F81BD"/>
              </a:buClr>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If 15 conductors are placed in different slots then it is called Distributed winding.</a:t>
            </a:r>
          </a:p>
          <a:p>
            <a:pPr marL="285750" indent="-285750" algn="just">
              <a:lnSpc>
                <a:spcPct val="150000"/>
              </a:lnSpc>
              <a:buClr>
                <a:srgbClr val="4F81BD"/>
              </a:buClr>
              <a:buFont typeface="Wingdings" panose="05000000000000000000" pitchFamily="2" charset="2"/>
              <a:buChar char="Ø"/>
            </a:pPr>
            <a:endParaRPr lang="en-US" sz="2400" b="1" dirty="0">
              <a:solidFill>
                <a:srgbClr val="7030A0"/>
              </a:solidFill>
              <a:latin typeface="Times New Roman" panose="02020603050405020304" pitchFamily="18" charset="0"/>
              <a:cs typeface="Times New Roman" panose="02020603050405020304" pitchFamily="18" charset="0"/>
            </a:endParaRPr>
          </a:p>
          <a:p>
            <a:pPr marL="285750" indent="-285750" algn="just">
              <a:lnSpc>
                <a:spcPct val="150000"/>
              </a:lnSpc>
              <a:buClr>
                <a:srgbClr val="4F81BD"/>
              </a:buClr>
              <a:buFont typeface="Wingdings" panose="05000000000000000000" pitchFamily="2" charset="2"/>
              <a:buChar char="Ø"/>
            </a:pPr>
            <a:endParaRPr lang="en-US" sz="2400" b="1" dirty="0">
              <a:solidFill>
                <a:srgbClr val="7030A0"/>
              </a:solidFill>
              <a:latin typeface="Times New Roman" panose="02020603050405020304" pitchFamily="18" charset="0"/>
              <a:cs typeface="Times New Roman" panose="02020603050405020304" pitchFamily="18" charset="0"/>
            </a:endParaRPr>
          </a:p>
          <a:p>
            <a:pPr marL="285750" indent="-285750" algn="just">
              <a:lnSpc>
                <a:spcPct val="150000"/>
              </a:lnSpc>
              <a:buClr>
                <a:srgbClr val="4F81BD"/>
              </a:buClr>
              <a:buFont typeface="Wingdings" panose="05000000000000000000" pitchFamily="2" charset="2"/>
              <a:buChar char="Ø"/>
            </a:pPr>
            <a:endParaRPr lang="en-US" sz="2400" b="1" dirty="0">
              <a:solidFill>
                <a:srgbClr val="7030A0"/>
              </a:solidFill>
              <a:latin typeface="Times New Roman" panose="02020603050405020304" pitchFamily="18" charset="0"/>
              <a:cs typeface="Times New Roman" panose="02020603050405020304" pitchFamily="18" charset="0"/>
            </a:endParaRPr>
          </a:p>
          <a:p>
            <a:pPr marL="285750" indent="-285750" algn="just">
              <a:lnSpc>
                <a:spcPct val="150000"/>
              </a:lnSpc>
              <a:buClr>
                <a:srgbClr val="4F81BD"/>
              </a:buClr>
              <a:buFont typeface="Wingdings" panose="05000000000000000000" pitchFamily="2" charset="2"/>
              <a:buChar char="Ø"/>
            </a:pPr>
            <a:endParaRPr lang="en-US" sz="2400" b="1" dirty="0">
              <a:solidFill>
                <a:srgbClr val="7030A0"/>
              </a:solidFill>
              <a:latin typeface="Times New Roman" panose="02020603050405020304" pitchFamily="18" charset="0"/>
              <a:cs typeface="Times New Roman" panose="02020603050405020304" pitchFamily="18" charset="0"/>
            </a:endParaRPr>
          </a:p>
          <a:p>
            <a:pPr marL="285750" indent="-285750" algn="just">
              <a:lnSpc>
                <a:spcPct val="150000"/>
              </a:lnSpc>
              <a:buClr>
                <a:srgbClr val="4F81BD"/>
              </a:buClr>
              <a:buFont typeface="Wingdings" panose="05000000000000000000" pitchFamily="2" charset="2"/>
              <a:buChar char="Ø"/>
            </a:pPr>
            <a:endParaRPr lang="en-US" sz="2400" b="1" dirty="0">
              <a:solidFill>
                <a:srgbClr val="7030A0"/>
              </a:solidFill>
              <a:latin typeface="Times New Roman" panose="02020603050405020304" pitchFamily="18" charset="0"/>
              <a:cs typeface="Times New Roman" panose="02020603050405020304" pitchFamily="18" charset="0"/>
            </a:endParaRPr>
          </a:p>
          <a:p>
            <a:pPr marL="285750" indent="-285750" algn="just">
              <a:buClr>
                <a:srgbClr val="4F81BD"/>
              </a:buClr>
              <a:buFont typeface="Wingdings" panose="05000000000000000000" pitchFamily="2" charset="2"/>
              <a:buChar char="Ø"/>
            </a:pPr>
            <a:endParaRPr lang="en-US" sz="2400" b="1" dirty="0">
              <a:solidFill>
                <a:srgbClr val="7030A0"/>
              </a:solidFill>
              <a:latin typeface="Times New Roman" panose="02020603050405020304" pitchFamily="18" charset="0"/>
              <a:cs typeface="Times New Roman" panose="02020603050405020304" pitchFamily="18" charset="0"/>
            </a:endParaRPr>
          </a:p>
          <a:p>
            <a:pPr marL="285750" indent="-285750" algn="just">
              <a:lnSpc>
                <a:spcPct val="150000"/>
              </a:lnSpc>
              <a:buClr>
                <a:srgbClr val="4F81BD"/>
              </a:buClr>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The shape of air gap mmf produced with concentrated</a:t>
            </a:r>
          </a:p>
          <a:p>
            <a:pPr algn="just">
              <a:lnSpc>
                <a:spcPct val="150000"/>
              </a:lnSpc>
              <a:buClr>
                <a:srgbClr val="4F81BD"/>
              </a:buClr>
            </a:pPr>
            <a:r>
              <a:rPr lang="en-US" sz="2400" b="1" dirty="0">
                <a:solidFill>
                  <a:srgbClr val="7030A0"/>
                </a:solidFill>
                <a:latin typeface="Times New Roman" panose="02020603050405020304" pitchFamily="18" charset="0"/>
                <a:cs typeface="Times New Roman" panose="02020603050405020304" pitchFamily="18" charset="0"/>
              </a:rPr>
              <a:t>      winding is rectangular which is very much deviated</a:t>
            </a:r>
          </a:p>
          <a:p>
            <a:pPr algn="just">
              <a:lnSpc>
                <a:spcPct val="150000"/>
              </a:lnSpc>
              <a:buClr>
                <a:srgbClr val="4F81BD"/>
              </a:buClr>
            </a:pPr>
            <a:r>
              <a:rPr lang="en-US" sz="2400" b="1" dirty="0">
                <a:solidFill>
                  <a:srgbClr val="7030A0"/>
                </a:solidFill>
                <a:latin typeface="Times New Roman" panose="02020603050405020304" pitchFamily="18" charset="0"/>
                <a:cs typeface="Times New Roman" panose="02020603050405020304" pitchFamily="18" charset="0"/>
              </a:rPr>
              <a:t>       from desired sinusoidal wave.</a:t>
            </a:r>
          </a:p>
          <a:p>
            <a:pPr algn="just">
              <a:buClr>
                <a:srgbClr val="4F81BD"/>
              </a:buClr>
            </a:pPr>
            <a:endParaRPr lang="en-US" sz="2400" b="1" dirty="0">
              <a:solidFill>
                <a:srgbClr val="7030A0"/>
              </a:solidFill>
              <a:latin typeface="Times New Roman" panose="02020603050405020304" pitchFamily="18" charset="0"/>
              <a:cs typeface="Times New Roman" panose="02020603050405020304" pitchFamily="18" charset="0"/>
            </a:endParaRPr>
          </a:p>
          <a:p>
            <a:pPr marL="285750" indent="-285750" algn="just">
              <a:lnSpc>
                <a:spcPct val="150000"/>
              </a:lnSpc>
              <a:buClr>
                <a:srgbClr val="4F81BD"/>
              </a:buClr>
              <a:buFont typeface="Wingdings" panose="05000000000000000000" pitchFamily="2" charset="2"/>
              <a:buChar char="Ø"/>
            </a:pPr>
            <a:r>
              <a:rPr lang="en-US" sz="2400" b="1" dirty="0">
                <a:solidFill>
                  <a:srgbClr val="7030A0"/>
                </a:solidFill>
                <a:latin typeface="Times New Roman" panose="02020603050405020304" pitchFamily="18" charset="0"/>
                <a:cs typeface="Times New Roman" panose="02020603050405020304" pitchFamily="18" charset="0"/>
              </a:rPr>
              <a:t>The shape of air gap mmf produced with distributed</a:t>
            </a:r>
          </a:p>
          <a:p>
            <a:pPr algn="just">
              <a:lnSpc>
                <a:spcPct val="150000"/>
              </a:lnSpc>
              <a:buClr>
                <a:srgbClr val="4F81BD"/>
              </a:buClr>
            </a:pPr>
            <a:r>
              <a:rPr lang="en-US" sz="2400" b="1" dirty="0">
                <a:solidFill>
                  <a:srgbClr val="7030A0"/>
                </a:solidFill>
                <a:latin typeface="Times New Roman" panose="02020603050405020304" pitchFamily="18" charset="0"/>
                <a:cs typeface="Times New Roman" panose="02020603050405020304" pitchFamily="18" charset="0"/>
              </a:rPr>
              <a:t>      winding produced is at stepped view with an</a:t>
            </a:r>
          </a:p>
          <a:p>
            <a:pPr algn="just">
              <a:lnSpc>
                <a:spcPct val="150000"/>
              </a:lnSpc>
              <a:buClr>
                <a:srgbClr val="4F81BD"/>
              </a:buClr>
            </a:pPr>
            <a:r>
              <a:rPr lang="en-US" sz="2400" b="1" dirty="0">
                <a:solidFill>
                  <a:srgbClr val="7030A0"/>
                </a:solidFill>
                <a:latin typeface="Times New Roman" panose="02020603050405020304" pitchFamily="18" charset="0"/>
                <a:cs typeface="Times New Roman" panose="02020603050405020304" pitchFamily="18" charset="0"/>
              </a:rPr>
              <a:t>      approximate or trapezoidal view and this is very much</a:t>
            </a:r>
          </a:p>
          <a:p>
            <a:pPr algn="just">
              <a:lnSpc>
                <a:spcPct val="150000"/>
              </a:lnSpc>
              <a:buClr>
                <a:srgbClr val="4F81BD"/>
              </a:buClr>
            </a:pPr>
            <a:r>
              <a:rPr lang="en-US" sz="2400" b="1" dirty="0">
                <a:solidFill>
                  <a:srgbClr val="7030A0"/>
                </a:solidFill>
                <a:latin typeface="Times New Roman" panose="02020603050405020304" pitchFamily="18" charset="0"/>
                <a:cs typeface="Times New Roman" panose="02020603050405020304" pitchFamily="18" charset="0"/>
              </a:rPr>
              <a:t>     near to desired sinusoidal space mmf wave.</a:t>
            </a:r>
          </a:p>
        </p:txBody>
      </p:sp>
      <p:pic>
        <p:nvPicPr>
          <p:cNvPr id="8" name="Picture 7">
            <a:extLst>
              <a:ext uri="{FF2B5EF4-FFF2-40B4-BE49-F238E27FC236}">
                <a16:creationId xmlns:a16="http://schemas.microsoft.com/office/drawing/2014/main" id="{89C1E1FE-91A5-55CF-7BBB-C856C5CA8FB2}"/>
              </a:ext>
            </a:extLst>
          </p:cNvPr>
          <p:cNvPicPr>
            <a:picLocks noChangeAspect="1"/>
          </p:cNvPicPr>
          <p:nvPr/>
        </p:nvPicPr>
        <p:blipFill>
          <a:blip r:embed="rId3"/>
          <a:stretch>
            <a:fillRect/>
          </a:stretch>
        </p:blipFill>
        <p:spPr>
          <a:xfrm>
            <a:off x="3067663" y="2944338"/>
            <a:ext cx="6710823" cy="2575051"/>
          </a:xfrm>
          <a:prstGeom prst="rect">
            <a:avLst/>
          </a:prstGeom>
        </p:spPr>
      </p:pic>
      <p:pic>
        <p:nvPicPr>
          <p:cNvPr id="7" name="Picture 6">
            <a:extLst>
              <a:ext uri="{FF2B5EF4-FFF2-40B4-BE49-F238E27FC236}">
                <a16:creationId xmlns:a16="http://schemas.microsoft.com/office/drawing/2014/main" id="{8E9F76CE-42FF-D457-FB5F-7D0C4EE2AC86}"/>
              </a:ext>
            </a:extLst>
          </p:cNvPr>
          <p:cNvPicPr>
            <a:picLocks noChangeAspect="1"/>
          </p:cNvPicPr>
          <p:nvPr/>
        </p:nvPicPr>
        <p:blipFill>
          <a:blip r:embed="rId4"/>
          <a:stretch>
            <a:fillRect/>
          </a:stretch>
        </p:blipFill>
        <p:spPr>
          <a:xfrm>
            <a:off x="10347451" y="4940709"/>
            <a:ext cx="5175766" cy="5099526"/>
          </a:xfrm>
          <a:prstGeom prst="rect">
            <a:avLst/>
          </a:prstGeom>
        </p:spPr>
      </p:pic>
    </p:spTree>
    <p:extLst>
      <p:ext uri="{BB962C8B-B14F-4D97-AF65-F5344CB8AC3E}">
        <p14:creationId xmlns:p14="http://schemas.microsoft.com/office/powerpoint/2010/main" val="1879423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7C1EE3-83EB-BFDE-BAEC-DA575045639D}"/>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3" name="TextBox 1">
            <a:extLst>
              <a:ext uri="{FF2B5EF4-FFF2-40B4-BE49-F238E27FC236}">
                <a16:creationId xmlns:a16="http://schemas.microsoft.com/office/drawing/2014/main" id="{B4A144A2-3A1B-A7E8-2DF6-903A68451C0B}"/>
              </a:ext>
            </a:extLst>
          </p:cNvPr>
          <p:cNvSpPr txBox="1">
            <a:spLocks noChangeArrowheads="1"/>
          </p:cNvSpPr>
          <p:nvPr/>
        </p:nvSpPr>
        <p:spPr bwMode="auto">
          <a:xfrm>
            <a:off x="2286000" y="844993"/>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algn="ctr">
              <a:defRPr/>
            </a:pPr>
            <a:r>
              <a:rPr lang="en-US" sz="3000" b="1" dirty="0"/>
              <a:t>Concentrated Winding and Resultant EMF</a:t>
            </a:r>
            <a:endParaRPr lang="en-US" sz="3000" dirty="0"/>
          </a:p>
        </p:txBody>
      </p:sp>
      <p:pic>
        <p:nvPicPr>
          <p:cNvPr id="4" name="Picture 81">
            <a:extLst>
              <a:ext uri="{FF2B5EF4-FFF2-40B4-BE49-F238E27FC236}">
                <a16:creationId xmlns:a16="http://schemas.microsoft.com/office/drawing/2014/main" id="{F666BA26-6032-1300-B6EE-1AE2C394E0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2">
            <a:extLst>
              <a:ext uri="{FF2B5EF4-FFF2-40B4-BE49-F238E27FC236}">
                <a16:creationId xmlns:a16="http://schemas.microsoft.com/office/drawing/2014/main" id="{7352164D-0DB3-096B-007E-43F755FF41E6}"/>
              </a:ext>
            </a:extLst>
          </p:cNvPr>
          <p:cNvSpPr txBox="1">
            <a:spLocks noChangeArrowheads="1"/>
          </p:cNvSpPr>
          <p:nvPr/>
        </p:nvSpPr>
        <p:spPr bwMode="auto">
          <a:xfrm>
            <a:off x="2498698" y="1660969"/>
            <a:ext cx="13385314" cy="7966603"/>
          </a:xfrm>
          <a:prstGeom prst="rect">
            <a:avLst/>
          </a:prstGeom>
          <a:noFill/>
          <a:ln w="9525">
            <a:solidFill>
              <a:srgbClr val="002060"/>
            </a:solidFill>
            <a:miter lim="800000"/>
            <a:headEnd/>
            <a:tailEnd/>
          </a:ln>
        </p:spPr>
        <p:txBody>
          <a:bodyPr wrap="square">
            <a:spAutoFit/>
          </a:bodyPr>
          <a:lstStyle/>
          <a:p>
            <a:pPr>
              <a:lnSpc>
                <a:spcPct val="150000"/>
              </a:lnSpc>
            </a:pPr>
            <a:r>
              <a:rPr lang="en-IN" b="1" u="sng" dirty="0">
                <a:solidFill>
                  <a:srgbClr val="2850FC"/>
                </a:solidFill>
                <a:latin typeface="Times New Roman" panose="02020603050405020304" pitchFamily="18" charset="0"/>
                <a:cs typeface="Times New Roman" panose="02020603050405020304" pitchFamily="18" charset="0"/>
              </a:rPr>
              <a:t>Concentrated Winding</a:t>
            </a:r>
          </a:p>
          <a:p>
            <a:pPr marL="285750" indent="-285750">
              <a:lnSpc>
                <a:spcPct val="150000"/>
              </a:lnSpc>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In a concentrated winding, the electromotive forces induced in phases a, b, and c are in space phase.</a:t>
            </a:r>
          </a:p>
          <a:p>
            <a:pPr marL="285750" indent="-285750">
              <a:lnSpc>
                <a:spcPct val="150000"/>
              </a:lnSpc>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The resultant electromotive force is obtained by the arithmetic sum of the phase electromotive forces.</a:t>
            </a:r>
          </a:p>
          <a:p>
            <a:pPr marL="285750" indent="-285750">
              <a:lnSpc>
                <a:spcPct val="150000"/>
              </a:lnSpc>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Hence, the resultant electromotive force is:</a:t>
            </a:r>
            <a:endParaRPr lang="ar-AE" sz="2400" b="1" dirty="0">
              <a:solidFill>
                <a:srgbClr val="7030A0"/>
              </a:solidFill>
              <a:latin typeface="Times New Roman" panose="02020603050405020304" pitchFamily="18" charset="0"/>
              <a:cs typeface="Times New Roman" panose="02020603050405020304" pitchFamily="18" charset="0"/>
            </a:endParaRPr>
          </a:p>
          <a:p>
            <a:pPr>
              <a:lnSpc>
                <a:spcPct val="150000"/>
              </a:lnSpc>
            </a:pPr>
            <a:endParaRPr lang="ar-AE" sz="2400" b="1" dirty="0">
              <a:solidFill>
                <a:srgbClr val="7030A0"/>
              </a:solidFill>
              <a:latin typeface="Times New Roman" panose="02020603050405020304" pitchFamily="18" charset="0"/>
              <a:cs typeface="Times New Roman" panose="02020603050405020304" pitchFamily="18" charset="0"/>
            </a:endParaRPr>
          </a:p>
          <a:p>
            <a:pPr>
              <a:lnSpc>
                <a:spcPct val="150000"/>
              </a:lnSpc>
            </a:pPr>
            <a:r>
              <a:rPr lang="en-IN" b="1" u="sng" dirty="0">
                <a:solidFill>
                  <a:srgbClr val="2850FC"/>
                </a:solidFill>
                <a:latin typeface="Times New Roman" panose="02020603050405020304" pitchFamily="18" charset="0"/>
                <a:cs typeface="Times New Roman" panose="02020603050405020304" pitchFamily="18" charset="0"/>
              </a:rPr>
              <a:t>Distributed Winding</a:t>
            </a:r>
          </a:p>
          <a:p>
            <a:pPr marL="285750" indent="-285750">
              <a:lnSpc>
                <a:spcPct val="150000"/>
              </a:lnSpc>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In a distributed winding, the phase electromotive forces are spatially displaced.</a:t>
            </a:r>
          </a:p>
          <a:p>
            <a:pPr marL="285750" indent="-285750">
              <a:lnSpc>
                <a:spcPct val="150000"/>
              </a:lnSpc>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The resultant electromotive force is obtained by the vector sum of the phase electromotive forces.</a:t>
            </a:r>
          </a:p>
          <a:p>
            <a:pPr marL="285750" indent="-285750">
              <a:lnSpc>
                <a:spcPct val="150000"/>
              </a:lnSpc>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Therefore, the resultant electromotive force is:</a:t>
            </a:r>
          </a:p>
          <a:p>
            <a:pPr>
              <a:lnSpc>
                <a:spcPct val="150000"/>
              </a:lnSpc>
            </a:pPr>
            <a:endParaRPr lang="en-US" sz="2400" b="1" dirty="0">
              <a:solidFill>
                <a:srgbClr val="7030A0"/>
              </a:solidFill>
              <a:latin typeface="Times New Roman" panose="02020603050405020304" pitchFamily="18" charset="0"/>
              <a:cs typeface="Times New Roman" panose="02020603050405020304" pitchFamily="18" charset="0"/>
            </a:endParaRPr>
          </a:p>
          <a:p>
            <a:pPr>
              <a:lnSpc>
                <a:spcPct val="150000"/>
              </a:lnSpc>
            </a:pPr>
            <a:endParaRPr lang="ar-AE" sz="2400" b="1" dirty="0">
              <a:solidFill>
                <a:srgbClr val="7030A0"/>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As a result, the electromotive force per phase is reduced.</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453DE45-5616-D152-3394-54A3445D91E2}"/>
                  </a:ext>
                </a:extLst>
              </p:cNvPr>
              <p:cNvSpPr/>
              <p:nvPr/>
            </p:nvSpPr>
            <p:spPr>
              <a:xfrm>
                <a:off x="7952490" y="5143500"/>
                <a:ext cx="2477730" cy="71160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ar-AE" b="1" i="1">
                              <a:solidFill>
                                <a:schemeClr val="tx1"/>
                              </a:solidFill>
                              <a:latin typeface="Cambria Math" panose="02040503050406030204" pitchFamily="18" charset="0"/>
                            </a:rPr>
                          </m:ctrlPr>
                        </m:sSubPr>
                        <m:e>
                          <m:r>
                            <a:rPr lang="ar-AE" b="1" i="1">
                              <a:solidFill>
                                <a:schemeClr val="tx1"/>
                              </a:solidFill>
                              <a:latin typeface="Cambria Math" panose="02040503050406030204" pitchFamily="18" charset="0"/>
                            </a:rPr>
                            <m:t>𝑬</m:t>
                          </m:r>
                        </m:e>
                        <m:sub>
                          <m:r>
                            <a:rPr lang="ar-AE" b="1" i="1">
                              <a:solidFill>
                                <a:schemeClr val="tx1"/>
                              </a:solidFill>
                              <a:latin typeface="Cambria Math" panose="02040503050406030204" pitchFamily="18" charset="0"/>
                            </a:rPr>
                            <m:t>𝒂</m:t>
                          </m:r>
                        </m:sub>
                      </m:sSub>
                      <m:r>
                        <a:rPr lang="ar-AE" b="1">
                          <a:solidFill>
                            <a:schemeClr val="tx1"/>
                          </a:solidFill>
                          <a:latin typeface="Cambria Math" panose="02040503050406030204" pitchFamily="18" charset="0"/>
                        </a:rPr>
                        <m:t>+</m:t>
                      </m:r>
                      <m:sSub>
                        <m:sSubPr>
                          <m:ctrlPr>
                            <a:rPr lang="ar-AE" b="1" i="1">
                              <a:solidFill>
                                <a:schemeClr val="tx1"/>
                              </a:solidFill>
                              <a:latin typeface="Cambria Math" panose="02040503050406030204" pitchFamily="18" charset="0"/>
                            </a:rPr>
                          </m:ctrlPr>
                        </m:sSubPr>
                        <m:e>
                          <m:r>
                            <a:rPr lang="ar-AE" b="1" i="1">
                              <a:solidFill>
                                <a:schemeClr val="tx1"/>
                              </a:solidFill>
                              <a:latin typeface="Cambria Math" panose="02040503050406030204" pitchFamily="18" charset="0"/>
                            </a:rPr>
                            <m:t>𝑬</m:t>
                          </m:r>
                        </m:e>
                        <m:sub>
                          <m:r>
                            <a:rPr lang="ar-AE" b="1" i="1">
                              <a:solidFill>
                                <a:schemeClr val="tx1"/>
                              </a:solidFill>
                              <a:latin typeface="Cambria Math" panose="02040503050406030204" pitchFamily="18" charset="0"/>
                            </a:rPr>
                            <m:t>𝒃</m:t>
                          </m:r>
                        </m:sub>
                      </m:sSub>
                      <m:r>
                        <a:rPr lang="ar-AE" b="1">
                          <a:solidFill>
                            <a:schemeClr val="tx1"/>
                          </a:solidFill>
                          <a:latin typeface="Cambria Math" panose="02040503050406030204" pitchFamily="18" charset="0"/>
                        </a:rPr>
                        <m:t>+</m:t>
                      </m:r>
                      <m:sSub>
                        <m:sSubPr>
                          <m:ctrlPr>
                            <a:rPr lang="ar-AE" b="1" i="1">
                              <a:solidFill>
                                <a:schemeClr val="tx1"/>
                              </a:solidFill>
                              <a:latin typeface="Cambria Math" panose="02040503050406030204" pitchFamily="18" charset="0"/>
                            </a:rPr>
                          </m:ctrlPr>
                        </m:sSubPr>
                        <m:e>
                          <m:r>
                            <a:rPr lang="ar-AE" b="1" i="1">
                              <a:solidFill>
                                <a:schemeClr val="tx1"/>
                              </a:solidFill>
                              <a:latin typeface="Cambria Math" panose="02040503050406030204" pitchFamily="18" charset="0"/>
                            </a:rPr>
                            <m:t>𝑬</m:t>
                          </m:r>
                        </m:e>
                        <m:sub>
                          <m:r>
                            <a:rPr lang="ar-AE" b="1" i="1">
                              <a:solidFill>
                                <a:schemeClr val="tx1"/>
                              </a:solidFill>
                              <a:latin typeface="Cambria Math" panose="02040503050406030204" pitchFamily="18" charset="0"/>
                            </a:rPr>
                            <m:t>𝒄</m:t>
                          </m:r>
                        </m:sub>
                      </m:sSub>
                    </m:oMath>
                  </m:oMathPara>
                </a14:m>
                <a:endParaRPr lang="en-IN" dirty="0"/>
              </a:p>
            </p:txBody>
          </p:sp>
        </mc:Choice>
        <mc:Fallback xmlns="">
          <p:sp>
            <p:nvSpPr>
              <p:cNvPr id="6" name="Rectangle 5">
                <a:extLst>
                  <a:ext uri="{FF2B5EF4-FFF2-40B4-BE49-F238E27FC236}">
                    <a16:creationId xmlns:a16="http://schemas.microsoft.com/office/drawing/2014/main" id="{1453DE45-5616-D152-3394-54A3445D91E2}"/>
                  </a:ext>
                </a:extLst>
              </p:cNvPr>
              <p:cNvSpPr>
                <a:spLocks noRot="1" noChangeAspect="1" noMove="1" noResize="1" noEditPoints="1" noAdjustHandles="1" noChangeArrowheads="1" noChangeShapeType="1" noTextEdit="1"/>
              </p:cNvSpPr>
              <p:nvPr/>
            </p:nvSpPr>
            <p:spPr>
              <a:xfrm>
                <a:off x="7952490" y="5143500"/>
                <a:ext cx="2477730" cy="711609"/>
              </a:xfrm>
              <a:prstGeom prst="rect">
                <a:avLst/>
              </a:prstGeom>
              <a:blipFill>
                <a:blip r:embed="R94bcd5b0b2cd43a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E523362B-4044-3A5A-31DA-A2000312144D}"/>
                  </a:ext>
                </a:extLst>
              </p:cNvPr>
              <p:cNvSpPr/>
              <p:nvPr/>
            </p:nvSpPr>
            <p:spPr>
              <a:xfrm>
                <a:off x="6717890" y="7607163"/>
                <a:ext cx="5220928" cy="103238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ar-AE"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𝑬</m:t>
                          </m:r>
                        </m:e>
                        <m:sub>
                          <m:r>
                            <a:rPr lang="ar-AE" b="1" i="1">
                              <a:solidFill>
                                <a:schemeClr val="tx1"/>
                              </a:solidFill>
                              <a:latin typeface="Cambria Math" panose="02040503050406030204" pitchFamily="18" charset="0"/>
                            </a:rPr>
                            <m:t>𝒓</m:t>
                          </m:r>
                        </m:sub>
                      </m:sSub>
                      <m:r>
                        <a:rPr lang="ar-AE" b="1">
                          <a:solidFill>
                            <a:schemeClr val="tx1"/>
                          </a:solidFill>
                          <a:latin typeface="Cambria Math" panose="02040503050406030204" pitchFamily="18" charset="0"/>
                        </a:rPr>
                        <m:t>=</m:t>
                      </m:r>
                      <m:sSub>
                        <m:sSubPr>
                          <m:ctrlPr>
                            <a:rPr lang="ar-AE"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𝑬</m:t>
                          </m:r>
                        </m:e>
                        <m:sub>
                          <m:r>
                            <a:rPr lang="ar-AE" b="1" i="1">
                              <a:solidFill>
                                <a:schemeClr val="tx1"/>
                              </a:solidFill>
                              <a:latin typeface="Cambria Math" panose="02040503050406030204" pitchFamily="18" charset="0"/>
                            </a:rPr>
                            <m:t>𝒂</m:t>
                          </m:r>
                        </m:sub>
                      </m:sSub>
                      <m:r>
                        <a:rPr lang="ar-AE" b="1">
                          <a:solidFill>
                            <a:schemeClr val="tx1"/>
                          </a:solidFill>
                          <a:latin typeface="Cambria Math" panose="02040503050406030204" pitchFamily="18" charset="0"/>
                        </a:rPr>
                        <m:t>+</m:t>
                      </m:r>
                      <m:sSub>
                        <m:sSubPr>
                          <m:ctrlPr>
                            <a:rPr lang="ar-AE"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𝑬</m:t>
                          </m:r>
                        </m:e>
                        <m:sub>
                          <m:r>
                            <a:rPr lang="ar-AE" b="1" i="1">
                              <a:solidFill>
                                <a:schemeClr val="tx1"/>
                              </a:solidFill>
                              <a:latin typeface="Cambria Math" panose="02040503050406030204" pitchFamily="18" charset="0"/>
                            </a:rPr>
                            <m:t>𝒃</m:t>
                          </m:r>
                        </m:sub>
                      </m:sSub>
                      <m:r>
                        <a:rPr lang="ar-AE" b="1">
                          <a:solidFill>
                            <a:schemeClr val="tx1"/>
                          </a:solidFill>
                          <a:latin typeface="Cambria Math" panose="02040503050406030204" pitchFamily="18" charset="0"/>
                        </a:rPr>
                        <m:t>+</m:t>
                      </m:r>
                      <m:sSub>
                        <m:sSubPr>
                          <m:ctrlPr>
                            <a:rPr lang="ar-AE"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𝑬</m:t>
                          </m:r>
                        </m:e>
                        <m:sub>
                          <m:r>
                            <a:rPr lang="ar-AE" b="1" i="1">
                              <a:solidFill>
                                <a:schemeClr val="tx1"/>
                              </a:solidFill>
                              <a:latin typeface="Cambria Math" panose="02040503050406030204" pitchFamily="18" charset="0"/>
                            </a:rPr>
                            <m:t>𝒄</m:t>
                          </m:r>
                        </m:sub>
                      </m:sSub>
                      <m:r>
                        <a:rPr lang="ar-AE" b="1">
                          <a:solidFill>
                            <a:schemeClr val="tx1"/>
                          </a:solidFill>
                          <a:latin typeface="Cambria Math" panose="02040503050406030204" pitchFamily="18" charset="0"/>
                        </a:rPr>
                        <m:t> </m:t>
                      </m:r>
                      <m:d>
                        <m:dPr>
                          <m:ctrlPr>
                            <a:rPr lang="ar-AE" b="1" i="1">
                              <a:solidFill>
                                <a:schemeClr val="tx1"/>
                              </a:solidFill>
                              <a:latin typeface="Cambria Math" panose="02040503050406030204" pitchFamily="18" charset="0"/>
                            </a:rPr>
                          </m:ctrlPr>
                        </m:dPr>
                        <m:e>
                          <m:r>
                            <m:rPr>
                              <m:nor/>
                            </m:rPr>
                            <a:rPr lang="en-IN" b="1" i="1">
                              <a:solidFill>
                                <a:schemeClr val="tx1"/>
                              </a:solidFill>
                              <a:latin typeface="Times New Roman" panose="02020603050405020304" pitchFamily="18" charset="0"/>
                              <a:cs typeface="Times New Roman" panose="02020603050405020304" pitchFamily="18" charset="0"/>
                            </a:rPr>
                            <m:t>vector</m:t>
                          </m:r>
                          <m:r>
                            <m:rPr>
                              <m:nor/>
                            </m:rPr>
                            <a:rPr lang="en-IN" b="1" i="1">
                              <a:solidFill>
                                <a:schemeClr val="tx1"/>
                              </a:solidFill>
                              <a:latin typeface="Times New Roman" panose="02020603050405020304" pitchFamily="18" charset="0"/>
                              <a:cs typeface="Times New Roman" panose="02020603050405020304" pitchFamily="18" charset="0"/>
                            </a:rPr>
                            <m:t> </m:t>
                          </m:r>
                          <m:r>
                            <m:rPr>
                              <m:nor/>
                            </m:rPr>
                            <a:rPr lang="en-IN" b="1" i="1">
                              <a:solidFill>
                                <a:schemeClr val="tx1"/>
                              </a:solidFill>
                              <a:latin typeface="Times New Roman" panose="02020603050405020304" pitchFamily="18" charset="0"/>
                              <a:cs typeface="Times New Roman" panose="02020603050405020304" pitchFamily="18" charset="0"/>
                            </a:rPr>
                            <m:t>sum</m:t>
                          </m:r>
                        </m:e>
                      </m:d>
                    </m:oMath>
                  </m:oMathPara>
                </a14:m>
                <a:endParaRPr lang="en-IN" dirty="0"/>
              </a:p>
            </p:txBody>
          </p:sp>
        </mc:Choice>
        <mc:Fallback xmlns="">
          <p:sp>
            <p:nvSpPr>
              <p:cNvPr id="7" name="Rectangle 6">
                <a:extLst>
                  <a:ext uri="{FF2B5EF4-FFF2-40B4-BE49-F238E27FC236}">
                    <a16:creationId xmlns:a16="http://schemas.microsoft.com/office/drawing/2014/main" id="{E523362B-4044-3A5A-31DA-A2000312144D}"/>
                  </a:ext>
                </a:extLst>
              </p:cNvPr>
              <p:cNvSpPr>
                <a:spLocks noRot="1" noChangeAspect="1" noMove="1" noResize="1" noEditPoints="1" noAdjustHandles="1" noChangeArrowheads="1" noChangeShapeType="1" noTextEdit="1"/>
              </p:cNvSpPr>
              <p:nvPr/>
            </p:nvSpPr>
            <p:spPr>
              <a:xfrm>
                <a:off x="6717890" y="7607163"/>
                <a:ext cx="5220928" cy="1032387"/>
              </a:xfrm>
              <a:prstGeom prst="rect">
                <a:avLst/>
              </a:prstGeom>
              <a:blipFill>
                <a:blip r:embed="rId3"/>
                <a:stretch>
                  <a:fillRect/>
                </a:stretch>
              </a:blipFill>
            </p:spPr>
            <p:txBody>
              <a:bodyPr/>
              <a:lstStyle/>
              <a:p>
                <a:r>
                  <a:rPr lang="en-IN">
                    <a:noFill/>
                  </a:rPr>
                  <a:t> </a:t>
                </a:r>
              </a:p>
            </p:txBody>
          </p:sp>
        </mc:Fallback>
      </mc:AlternateContent>
      <p:cxnSp>
        <p:nvCxnSpPr>
          <p:cNvPr id="9" name="Straight Arrow Connector 8">
            <a:extLst>
              <a:ext uri="{FF2B5EF4-FFF2-40B4-BE49-F238E27FC236}">
                <a16:creationId xmlns:a16="http://schemas.microsoft.com/office/drawing/2014/main" id="{936167C7-1CAE-E641-80D1-C8E513493F65}"/>
              </a:ext>
            </a:extLst>
          </p:cNvPr>
          <p:cNvCxnSpPr/>
          <p:nvPr/>
        </p:nvCxnSpPr>
        <p:spPr>
          <a:xfrm>
            <a:off x="7465794" y="7884238"/>
            <a:ext cx="48669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5C7BBF6-1CE4-2BA1-FE43-F1AD7BEBBEE1}"/>
              </a:ext>
            </a:extLst>
          </p:cNvPr>
          <p:cNvCxnSpPr/>
          <p:nvPr/>
        </p:nvCxnSpPr>
        <p:spPr>
          <a:xfrm>
            <a:off x="8170608" y="7869491"/>
            <a:ext cx="48669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FB7D4E9-B162-1E51-EA4A-C3D067F90E5E}"/>
              </a:ext>
            </a:extLst>
          </p:cNvPr>
          <p:cNvCxnSpPr/>
          <p:nvPr/>
        </p:nvCxnSpPr>
        <p:spPr>
          <a:xfrm>
            <a:off x="8657304" y="7810500"/>
            <a:ext cx="48669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72B373B-6C46-71EE-DD62-67E09E83B701}"/>
              </a:ext>
            </a:extLst>
          </p:cNvPr>
          <p:cNvCxnSpPr/>
          <p:nvPr/>
        </p:nvCxnSpPr>
        <p:spPr>
          <a:xfrm>
            <a:off x="9328354" y="7869491"/>
            <a:ext cx="48669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5013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2970849-007A-E7F2-7B4C-9D2DB84228F2}"/>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3" name="TextBox 1">
            <a:extLst>
              <a:ext uri="{FF2B5EF4-FFF2-40B4-BE49-F238E27FC236}">
                <a16:creationId xmlns:a16="http://schemas.microsoft.com/office/drawing/2014/main" id="{F44CD801-3CF2-11CC-682F-E025D7D87F05}"/>
              </a:ext>
            </a:extLst>
          </p:cNvPr>
          <p:cNvSpPr txBox="1">
            <a:spLocks noChangeArrowheads="1"/>
          </p:cNvSpPr>
          <p:nvPr/>
        </p:nvSpPr>
        <p:spPr bwMode="auto">
          <a:xfrm>
            <a:off x="2286000" y="844993"/>
            <a:ext cx="13716000" cy="692497"/>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IN" sz="3600" b="1" dirty="0">
                <a:latin typeface="Times New Roman" panose="02020603050405020304" pitchFamily="18" charset="0"/>
                <a:cs typeface="Times New Roman" panose="02020603050405020304" pitchFamily="18" charset="0"/>
              </a:rPr>
              <a:t>Distributed Factor (kd</a:t>
            </a:r>
            <a:r>
              <a:rPr lang="en-IN" sz="3600" dirty="0"/>
              <a:t>​</a:t>
            </a:r>
            <a:r>
              <a:rPr lang="en-IN" sz="3600" b="1" dirty="0">
                <a:latin typeface="Times New Roman" panose="02020603050405020304" pitchFamily="18" charset="0"/>
                <a:cs typeface="Times New Roman" panose="02020603050405020304" pitchFamily="18" charset="0"/>
              </a:rPr>
              <a:t>)</a:t>
            </a:r>
            <a:endParaRPr kumimoji="0" lang="en-US" sz="36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4" name="Picture 81">
            <a:extLst>
              <a:ext uri="{FF2B5EF4-FFF2-40B4-BE49-F238E27FC236}">
                <a16:creationId xmlns:a16="http://schemas.microsoft.com/office/drawing/2014/main" id="{B5D77F21-544E-7B80-551D-10358E9F8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2">
                <a:extLst>
                  <a:ext uri="{FF2B5EF4-FFF2-40B4-BE49-F238E27FC236}">
                    <a16:creationId xmlns:a16="http://schemas.microsoft.com/office/drawing/2014/main" id="{AC5E3B1F-D67D-61AE-FFBD-0FCB2B1E3EAA}"/>
                  </a:ext>
                </a:extLst>
              </p:cNvPr>
              <p:cNvSpPr txBox="1">
                <a:spLocks noChangeArrowheads="1"/>
              </p:cNvSpPr>
              <p:nvPr/>
            </p:nvSpPr>
            <p:spPr bwMode="auto">
              <a:xfrm>
                <a:off x="2498698" y="1660969"/>
                <a:ext cx="13385314" cy="8324394"/>
              </a:xfrm>
              <a:prstGeom prst="rect">
                <a:avLst/>
              </a:prstGeom>
              <a:noFill/>
              <a:ln w="9525">
                <a:solidFill>
                  <a:srgbClr val="002060"/>
                </a:solidFill>
                <a:miter lim="800000"/>
                <a:headEnd/>
                <a:tailEnd/>
              </a:ln>
            </p:spPr>
            <p:txBody>
              <a:bodyPr wrap="square">
                <a:spAutoFit/>
              </a:bodyPr>
              <a:lstStyle/>
              <a:p>
                <a:pPr>
                  <a:lnSpc>
                    <a:spcPct val="150000"/>
                  </a:lnSpc>
                </a:pPr>
                <a:r>
                  <a:rPr lang="en-IN" sz="2850" b="1" u="sng" dirty="0">
                    <a:solidFill>
                      <a:srgbClr val="2850FC"/>
                    </a:solidFill>
                    <a:latin typeface="Times New Roman" panose="02020603050405020304" pitchFamily="18" charset="0"/>
                    <a:cs typeface="Times New Roman" panose="02020603050405020304" pitchFamily="18" charset="0"/>
                  </a:rPr>
                  <a:t>Definition: </a:t>
                </a:r>
              </a:p>
              <a:p>
                <a:pPr marL="285750" indent="-285750">
                  <a:lnSpc>
                    <a:spcPct val="150000"/>
                  </a:lnSpc>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The distributed factor (also called breadth factor) is defined as the ratio of the electromotive force induced in a distributed winding to the electromotive force induced in a concentrated winding.</a:t>
                </a:r>
              </a:p>
              <a:p>
                <a:pPr>
                  <a:lnSpc>
                    <a:spcPct val="150000"/>
                  </a:lnSpc>
                </a:pPr>
                <a:endParaRPr lang="ar-AE" sz="2400" b="1" dirty="0">
                  <a:solidFill>
                    <a:srgbClr val="7030A0"/>
                  </a:solidFill>
                  <a:latin typeface="Times New Roman" panose="02020603050405020304" pitchFamily="18" charset="0"/>
                  <a:cs typeface="Times New Roman" panose="02020603050405020304" pitchFamily="18" charset="0"/>
                </a:endParaRPr>
              </a:p>
              <a:p>
                <a:pPr>
                  <a:lnSpc>
                    <a:spcPct val="150000"/>
                  </a:lnSpc>
                </a:pPr>
                <a:br>
                  <a:rPr lang="ar-AE" sz="2400" b="1" dirty="0">
                    <a:solidFill>
                      <a:srgbClr val="7030A0"/>
                    </a:solidFill>
                    <a:latin typeface="Times New Roman" panose="02020603050405020304" pitchFamily="18" charset="0"/>
                    <a:cs typeface="Times New Roman" panose="02020603050405020304" pitchFamily="18" charset="0"/>
                  </a:rPr>
                </a:br>
                <a:endParaRPr lang="ar-AE" sz="2400" b="1" dirty="0">
                  <a:solidFill>
                    <a:srgbClr val="7030A0"/>
                  </a:solidFill>
                  <a:latin typeface="Times New Roman" panose="02020603050405020304" pitchFamily="18" charset="0"/>
                  <a:cs typeface="Times New Roman" panose="02020603050405020304" pitchFamily="18" charset="0"/>
                </a:endParaRPr>
              </a:p>
              <a:p>
                <a:pPr>
                  <a:lnSpc>
                    <a:spcPct val="150000"/>
                  </a:lnSpc>
                </a:pPr>
                <a:r>
                  <a:rPr lang="en-IN" b="1" u="sng" dirty="0">
                    <a:solidFill>
                      <a:srgbClr val="2850FC"/>
                    </a:solidFill>
                    <a:latin typeface="Times New Roman" panose="02020603050405020304" pitchFamily="18" charset="0"/>
                    <a:cs typeface="Times New Roman" panose="02020603050405020304" pitchFamily="18" charset="0"/>
                  </a:rPr>
                  <a:t>EMF Expression:</a:t>
                </a: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For a concentrated winding, the induced electromotive force is:</a:t>
                </a:r>
              </a:p>
              <a:p>
                <a:pPr/>
                <a14:m>
                  <m:oMathPara xmlns:m="http://schemas.openxmlformats.org/officeDocument/2006/math">
                    <m:oMathParaPr>
                      <m:jc m:val="centerGroup"/>
                    </m:oMathParaPr>
                    <m:oMath xmlns:m="http://schemas.openxmlformats.org/officeDocument/2006/math">
                      <m:r>
                        <a:rPr lang="en-IN" b="1" i="1">
                          <a:solidFill>
                            <a:schemeClr val="tx1"/>
                          </a:solidFill>
                          <a:latin typeface="Cambria Math" panose="02040503050406030204" pitchFamily="18" charset="0"/>
                        </a:rPr>
                        <m:t>𝑬</m:t>
                      </m:r>
                      <m:r>
                        <a:rPr lang="en-IN" b="1">
                          <a:solidFill>
                            <a:schemeClr val="tx1"/>
                          </a:solidFill>
                          <a:latin typeface="Cambria Math" panose="02040503050406030204" pitchFamily="18" charset="0"/>
                        </a:rPr>
                        <m:t>=</m:t>
                      </m:r>
                      <m:r>
                        <a:rPr lang="en-IN" b="1" i="1">
                          <a:solidFill>
                            <a:schemeClr val="tx1"/>
                          </a:solidFill>
                          <a:latin typeface="Cambria Math" panose="02040503050406030204" pitchFamily="18" charset="0"/>
                        </a:rPr>
                        <m:t>𝟒</m:t>
                      </m:r>
                      <m:r>
                        <a:rPr lang="en-IN" b="1">
                          <a:solidFill>
                            <a:schemeClr val="tx1"/>
                          </a:solidFill>
                          <a:latin typeface="Cambria Math" panose="02040503050406030204" pitchFamily="18" charset="0"/>
                        </a:rPr>
                        <m:t>.</m:t>
                      </m:r>
                      <m:r>
                        <a:rPr lang="en-IN" b="1" i="1">
                          <a:solidFill>
                            <a:schemeClr val="tx1"/>
                          </a:solidFill>
                          <a:latin typeface="Cambria Math" panose="02040503050406030204" pitchFamily="18" charset="0"/>
                        </a:rPr>
                        <m:t>𝟒𝟒</m:t>
                      </m:r>
                      <m:r>
                        <m:rPr>
                          <m:nor/>
                        </m:rPr>
                        <a:rPr lang="en-IN" b="1" i="1">
                          <a:solidFill>
                            <a:schemeClr val="tx1"/>
                          </a:solidFill>
                          <a:latin typeface="Times New Roman" panose="02020603050405020304" pitchFamily="18" charset="0"/>
                          <a:cs typeface="Times New Roman" panose="02020603050405020304" pitchFamily="18" charset="0"/>
                        </a:rPr>
                        <m:t> </m:t>
                      </m:r>
                      <m:r>
                        <a:rPr lang="en-IN" b="1" i="1">
                          <a:solidFill>
                            <a:schemeClr val="tx1"/>
                          </a:solidFill>
                          <a:latin typeface="Cambria Math" panose="02040503050406030204" pitchFamily="18" charset="0"/>
                        </a:rPr>
                        <m:t>𝒇</m:t>
                      </m:r>
                      <m:r>
                        <m:rPr>
                          <m:nor/>
                        </m:rPr>
                        <a:rPr lang="en-IN" b="1" i="1">
                          <a:solidFill>
                            <a:schemeClr val="tx1"/>
                          </a:solidFill>
                          <a:latin typeface="Times New Roman" panose="02020603050405020304" pitchFamily="18" charset="0"/>
                          <a:cs typeface="Times New Roman" panose="02020603050405020304" pitchFamily="18" charset="0"/>
                        </a:rPr>
                        <m:t> </m:t>
                      </m:r>
                      <m:r>
                        <a:rPr lang="el-GR" b="1" i="1">
                          <a:solidFill>
                            <a:schemeClr val="tx1"/>
                          </a:solidFill>
                          <a:latin typeface="Cambria Math" panose="02040503050406030204" pitchFamily="18" charset="0"/>
                        </a:rPr>
                        <m:t>𝚽</m:t>
                      </m:r>
                      <m:r>
                        <m:rPr>
                          <m:nor/>
                        </m:rPr>
                        <a:rPr lang="el-GR" b="1" i="1">
                          <a:solidFill>
                            <a:schemeClr val="tx1"/>
                          </a:solidFill>
                          <a:latin typeface="Times New Roman" panose="02020603050405020304" pitchFamily="18" charset="0"/>
                          <a:cs typeface="Times New Roman" panose="02020603050405020304" pitchFamily="18" charset="0"/>
                        </a:rPr>
                        <m:t> </m:t>
                      </m:r>
                      <m:r>
                        <a:rPr lang="el-GR" b="1" i="1">
                          <a:solidFill>
                            <a:schemeClr val="tx1"/>
                          </a:solidFill>
                          <a:latin typeface="Cambria Math" panose="02040503050406030204" pitchFamily="18" charset="0"/>
                        </a:rPr>
                        <m:t>𝑻</m:t>
                      </m:r>
                    </m:oMath>
                  </m:oMathPara>
                </a14:m>
                <a:endParaRPr lang="el-GR" sz="2400" b="1"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For a distributed winding, the induced electromotive force is:</a:t>
                </a:r>
              </a:p>
              <a:p>
                <a:pPr/>
                <a14:m>
                  <m:oMathPara xmlns:m="http://schemas.openxmlformats.org/officeDocument/2006/math">
                    <m:oMathParaPr>
                      <m:jc m:val="centerGroup"/>
                    </m:oMathParaPr>
                    <m:oMath xmlns:m="http://schemas.openxmlformats.org/officeDocument/2006/math">
                      <m:r>
                        <a:rPr lang="en-IN" b="1" i="1">
                          <a:solidFill>
                            <a:schemeClr val="tx1"/>
                          </a:solidFill>
                          <a:latin typeface="Cambria Math" panose="02040503050406030204" pitchFamily="18" charset="0"/>
                        </a:rPr>
                        <m:t>𝑬</m:t>
                      </m:r>
                      <m:r>
                        <a:rPr lang="en-IN" b="1">
                          <a:solidFill>
                            <a:schemeClr val="tx1"/>
                          </a:solidFill>
                          <a:latin typeface="Cambria Math" panose="02040503050406030204" pitchFamily="18" charset="0"/>
                        </a:rPr>
                        <m:t>=</m:t>
                      </m:r>
                      <m:r>
                        <a:rPr lang="en-IN" b="1" i="1">
                          <a:solidFill>
                            <a:schemeClr val="tx1"/>
                          </a:solidFill>
                          <a:latin typeface="Cambria Math" panose="02040503050406030204" pitchFamily="18" charset="0"/>
                        </a:rPr>
                        <m:t>𝟒</m:t>
                      </m:r>
                      <m:r>
                        <a:rPr lang="en-IN" b="1">
                          <a:solidFill>
                            <a:schemeClr val="tx1"/>
                          </a:solidFill>
                          <a:latin typeface="Cambria Math" panose="02040503050406030204" pitchFamily="18" charset="0"/>
                        </a:rPr>
                        <m:t>.</m:t>
                      </m:r>
                      <m:r>
                        <a:rPr lang="en-IN" b="1" i="1">
                          <a:solidFill>
                            <a:schemeClr val="tx1"/>
                          </a:solidFill>
                          <a:latin typeface="Cambria Math" panose="02040503050406030204" pitchFamily="18" charset="0"/>
                        </a:rPr>
                        <m:t>𝟒𝟒</m:t>
                      </m:r>
                      <m:r>
                        <m:rPr>
                          <m:nor/>
                        </m:rPr>
                        <a:rPr lang="en-IN" b="1" i="1">
                          <a:solidFill>
                            <a:schemeClr val="tx1"/>
                          </a:solidFill>
                          <a:latin typeface="Times New Roman" panose="02020603050405020304" pitchFamily="18" charset="0"/>
                          <a:cs typeface="Times New Roman" panose="02020603050405020304" pitchFamily="18" charset="0"/>
                        </a:rPr>
                        <m:t> </m:t>
                      </m:r>
                      <m:r>
                        <a:rPr lang="en-IN" b="1" i="1">
                          <a:solidFill>
                            <a:schemeClr val="tx1"/>
                          </a:solidFill>
                          <a:latin typeface="Cambria Math" panose="02040503050406030204" pitchFamily="18" charset="0"/>
                        </a:rPr>
                        <m:t>𝒇</m:t>
                      </m:r>
                      <m:r>
                        <m:rPr>
                          <m:nor/>
                        </m:rPr>
                        <a:rPr lang="en-IN" b="1" i="1">
                          <a:solidFill>
                            <a:schemeClr val="tx1"/>
                          </a:solidFill>
                          <a:latin typeface="Times New Roman" panose="02020603050405020304" pitchFamily="18" charset="0"/>
                          <a:cs typeface="Times New Roman" panose="02020603050405020304" pitchFamily="18" charset="0"/>
                        </a:rPr>
                        <m:t> </m:t>
                      </m:r>
                      <m:r>
                        <a:rPr lang="el-GR" b="1" i="1">
                          <a:solidFill>
                            <a:schemeClr val="tx1"/>
                          </a:solidFill>
                          <a:latin typeface="Cambria Math" panose="02040503050406030204" pitchFamily="18" charset="0"/>
                        </a:rPr>
                        <m:t>𝚽</m:t>
                      </m:r>
                      <m:r>
                        <m:rPr>
                          <m:nor/>
                        </m:rPr>
                        <a:rPr lang="el-GR" b="1" i="1">
                          <a:solidFill>
                            <a:schemeClr val="tx1"/>
                          </a:solidFill>
                          <a:latin typeface="Times New Roman" panose="02020603050405020304" pitchFamily="18" charset="0"/>
                          <a:cs typeface="Times New Roman" panose="02020603050405020304" pitchFamily="18" charset="0"/>
                        </a:rPr>
                        <m:t> </m:t>
                      </m:r>
                      <m:r>
                        <a:rPr lang="el-GR" b="1" i="1">
                          <a:solidFill>
                            <a:schemeClr val="tx1"/>
                          </a:solidFill>
                          <a:latin typeface="Cambria Math" panose="02040503050406030204" pitchFamily="18" charset="0"/>
                        </a:rPr>
                        <m:t>𝑻</m:t>
                      </m:r>
                      <m:r>
                        <m:rPr>
                          <m:nor/>
                        </m:rPr>
                        <a:rPr lang="el-GR" b="1" i="1">
                          <a:solidFill>
                            <a:schemeClr val="tx1"/>
                          </a:solidFill>
                          <a:latin typeface="Times New Roman" panose="02020603050405020304" pitchFamily="18" charset="0"/>
                          <a:cs typeface="Times New Roman" panose="02020603050405020304" pitchFamily="18" charset="0"/>
                        </a:rPr>
                        <m:t> </m:t>
                      </m:r>
                      <m:sSub>
                        <m:sSubPr>
                          <m:ctrlPr>
                            <a:rPr lang="ar-AE" b="1" i="1">
                              <a:solidFill>
                                <a:schemeClr val="tx1"/>
                              </a:solidFill>
                              <a:latin typeface="Cambria Math" panose="02040503050406030204" pitchFamily="18" charset="0"/>
                            </a:rPr>
                          </m:ctrlPr>
                        </m:sSubPr>
                        <m:e>
                          <m:r>
                            <a:rPr lang="ar-AE" b="1" i="1">
                              <a:solidFill>
                                <a:schemeClr val="tx1"/>
                              </a:solidFill>
                              <a:latin typeface="Cambria Math" panose="02040503050406030204" pitchFamily="18" charset="0"/>
                            </a:rPr>
                            <m:t>𝒌</m:t>
                          </m:r>
                        </m:e>
                        <m:sub>
                          <m:r>
                            <a:rPr lang="ar-AE" b="1" i="1">
                              <a:solidFill>
                                <a:schemeClr val="tx1"/>
                              </a:solidFill>
                              <a:latin typeface="Cambria Math" panose="02040503050406030204" pitchFamily="18" charset="0"/>
                            </a:rPr>
                            <m:t>𝒅</m:t>
                          </m:r>
                        </m:sub>
                      </m:sSub>
                    </m:oMath>
                  </m:oMathPara>
                </a14:m>
                <a:endParaRPr lang="ar-AE" sz="2400" b="1" dirty="0">
                  <a:solidFill>
                    <a:srgbClr val="7030A0"/>
                  </a:solidFill>
                  <a:latin typeface="Times New Roman" panose="02020603050405020304" pitchFamily="18" charset="0"/>
                  <a:cs typeface="Times New Roman" panose="02020603050405020304" pitchFamily="18" charset="0"/>
                </a:endParaRPr>
              </a:p>
              <a:p>
                <a:r>
                  <a:rPr lang="en-IN" b="1" u="sng" dirty="0">
                    <a:solidFill>
                      <a:srgbClr val="2850FC"/>
                    </a:solidFill>
                    <a:latin typeface="Times New Roman" panose="02020603050405020304" pitchFamily="18" charset="0"/>
                    <a:cs typeface="Times New Roman" panose="02020603050405020304" pitchFamily="18" charset="0"/>
                  </a:rPr>
                  <a:t>Slot Angle:</a:t>
                </a: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The slot angle </a:t>
                </a:r>
                <a14:m>
                  <m:oMath xmlns:m="http://schemas.openxmlformats.org/officeDocument/2006/math">
                    <m:r>
                      <a:rPr lang="en-IN" sz="2400" b="1" i="1">
                        <a:solidFill>
                          <a:srgbClr val="7030A0"/>
                        </a:solidFill>
                        <a:latin typeface="Cambria Math" panose="02040503050406030204" pitchFamily="18" charset="0"/>
                      </a:rPr>
                      <m:t>𝜷</m:t>
                    </m:r>
                  </m:oMath>
                </a14:m>
                <a:r>
                  <a:rPr lang="en-IN" sz="2400" b="1" dirty="0">
                    <a:solidFill>
                      <a:srgbClr val="7030A0"/>
                    </a:solidFill>
                    <a:latin typeface="Times New Roman" panose="02020603050405020304" pitchFamily="18" charset="0"/>
                    <a:cs typeface="Times New Roman" panose="02020603050405020304" pitchFamily="18" charset="0"/>
                  </a:rPr>
                  <a:t>is defined as:</a:t>
                </a:r>
              </a:p>
              <a:p>
                <a:endParaRPr lang="en-US" sz="2400" b="1" dirty="0">
                  <a:latin typeface="Times New Roman" panose="02020603050405020304" pitchFamily="18" charset="0"/>
                  <a:cs typeface="Times New Roman" panose="02020603050405020304" pitchFamily="18" charset="0"/>
                </a:endParaRPr>
              </a:p>
              <a:p>
                <a:endParaRPr lang="ar-AE" sz="2400" b="1"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IN" sz="2400" b="1" dirty="0">
                  <a:solidFill>
                    <a:srgbClr val="2850FC"/>
                  </a:solidFill>
                  <a:latin typeface="Times New Roman" panose="02020603050405020304" pitchFamily="18" charset="0"/>
                  <a:cs typeface="Times New Roman" panose="02020603050405020304" pitchFamily="18" charset="0"/>
                </a:endParaRPr>
              </a:p>
            </p:txBody>
          </p:sp>
        </mc:Choice>
        <mc:Fallback xmlns="">
          <p:sp>
            <p:nvSpPr>
              <p:cNvPr id="5" name="TextBox 2">
                <a:extLst>
                  <a:ext uri="{FF2B5EF4-FFF2-40B4-BE49-F238E27FC236}">
                    <a16:creationId xmlns:a16="http://schemas.microsoft.com/office/drawing/2014/main" id="{AC5E3B1F-D67D-61AE-FFBD-0FCB2B1E3EAA}"/>
                  </a:ext>
                </a:extLst>
              </p:cNvPr>
              <p:cNvSpPr txBox="1">
                <a:spLocks noRot="1" noChangeAspect="1" noMove="1" noResize="1" noEditPoints="1" noAdjustHandles="1" noChangeArrowheads="1" noChangeShapeType="1" noTextEdit="1"/>
              </p:cNvSpPr>
              <p:nvPr/>
            </p:nvSpPr>
            <p:spPr bwMode="auto">
              <a:xfrm>
                <a:off x="2498698" y="1660969"/>
                <a:ext cx="13385314" cy="8324394"/>
              </a:xfrm>
              <a:prstGeom prst="rect">
                <a:avLst/>
              </a:prstGeom>
              <a:blipFill>
                <a:blip r:embed="R50a15aca50994e45"/>
                <a:stretch>
                  <a:fillRect l="-546"/>
                </a:stretch>
              </a:blipFill>
              <a:ln w="9525">
                <a:solidFill>
                  <a:srgbClr val="002060"/>
                </a:solid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943202E4-60A6-522F-2671-DB7013F56B69}"/>
                  </a:ext>
                </a:extLst>
              </p:cNvPr>
              <p:cNvSpPr/>
              <p:nvPr/>
            </p:nvSpPr>
            <p:spPr>
              <a:xfrm>
                <a:off x="5651742" y="3822255"/>
                <a:ext cx="7415329" cy="16315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ar-AE" b="1" i="1">
                              <a:solidFill>
                                <a:schemeClr val="tx1"/>
                              </a:solidFill>
                              <a:latin typeface="Cambria Math" panose="02040503050406030204" pitchFamily="18" charset="0"/>
                            </a:rPr>
                          </m:ctrlPr>
                        </m:sSubPr>
                        <m:e>
                          <m:r>
                            <a:rPr lang="ar-AE" b="1" i="1">
                              <a:solidFill>
                                <a:schemeClr val="tx1"/>
                              </a:solidFill>
                              <a:latin typeface="Cambria Math" panose="02040503050406030204" pitchFamily="18" charset="0"/>
                            </a:rPr>
                            <m:t>𝒌</m:t>
                          </m:r>
                        </m:e>
                        <m:sub>
                          <m:r>
                            <a:rPr lang="ar-AE" b="1" i="1">
                              <a:solidFill>
                                <a:schemeClr val="tx1"/>
                              </a:solidFill>
                              <a:latin typeface="Cambria Math" panose="02040503050406030204" pitchFamily="18" charset="0"/>
                            </a:rPr>
                            <m:t>𝒅</m:t>
                          </m:r>
                        </m:sub>
                      </m:sSub>
                      <m:r>
                        <a:rPr lang="ar-AE" b="1">
                          <a:solidFill>
                            <a:schemeClr val="tx1"/>
                          </a:solidFill>
                          <a:latin typeface="Cambria Math" panose="02040503050406030204" pitchFamily="18" charset="0"/>
                        </a:rPr>
                        <m:t>=</m:t>
                      </m:r>
                      <m:f>
                        <m:fPr>
                          <m:ctrlPr>
                            <a:rPr lang="ar-AE" b="1" i="1">
                              <a:solidFill>
                                <a:schemeClr val="tx1"/>
                              </a:solidFill>
                              <a:latin typeface="Cambria Math" panose="02040503050406030204" pitchFamily="18" charset="0"/>
                            </a:rPr>
                          </m:ctrlPr>
                        </m:fPr>
                        <m:num>
                          <m:r>
                            <m:rPr>
                              <m:nor/>
                            </m:rPr>
                            <a:rPr lang="en-IN" b="1" i="1">
                              <a:solidFill>
                                <a:schemeClr val="tx1"/>
                              </a:solidFill>
                              <a:latin typeface="Times New Roman" panose="02020603050405020304" pitchFamily="18" charset="0"/>
                              <a:cs typeface="Times New Roman" panose="02020603050405020304" pitchFamily="18" charset="0"/>
                            </a:rPr>
                            <m:t>EMF</m:t>
                          </m:r>
                          <m:r>
                            <m:rPr>
                              <m:nor/>
                            </m:rPr>
                            <a:rPr lang="en-IN" b="1" i="1">
                              <a:solidFill>
                                <a:schemeClr val="tx1"/>
                              </a:solidFill>
                              <a:latin typeface="Times New Roman" panose="02020603050405020304" pitchFamily="18" charset="0"/>
                              <a:cs typeface="Times New Roman" panose="02020603050405020304" pitchFamily="18" charset="0"/>
                            </a:rPr>
                            <m:t> </m:t>
                          </m:r>
                          <m:r>
                            <m:rPr>
                              <m:nor/>
                            </m:rPr>
                            <a:rPr lang="en-IN" b="1" i="1">
                              <a:solidFill>
                                <a:schemeClr val="tx1"/>
                              </a:solidFill>
                              <a:latin typeface="Times New Roman" panose="02020603050405020304" pitchFamily="18" charset="0"/>
                              <a:cs typeface="Times New Roman" panose="02020603050405020304" pitchFamily="18" charset="0"/>
                            </a:rPr>
                            <m:t>induced</m:t>
                          </m:r>
                          <m:r>
                            <m:rPr>
                              <m:nor/>
                            </m:rPr>
                            <a:rPr lang="en-IN" b="1" i="1">
                              <a:solidFill>
                                <a:schemeClr val="tx1"/>
                              </a:solidFill>
                              <a:latin typeface="Times New Roman" panose="02020603050405020304" pitchFamily="18" charset="0"/>
                              <a:cs typeface="Times New Roman" panose="02020603050405020304" pitchFamily="18" charset="0"/>
                            </a:rPr>
                            <m:t> </m:t>
                          </m:r>
                          <m:r>
                            <m:rPr>
                              <m:nor/>
                            </m:rPr>
                            <a:rPr lang="en-IN" b="1" i="1">
                              <a:solidFill>
                                <a:schemeClr val="tx1"/>
                              </a:solidFill>
                              <a:latin typeface="Times New Roman" panose="02020603050405020304" pitchFamily="18" charset="0"/>
                              <a:cs typeface="Times New Roman" panose="02020603050405020304" pitchFamily="18" charset="0"/>
                            </a:rPr>
                            <m:t>in</m:t>
                          </m:r>
                          <m:r>
                            <m:rPr>
                              <m:nor/>
                            </m:rPr>
                            <a:rPr lang="en-IN" b="1" i="1">
                              <a:solidFill>
                                <a:schemeClr val="tx1"/>
                              </a:solidFill>
                              <a:latin typeface="Times New Roman" panose="02020603050405020304" pitchFamily="18" charset="0"/>
                              <a:cs typeface="Times New Roman" panose="02020603050405020304" pitchFamily="18" charset="0"/>
                            </a:rPr>
                            <m:t> </m:t>
                          </m:r>
                          <m:r>
                            <m:rPr>
                              <m:nor/>
                            </m:rPr>
                            <a:rPr lang="en-IN" b="1" i="1">
                              <a:solidFill>
                                <a:schemeClr val="tx1"/>
                              </a:solidFill>
                              <a:latin typeface="Times New Roman" panose="02020603050405020304" pitchFamily="18" charset="0"/>
                              <a:cs typeface="Times New Roman" panose="02020603050405020304" pitchFamily="18" charset="0"/>
                            </a:rPr>
                            <m:t>distributed</m:t>
                          </m:r>
                          <m:r>
                            <m:rPr>
                              <m:nor/>
                            </m:rPr>
                            <a:rPr lang="en-IN" b="1" i="1">
                              <a:solidFill>
                                <a:schemeClr val="tx1"/>
                              </a:solidFill>
                              <a:latin typeface="Times New Roman" panose="02020603050405020304" pitchFamily="18" charset="0"/>
                              <a:cs typeface="Times New Roman" panose="02020603050405020304" pitchFamily="18" charset="0"/>
                            </a:rPr>
                            <m:t> </m:t>
                          </m:r>
                          <m:r>
                            <m:rPr>
                              <m:nor/>
                            </m:rPr>
                            <a:rPr lang="en-IN" b="1" i="1">
                              <a:solidFill>
                                <a:schemeClr val="tx1"/>
                              </a:solidFill>
                              <a:latin typeface="Times New Roman" panose="02020603050405020304" pitchFamily="18" charset="0"/>
                              <a:cs typeface="Times New Roman" panose="02020603050405020304" pitchFamily="18" charset="0"/>
                            </a:rPr>
                            <m:t>winding</m:t>
                          </m:r>
                        </m:num>
                        <m:den>
                          <m:r>
                            <m:rPr>
                              <m:nor/>
                            </m:rPr>
                            <a:rPr lang="en-IN" b="1" i="1">
                              <a:solidFill>
                                <a:schemeClr val="tx1"/>
                              </a:solidFill>
                              <a:latin typeface="Times New Roman" panose="02020603050405020304" pitchFamily="18" charset="0"/>
                              <a:cs typeface="Times New Roman" panose="02020603050405020304" pitchFamily="18" charset="0"/>
                            </a:rPr>
                            <m:t>EMF</m:t>
                          </m:r>
                          <m:r>
                            <m:rPr>
                              <m:nor/>
                            </m:rPr>
                            <a:rPr lang="en-IN" b="1" i="1">
                              <a:solidFill>
                                <a:schemeClr val="tx1"/>
                              </a:solidFill>
                              <a:latin typeface="Times New Roman" panose="02020603050405020304" pitchFamily="18" charset="0"/>
                              <a:cs typeface="Times New Roman" panose="02020603050405020304" pitchFamily="18" charset="0"/>
                            </a:rPr>
                            <m:t> </m:t>
                          </m:r>
                          <m:r>
                            <m:rPr>
                              <m:nor/>
                            </m:rPr>
                            <a:rPr lang="en-IN" b="1" i="1">
                              <a:solidFill>
                                <a:schemeClr val="tx1"/>
                              </a:solidFill>
                              <a:latin typeface="Times New Roman" panose="02020603050405020304" pitchFamily="18" charset="0"/>
                              <a:cs typeface="Times New Roman" panose="02020603050405020304" pitchFamily="18" charset="0"/>
                            </a:rPr>
                            <m:t>induced</m:t>
                          </m:r>
                          <m:r>
                            <m:rPr>
                              <m:nor/>
                            </m:rPr>
                            <a:rPr lang="en-IN" b="1" i="1">
                              <a:solidFill>
                                <a:schemeClr val="tx1"/>
                              </a:solidFill>
                              <a:latin typeface="Times New Roman" panose="02020603050405020304" pitchFamily="18" charset="0"/>
                              <a:cs typeface="Times New Roman" panose="02020603050405020304" pitchFamily="18" charset="0"/>
                            </a:rPr>
                            <m:t> </m:t>
                          </m:r>
                          <m:r>
                            <m:rPr>
                              <m:nor/>
                            </m:rPr>
                            <a:rPr lang="en-IN" b="1" i="1">
                              <a:solidFill>
                                <a:schemeClr val="tx1"/>
                              </a:solidFill>
                              <a:latin typeface="Times New Roman" panose="02020603050405020304" pitchFamily="18" charset="0"/>
                              <a:cs typeface="Times New Roman" panose="02020603050405020304" pitchFamily="18" charset="0"/>
                            </a:rPr>
                            <m:t>in</m:t>
                          </m:r>
                          <m:r>
                            <m:rPr>
                              <m:nor/>
                            </m:rPr>
                            <a:rPr lang="en-IN" b="1" i="1">
                              <a:solidFill>
                                <a:schemeClr val="tx1"/>
                              </a:solidFill>
                              <a:latin typeface="Times New Roman" panose="02020603050405020304" pitchFamily="18" charset="0"/>
                              <a:cs typeface="Times New Roman" panose="02020603050405020304" pitchFamily="18" charset="0"/>
                            </a:rPr>
                            <m:t> </m:t>
                          </m:r>
                          <m:r>
                            <m:rPr>
                              <m:nor/>
                            </m:rPr>
                            <a:rPr lang="en-IN" b="1" i="1">
                              <a:solidFill>
                                <a:schemeClr val="tx1"/>
                              </a:solidFill>
                              <a:latin typeface="Times New Roman" panose="02020603050405020304" pitchFamily="18" charset="0"/>
                              <a:cs typeface="Times New Roman" panose="02020603050405020304" pitchFamily="18" charset="0"/>
                            </a:rPr>
                            <m:t>concentrated</m:t>
                          </m:r>
                          <m:r>
                            <m:rPr>
                              <m:nor/>
                            </m:rPr>
                            <a:rPr lang="en-IN" b="1" i="1">
                              <a:solidFill>
                                <a:schemeClr val="tx1"/>
                              </a:solidFill>
                              <a:latin typeface="Times New Roman" panose="02020603050405020304" pitchFamily="18" charset="0"/>
                              <a:cs typeface="Times New Roman" panose="02020603050405020304" pitchFamily="18" charset="0"/>
                            </a:rPr>
                            <m:t> </m:t>
                          </m:r>
                          <m:r>
                            <m:rPr>
                              <m:nor/>
                            </m:rPr>
                            <a:rPr lang="en-IN" b="1" i="1">
                              <a:solidFill>
                                <a:schemeClr val="tx1"/>
                              </a:solidFill>
                              <a:latin typeface="Times New Roman" panose="02020603050405020304" pitchFamily="18" charset="0"/>
                              <a:cs typeface="Times New Roman" panose="02020603050405020304" pitchFamily="18" charset="0"/>
                            </a:rPr>
                            <m:t>winding</m:t>
                          </m:r>
                        </m:den>
                      </m:f>
                    </m:oMath>
                  </m:oMathPara>
                </a14:m>
                <a:endParaRPr lang="en-IN" dirty="0"/>
              </a:p>
            </p:txBody>
          </p:sp>
        </mc:Choice>
        <mc:Fallback xmlns="">
          <p:sp>
            <p:nvSpPr>
              <p:cNvPr id="6" name="Rectangle 5">
                <a:extLst>
                  <a:ext uri="{FF2B5EF4-FFF2-40B4-BE49-F238E27FC236}">
                    <a16:creationId xmlns:a16="http://schemas.microsoft.com/office/drawing/2014/main" id="{943202E4-60A6-522F-2671-DB7013F56B69}"/>
                  </a:ext>
                </a:extLst>
              </p:cNvPr>
              <p:cNvSpPr>
                <a:spLocks noRot="1" noChangeAspect="1" noMove="1" noResize="1" noEditPoints="1" noAdjustHandles="1" noChangeArrowheads="1" noChangeShapeType="1" noTextEdit="1"/>
              </p:cNvSpPr>
              <p:nvPr/>
            </p:nvSpPr>
            <p:spPr>
              <a:xfrm>
                <a:off x="5651742" y="3822255"/>
                <a:ext cx="7415329" cy="1631580"/>
              </a:xfrm>
              <a:prstGeom prst="rect">
                <a:avLst/>
              </a:prstGeom>
              <a:blipFill>
                <a:blip r:embed="R0ffbb463c92544f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Rounded Corners 6">
                <a:extLst>
                  <a:ext uri="{FF2B5EF4-FFF2-40B4-BE49-F238E27FC236}">
                    <a16:creationId xmlns:a16="http://schemas.microsoft.com/office/drawing/2014/main" id="{E06FA6EC-F37F-7B8E-44D5-6F329CA0CAD8}"/>
                  </a:ext>
                </a:extLst>
              </p:cNvPr>
              <p:cNvSpPr/>
              <p:nvPr/>
            </p:nvSpPr>
            <p:spPr>
              <a:xfrm>
                <a:off x="7325683" y="8517810"/>
                <a:ext cx="3731343" cy="132735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b="1" i="1">
                          <a:solidFill>
                            <a:schemeClr val="tx1"/>
                          </a:solidFill>
                          <a:latin typeface="Cambria Math" panose="02040503050406030204" pitchFamily="18" charset="0"/>
                        </a:rPr>
                        <m:t>𝜷</m:t>
                      </m:r>
                      <m:r>
                        <a:rPr lang="en-IN" b="1">
                          <a:solidFill>
                            <a:schemeClr val="tx1"/>
                          </a:solidFill>
                          <a:latin typeface="Cambria Math" panose="02040503050406030204" pitchFamily="18" charset="0"/>
                        </a:rPr>
                        <m:t>=</m:t>
                      </m:r>
                      <m:f>
                        <m:fPr>
                          <m:ctrlPr>
                            <a:rPr lang="ar-AE" b="1" i="1">
                              <a:solidFill>
                                <a:schemeClr val="tx1"/>
                              </a:solidFill>
                              <a:latin typeface="Cambria Math" panose="02040503050406030204" pitchFamily="18" charset="0"/>
                            </a:rPr>
                          </m:ctrlPr>
                        </m:fPr>
                        <m:num>
                          <m:sSup>
                            <m:sSupPr>
                              <m:ctrlPr>
                                <a:rPr lang="ar-AE" b="1" i="1">
                                  <a:solidFill>
                                    <a:schemeClr val="tx1"/>
                                  </a:solidFill>
                                  <a:latin typeface="Cambria Math" panose="02040503050406030204" pitchFamily="18" charset="0"/>
                                </a:rPr>
                              </m:ctrlPr>
                            </m:sSupPr>
                            <m:e>
                              <m:r>
                                <a:rPr lang="ar-AE" b="1" i="1">
                                  <a:solidFill>
                                    <a:schemeClr val="tx1"/>
                                  </a:solidFill>
                                  <a:latin typeface="Cambria Math" panose="02040503050406030204" pitchFamily="18" charset="0"/>
                                </a:rPr>
                                <m:t>𝟏𝟖𝟎</m:t>
                              </m:r>
                            </m:e>
                            <m:sup>
                              <m:r>
                                <a:rPr lang="ar-AE" b="1">
                                  <a:solidFill>
                                    <a:schemeClr val="tx1"/>
                                  </a:solidFill>
                                  <a:latin typeface="Cambria Math" panose="02040503050406030204" pitchFamily="18" charset="0"/>
                                </a:rPr>
                                <m:t>∘</m:t>
                              </m:r>
                            </m:sup>
                          </m:sSup>
                        </m:num>
                        <m:den>
                          <m:r>
                            <m:rPr>
                              <m:nor/>
                            </m:rPr>
                            <a:rPr lang="en-IN" b="1" i="1">
                              <a:solidFill>
                                <a:schemeClr val="tx1"/>
                              </a:solidFill>
                              <a:latin typeface="Times New Roman" panose="02020603050405020304" pitchFamily="18" charset="0"/>
                              <a:cs typeface="Times New Roman" panose="02020603050405020304" pitchFamily="18" charset="0"/>
                            </a:rPr>
                            <m:t>slots</m:t>
                          </m:r>
                          <m:r>
                            <m:rPr>
                              <m:nor/>
                            </m:rPr>
                            <a:rPr lang="en-IN" b="1" i="1">
                              <a:solidFill>
                                <a:schemeClr val="tx1"/>
                              </a:solidFill>
                              <a:latin typeface="Times New Roman" panose="02020603050405020304" pitchFamily="18" charset="0"/>
                              <a:cs typeface="Times New Roman" panose="02020603050405020304" pitchFamily="18" charset="0"/>
                            </a:rPr>
                            <m:t> </m:t>
                          </m:r>
                          <m:r>
                            <m:rPr>
                              <m:nor/>
                            </m:rPr>
                            <a:rPr lang="en-IN" b="1" i="1">
                              <a:solidFill>
                                <a:schemeClr val="tx1"/>
                              </a:solidFill>
                              <a:latin typeface="Times New Roman" panose="02020603050405020304" pitchFamily="18" charset="0"/>
                              <a:cs typeface="Times New Roman" panose="02020603050405020304" pitchFamily="18" charset="0"/>
                            </a:rPr>
                            <m:t>per</m:t>
                          </m:r>
                          <m:r>
                            <m:rPr>
                              <m:nor/>
                            </m:rPr>
                            <a:rPr lang="en-IN" b="1" i="1">
                              <a:solidFill>
                                <a:schemeClr val="tx1"/>
                              </a:solidFill>
                              <a:latin typeface="Times New Roman" panose="02020603050405020304" pitchFamily="18" charset="0"/>
                              <a:cs typeface="Times New Roman" panose="02020603050405020304" pitchFamily="18" charset="0"/>
                            </a:rPr>
                            <m:t> </m:t>
                          </m:r>
                          <m:r>
                            <m:rPr>
                              <m:nor/>
                            </m:rPr>
                            <a:rPr lang="en-IN" b="1" i="1">
                              <a:solidFill>
                                <a:schemeClr val="tx1"/>
                              </a:solidFill>
                              <a:latin typeface="Times New Roman" panose="02020603050405020304" pitchFamily="18" charset="0"/>
                              <a:cs typeface="Times New Roman" panose="02020603050405020304" pitchFamily="18" charset="0"/>
                            </a:rPr>
                            <m:t>pole</m:t>
                          </m:r>
                        </m:den>
                      </m:f>
                    </m:oMath>
                  </m:oMathPara>
                </a14:m>
                <a:endParaRPr lang="en-IN" dirty="0"/>
              </a:p>
            </p:txBody>
          </p:sp>
        </mc:Choice>
        <mc:Fallback xmlns="">
          <p:sp>
            <p:nvSpPr>
              <p:cNvPr id="7" name="Rectangle: Rounded Corners 6">
                <a:extLst>
                  <a:ext uri="{FF2B5EF4-FFF2-40B4-BE49-F238E27FC236}">
                    <a16:creationId xmlns:a16="http://schemas.microsoft.com/office/drawing/2014/main" id="{E06FA6EC-F37F-7B8E-44D5-6F329CA0CAD8}"/>
                  </a:ext>
                </a:extLst>
              </p:cNvPr>
              <p:cNvSpPr>
                <a:spLocks noRot="1" noChangeAspect="1" noMove="1" noResize="1" noEditPoints="1" noAdjustHandles="1" noChangeArrowheads="1" noChangeShapeType="1" noTextEdit="1"/>
              </p:cNvSpPr>
              <p:nvPr/>
            </p:nvSpPr>
            <p:spPr>
              <a:xfrm>
                <a:off x="7325683" y="8517810"/>
                <a:ext cx="3731343" cy="1327354"/>
              </a:xfrm>
              <a:prstGeom prst="roundRect">
                <a:avLst/>
              </a:prstGeom>
              <a:blipFill>
                <a:blip r:embed="R00be9bf05d894aca"/>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000478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76A0B8-FC19-2FD2-DC83-64C106CCA8A0}"/>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3" name="TextBox 1">
            <a:extLst>
              <a:ext uri="{FF2B5EF4-FFF2-40B4-BE49-F238E27FC236}">
                <a16:creationId xmlns:a16="http://schemas.microsoft.com/office/drawing/2014/main" id="{55937F03-1F4C-E991-F5D4-E2E74EA8E2A3}"/>
              </a:ext>
            </a:extLst>
          </p:cNvPr>
          <p:cNvSpPr txBox="1">
            <a:spLocks noChangeArrowheads="1"/>
          </p:cNvSpPr>
          <p:nvPr/>
        </p:nvSpPr>
        <p:spPr bwMode="auto">
          <a:xfrm>
            <a:off x="2286000" y="844993"/>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sz="3000" b="1" dirty="0">
                <a:latin typeface="Times New Roman" panose="02020603050405020304" pitchFamily="18" charset="0"/>
                <a:cs typeface="Times New Roman" panose="02020603050405020304" pitchFamily="18" charset="0"/>
              </a:rPr>
              <a:t>Effect of Distribution on Harmonics and EMF</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4" name="Picture 81">
            <a:extLst>
              <a:ext uri="{FF2B5EF4-FFF2-40B4-BE49-F238E27FC236}">
                <a16:creationId xmlns:a16="http://schemas.microsoft.com/office/drawing/2014/main" id="{AAD8C2FE-207F-914B-84DA-36874BC18D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2">
                <a:extLst>
                  <a:ext uri="{FF2B5EF4-FFF2-40B4-BE49-F238E27FC236}">
                    <a16:creationId xmlns:a16="http://schemas.microsoft.com/office/drawing/2014/main" id="{A1E8860B-6717-5201-DB25-4652A3FCD079}"/>
                  </a:ext>
                </a:extLst>
              </p:cNvPr>
              <p:cNvSpPr txBox="1">
                <a:spLocks noChangeArrowheads="1"/>
              </p:cNvSpPr>
              <p:nvPr/>
            </p:nvSpPr>
            <p:spPr bwMode="auto">
              <a:xfrm>
                <a:off x="2451342" y="1495989"/>
                <a:ext cx="13385314" cy="8783173"/>
              </a:xfrm>
              <a:prstGeom prst="rect">
                <a:avLst/>
              </a:prstGeom>
              <a:noFill/>
              <a:ln w="9525">
                <a:solidFill>
                  <a:srgbClr val="002060"/>
                </a:solidFill>
                <a:miter lim="800000"/>
                <a:headEnd/>
                <a:tailEnd/>
              </a:ln>
            </p:spPr>
            <p:txBody>
              <a:bodyPr wrap="square">
                <a:spAutoFit/>
              </a:bodyPr>
              <a:lstStyle/>
              <a:p>
                <a:r>
                  <a:rPr lang="en-IN" b="1" u="sng" dirty="0">
                    <a:solidFill>
                      <a:srgbClr val="2850FC"/>
                    </a:solidFill>
                    <a:latin typeface="Times New Roman" panose="02020603050405020304" pitchFamily="18" charset="0"/>
                    <a:cs typeface="Times New Roman" panose="02020603050405020304" pitchFamily="18" charset="0"/>
                  </a:rPr>
                  <a:t>Slots per Pole per Phase</a:t>
                </a:r>
              </a:p>
              <a:p>
                <a:pPr marL="285750" indent="-285750">
                  <a:lnSpc>
                    <a:spcPct val="150000"/>
                  </a:lnSpc>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The number of slots per pole per phase is given by:</a:t>
                </a:r>
              </a:p>
              <a:p>
                <a:pPr>
                  <a:lnSpc>
                    <a:spcPct val="150000"/>
                  </a:lnSpc>
                </a:pPr>
                <a:endParaRPr lang="ar-AE" sz="2400" b="1" dirty="0">
                  <a:solidFill>
                    <a:srgbClr val="7030A0"/>
                  </a:solidFill>
                  <a:latin typeface="Times New Roman" panose="02020603050405020304" pitchFamily="18" charset="0"/>
                  <a:cs typeface="Times New Roman" panose="02020603050405020304" pitchFamily="18" charset="0"/>
                </a:endParaRPr>
              </a:p>
              <a:p>
                <a:pPr>
                  <a:lnSpc>
                    <a:spcPct val="150000"/>
                  </a:lnSpc>
                </a:pPr>
                <a:br>
                  <a:rPr lang="ar-AE" sz="2400" b="1" dirty="0">
                    <a:latin typeface="Times New Roman" panose="02020603050405020304" pitchFamily="18" charset="0"/>
                    <a:cs typeface="Times New Roman" panose="02020603050405020304" pitchFamily="18" charset="0"/>
                  </a:rPr>
                </a:br>
                <a:endParaRPr lang="ar-AE" sz="2400" b="1" dirty="0">
                  <a:latin typeface="Times New Roman" panose="02020603050405020304" pitchFamily="18" charset="0"/>
                  <a:cs typeface="Times New Roman" panose="02020603050405020304" pitchFamily="18" charset="0"/>
                </a:endParaRPr>
              </a:p>
              <a:p>
                <a:r>
                  <a:rPr lang="en-IN" b="1" u="sng" dirty="0">
                    <a:solidFill>
                      <a:srgbClr val="2850FC"/>
                    </a:solidFill>
                    <a:latin typeface="Times New Roman" panose="02020603050405020304" pitchFamily="18" charset="0"/>
                    <a:cs typeface="Times New Roman" panose="02020603050405020304" pitchFamily="18" charset="0"/>
                  </a:rPr>
                  <a:t>Distributed Factor Formula</a:t>
                </a: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The distributed factor is given by:</a:t>
                </a:r>
              </a:p>
              <a:p>
                <a:pPr/>
                <a14:m>
                  <m:oMathPara xmlns:m="http://schemas.openxmlformats.org/officeDocument/2006/math">
                    <m:oMathParaPr>
                      <m:jc m:val="centerGroup"/>
                    </m:oMathParaPr>
                    <m:oMath xmlns:m="http://schemas.openxmlformats.org/officeDocument/2006/math">
                      <m:borderBox>
                        <m:borderBoxPr>
                          <m:ctrlPr>
                            <a:rPr lang="ar-AE" b="1" i="1">
                              <a:latin typeface="Cambria Math" panose="02040503050406030204" pitchFamily="18" charset="0"/>
                            </a:rPr>
                          </m:ctrlPr>
                        </m:borderBoxPr>
                        <m:e>
                          <m:sSub>
                            <m:sSubPr>
                              <m:ctrlPr>
                                <a:rPr lang="ar-AE" b="1" i="1">
                                  <a:latin typeface="Cambria Math" panose="02040503050406030204" pitchFamily="18" charset="0"/>
                                </a:rPr>
                              </m:ctrlPr>
                            </m:sSubPr>
                            <m:e>
                              <m:r>
                                <a:rPr lang="ar-AE" b="1" i="1">
                                  <a:latin typeface="Cambria Math" panose="02040503050406030204" pitchFamily="18" charset="0"/>
                                </a:rPr>
                                <m:t>𝒌</m:t>
                              </m:r>
                            </m:e>
                            <m:sub>
                              <m:r>
                                <a:rPr lang="ar-AE" b="1" i="1">
                                  <a:latin typeface="Cambria Math" panose="02040503050406030204" pitchFamily="18" charset="0"/>
                                </a:rPr>
                                <m:t>𝒅</m:t>
                              </m:r>
                            </m:sub>
                          </m:sSub>
                          <m:r>
                            <a:rPr lang="ar-AE" b="1">
                              <a:latin typeface="Cambria Math" panose="02040503050406030204" pitchFamily="18" charset="0"/>
                            </a:rPr>
                            <m:t>=</m:t>
                          </m:r>
                          <m:f>
                            <m:fPr>
                              <m:ctrlPr>
                                <a:rPr lang="ar-AE" b="1" i="1">
                                  <a:latin typeface="Cambria Math" panose="02040503050406030204" pitchFamily="18" charset="0"/>
                                </a:rPr>
                              </m:ctrlPr>
                            </m:fPr>
                            <m:num>
                              <m:func>
                                <m:funcPr>
                                  <m:ctrlPr>
                                    <a:rPr lang="ar-AE" b="1" i="1">
                                      <a:latin typeface="Cambria Math" panose="02040503050406030204" pitchFamily="18" charset="0"/>
                                    </a:rPr>
                                  </m:ctrlPr>
                                </m:funcPr>
                                <m:fName>
                                  <m:r>
                                    <a:rPr lang="en-IN" b="1" i="1">
                                      <a:latin typeface="Cambria Math" panose="02040503050406030204" pitchFamily="18" charset="0"/>
                                    </a:rPr>
                                    <m:t>𝐬𝐢𝐧</m:t>
                                  </m:r>
                                </m:fName>
                                <m:e>
                                  <m:d>
                                    <m:dPr>
                                      <m:ctrlPr>
                                        <a:rPr lang="ar-AE" b="1" i="1">
                                          <a:latin typeface="Cambria Math" panose="02040503050406030204" pitchFamily="18" charset="0"/>
                                        </a:rPr>
                                      </m:ctrlPr>
                                    </m:dPr>
                                    <m:e>
                                      <m:f>
                                        <m:fPr>
                                          <m:ctrlPr>
                                            <a:rPr lang="ar-AE" b="1" i="1">
                                              <a:latin typeface="Cambria Math" panose="02040503050406030204" pitchFamily="18" charset="0"/>
                                            </a:rPr>
                                          </m:ctrlPr>
                                        </m:fPr>
                                        <m:num>
                                          <m:r>
                                            <a:rPr lang="ar-AE" b="1" i="1">
                                              <a:latin typeface="Cambria Math" panose="02040503050406030204" pitchFamily="18" charset="0"/>
                                            </a:rPr>
                                            <m:t>𝒎</m:t>
                                          </m:r>
                                          <m:r>
                                            <a:rPr lang="ar-AE" b="1" i="1">
                                              <a:latin typeface="Cambria Math" panose="02040503050406030204" pitchFamily="18" charset="0"/>
                                            </a:rPr>
                                            <m:t>𝜷</m:t>
                                          </m:r>
                                        </m:num>
                                        <m:den>
                                          <m:r>
                                            <a:rPr lang="ar-AE" b="1" i="1">
                                              <a:latin typeface="Cambria Math" panose="02040503050406030204" pitchFamily="18" charset="0"/>
                                            </a:rPr>
                                            <m:t>𝟐</m:t>
                                          </m:r>
                                        </m:den>
                                      </m:f>
                                    </m:e>
                                  </m:d>
                                </m:e>
                              </m:func>
                            </m:num>
                            <m:den>
                              <m:r>
                                <a:rPr lang="ar-AE" b="1" i="1">
                                  <a:latin typeface="Cambria Math" panose="02040503050406030204" pitchFamily="18" charset="0"/>
                                </a:rPr>
                                <m:t>𝒎</m:t>
                              </m:r>
                              <m:func>
                                <m:funcPr>
                                  <m:ctrlPr>
                                    <a:rPr lang="ar-AE" b="1" i="1">
                                      <a:latin typeface="Cambria Math" panose="02040503050406030204" pitchFamily="18" charset="0"/>
                                    </a:rPr>
                                  </m:ctrlPr>
                                </m:funcPr>
                                <m:fName>
                                  <m:r>
                                    <a:rPr lang="en-IN" b="1" i="1">
                                      <a:latin typeface="Cambria Math" panose="02040503050406030204" pitchFamily="18" charset="0"/>
                                    </a:rPr>
                                    <m:t>𝐬𝐢𝐧</m:t>
                                  </m:r>
                                </m:fName>
                                <m:e>
                                  <m:d>
                                    <m:dPr>
                                      <m:ctrlPr>
                                        <a:rPr lang="ar-AE" b="1" i="1">
                                          <a:latin typeface="Cambria Math" panose="02040503050406030204" pitchFamily="18" charset="0"/>
                                        </a:rPr>
                                      </m:ctrlPr>
                                    </m:dPr>
                                    <m:e>
                                      <m:f>
                                        <m:fPr>
                                          <m:ctrlPr>
                                            <a:rPr lang="ar-AE" b="1" i="1">
                                              <a:latin typeface="Cambria Math" panose="02040503050406030204" pitchFamily="18" charset="0"/>
                                            </a:rPr>
                                          </m:ctrlPr>
                                        </m:fPr>
                                        <m:num>
                                          <m:r>
                                            <a:rPr lang="ar-AE" b="1" i="1">
                                              <a:latin typeface="Cambria Math" panose="02040503050406030204" pitchFamily="18" charset="0"/>
                                            </a:rPr>
                                            <m:t>𝜷</m:t>
                                          </m:r>
                                        </m:num>
                                        <m:den>
                                          <m:r>
                                            <a:rPr lang="ar-AE" b="1" i="1">
                                              <a:latin typeface="Cambria Math" panose="02040503050406030204" pitchFamily="18" charset="0"/>
                                            </a:rPr>
                                            <m:t>𝟐</m:t>
                                          </m:r>
                                        </m:den>
                                      </m:f>
                                    </m:e>
                                  </m:d>
                                </m:e>
                              </m:func>
                            </m:den>
                          </m:f>
                        </m:e>
                      </m:borderBox>
                    </m:oMath>
                  </m:oMathPara>
                </a14:m>
                <a:endParaRPr lang="ar-AE" sz="2400" dirty="0">
                  <a:latin typeface="Times New Roman" panose="02020603050405020304" pitchFamily="18" charset="0"/>
                  <a:cs typeface="Times New Roman" panose="02020603050405020304" pitchFamily="18" charset="0"/>
                </a:endParaRPr>
              </a:p>
              <a:p>
                <a:r>
                  <a:rPr lang="en-IN" b="1" u="sng" dirty="0">
                    <a:solidFill>
                      <a:srgbClr val="2850FC"/>
                    </a:solidFill>
                    <a:latin typeface="Times New Roman" panose="02020603050405020304" pitchFamily="18" charset="0"/>
                    <a:cs typeface="Times New Roman" panose="02020603050405020304" pitchFamily="18" charset="0"/>
                  </a:rPr>
                  <a:t>Approximation for Small Slot Angle</a:t>
                </a: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If the slot angle </a:t>
                </a:r>
                <a14:m>
                  <m:oMath xmlns:m="http://schemas.openxmlformats.org/officeDocument/2006/math">
                    <m:r>
                      <a:rPr lang="en-IN" sz="2400" b="1" i="1">
                        <a:solidFill>
                          <a:srgbClr val="7030A0"/>
                        </a:solidFill>
                        <a:latin typeface="Cambria Math" panose="02040503050406030204" pitchFamily="18" charset="0"/>
                      </a:rPr>
                      <m:t>𝜷</m:t>
                    </m:r>
                  </m:oMath>
                </a14:m>
                <a:r>
                  <a:rPr lang="en-IN" sz="2400" b="1" dirty="0">
                    <a:solidFill>
                      <a:srgbClr val="7030A0"/>
                    </a:solidFill>
                    <a:latin typeface="Times New Roman" panose="02020603050405020304" pitchFamily="18" charset="0"/>
                    <a:cs typeface="Times New Roman" panose="02020603050405020304" pitchFamily="18" charset="0"/>
                  </a:rPr>
                  <a:t>is very small:</a:t>
                </a:r>
              </a:p>
              <a:p>
                <a:pPr/>
                <a14:m>
                  <m:oMathPara xmlns:m="http://schemas.openxmlformats.org/officeDocument/2006/math">
                    <m:oMathParaPr>
                      <m:jc m:val="centerGroup"/>
                    </m:oMathParaPr>
                    <m:oMath xmlns:m="http://schemas.openxmlformats.org/officeDocument/2006/math">
                      <m:func>
                        <m:funcPr>
                          <m:ctrlPr>
                            <a:rPr lang="ar-AE" sz="2400" b="1" i="1">
                              <a:solidFill>
                                <a:schemeClr val="tx1">
                                  <a:lumMod val="95000"/>
                                  <a:lumOff val="5000"/>
                                </a:schemeClr>
                              </a:solidFill>
                              <a:latin typeface="Cambria Math" panose="02040503050406030204" pitchFamily="18" charset="0"/>
                            </a:rPr>
                          </m:ctrlPr>
                        </m:funcPr>
                        <m:fName>
                          <m:r>
                            <a:rPr lang="en-IN" sz="2400" b="1" i="1">
                              <a:solidFill>
                                <a:schemeClr val="tx1">
                                  <a:lumMod val="95000"/>
                                  <a:lumOff val="5000"/>
                                </a:schemeClr>
                              </a:solidFill>
                              <a:latin typeface="Cambria Math" panose="02040503050406030204" pitchFamily="18" charset="0"/>
                            </a:rPr>
                            <m:t>𝐬𝐢𝐧</m:t>
                          </m:r>
                        </m:fName>
                        <m:e>
                          <m:d>
                            <m:dPr>
                              <m:ctrlPr>
                                <a:rPr lang="ar-AE" sz="2400" b="1" i="1">
                                  <a:solidFill>
                                    <a:schemeClr val="tx1">
                                      <a:lumMod val="95000"/>
                                      <a:lumOff val="5000"/>
                                    </a:schemeClr>
                                  </a:solidFill>
                                  <a:latin typeface="Cambria Math" panose="02040503050406030204" pitchFamily="18" charset="0"/>
                                </a:rPr>
                              </m:ctrlPr>
                            </m:dPr>
                            <m:e>
                              <m:f>
                                <m:fPr>
                                  <m:ctrlPr>
                                    <a:rPr lang="ar-AE" sz="2400" b="1" i="1">
                                      <a:solidFill>
                                        <a:schemeClr val="tx1">
                                          <a:lumMod val="95000"/>
                                          <a:lumOff val="5000"/>
                                        </a:schemeClr>
                                      </a:solidFill>
                                      <a:latin typeface="Cambria Math" panose="02040503050406030204" pitchFamily="18" charset="0"/>
                                    </a:rPr>
                                  </m:ctrlPr>
                                </m:fPr>
                                <m:num>
                                  <m:r>
                                    <a:rPr lang="ar-AE" sz="2400" b="1" i="1">
                                      <a:solidFill>
                                        <a:schemeClr val="tx1">
                                          <a:lumMod val="95000"/>
                                          <a:lumOff val="5000"/>
                                        </a:schemeClr>
                                      </a:solidFill>
                                      <a:latin typeface="Cambria Math" panose="02040503050406030204" pitchFamily="18" charset="0"/>
                                    </a:rPr>
                                    <m:t>𝒎</m:t>
                                  </m:r>
                                  <m:r>
                                    <a:rPr lang="ar-AE" sz="2400" b="1" i="1">
                                      <a:solidFill>
                                        <a:schemeClr val="tx1">
                                          <a:lumMod val="95000"/>
                                          <a:lumOff val="5000"/>
                                        </a:schemeClr>
                                      </a:solidFill>
                                      <a:latin typeface="Cambria Math" panose="02040503050406030204" pitchFamily="18" charset="0"/>
                                    </a:rPr>
                                    <m:t>𝜷</m:t>
                                  </m:r>
                                </m:num>
                                <m:den>
                                  <m:r>
                                    <a:rPr lang="ar-AE" sz="2400" b="1" i="1">
                                      <a:solidFill>
                                        <a:schemeClr val="tx1">
                                          <a:lumMod val="95000"/>
                                          <a:lumOff val="5000"/>
                                        </a:schemeClr>
                                      </a:solidFill>
                                      <a:latin typeface="Cambria Math" panose="02040503050406030204" pitchFamily="18" charset="0"/>
                                    </a:rPr>
                                    <m:t>𝟐</m:t>
                                  </m:r>
                                </m:den>
                              </m:f>
                            </m:e>
                          </m:d>
                        </m:e>
                      </m:func>
                      <m:r>
                        <a:rPr lang="ar-AE" sz="2400" b="1">
                          <a:solidFill>
                            <a:schemeClr val="tx1">
                              <a:lumMod val="95000"/>
                              <a:lumOff val="5000"/>
                            </a:schemeClr>
                          </a:solidFill>
                          <a:latin typeface="Cambria Math" panose="02040503050406030204" pitchFamily="18" charset="0"/>
                        </a:rPr>
                        <m:t>≈</m:t>
                      </m:r>
                      <m:f>
                        <m:fPr>
                          <m:ctrlPr>
                            <a:rPr lang="ar-AE" sz="2400" b="1" i="1">
                              <a:solidFill>
                                <a:schemeClr val="tx1">
                                  <a:lumMod val="95000"/>
                                  <a:lumOff val="5000"/>
                                </a:schemeClr>
                              </a:solidFill>
                              <a:latin typeface="Cambria Math" panose="02040503050406030204" pitchFamily="18" charset="0"/>
                            </a:rPr>
                          </m:ctrlPr>
                        </m:fPr>
                        <m:num>
                          <m:r>
                            <a:rPr lang="ar-AE" sz="2400" b="1" i="1">
                              <a:solidFill>
                                <a:schemeClr val="tx1">
                                  <a:lumMod val="95000"/>
                                  <a:lumOff val="5000"/>
                                </a:schemeClr>
                              </a:solidFill>
                              <a:latin typeface="Cambria Math" panose="02040503050406030204" pitchFamily="18" charset="0"/>
                            </a:rPr>
                            <m:t>𝒎</m:t>
                          </m:r>
                          <m:r>
                            <a:rPr lang="ar-AE" sz="2400" b="1" i="1">
                              <a:solidFill>
                                <a:schemeClr val="tx1">
                                  <a:lumMod val="95000"/>
                                  <a:lumOff val="5000"/>
                                </a:schemeClr>
                              </a:solidFill>
                              <a:latin typeface="Cambria Math" panose="02040503050406030204" pitchFamily="18" charset="0"/>
                            </a:rPr>
                            <m:t>𝜷</m:t>
                          </m:r>
                        </m:num>
                        <m:den>
                          <m:r>
                            <a:rPr lang="ar-AE" sz="2400" b="1" i="1">
                              <a:solidFill>
                                <a:schemeClr val="tx1">
                                  <a:lumMod val="95000"/>
                                  <a:lumOff val="5000"/>
                                </a:schemeClr>
                              </a:solidFill>
                              <a:latin typeface="Cambria Math" panose="02040503050406030204" pitchFamily="18" charset="0"/>
                            </a:rPr>
                            <m:t>𝟐</m:t>
                          </m:r>
                        </m:den>
                      </m:f>
                    </m:oMath>
                  </m:oMathPara>
                </a14:m>
                <a:endParaRPr lang="ar-AE" sz="2400" b="1" dirty="0">
                  <a:solidFill>
                    <a:srgbClr val="7030A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Hence, the distributed factor becomes:</a:t>
                </a:r>
              </a:p>
              <a:p>
                <a:pPr/>
                <a14:m>
                  <m:oMathPara xmlns:m="http://schemas.openxmlformats.org/officeDocument/2006/math">
                    <m:oMathParaPr>
                      <m:jc m:val="centerGroup"/>
                    </m:oMathParaPr>
                    <m:oMath xmlns:m="http://schemas.openxmlformats.org/officeDocument/2006/math">
                      <m:sSub>
                        <m:sSubPr>
                          <m:ctrlPr>
                            <a:rPr lang="ar-AE" sz="2400" b="1" i="1">
                              <a:solidFill>
                                <a:schemeClr val="tx1">
                                  <a:lumMod val="95000"/>
                                  <a:lumOff val="5000"/>
                                </a:schemeClr>
                              </a:solidFill>
                              <a:latin typeface="Cambria Math" panose="02040503050406030204" pitchFamily="18" charset="0"/>
                            </a:rPr>
                          </m:ctrlPr>
                        </m:sSubPr>
                        <m:e>
                          <m:r>
                            <a:rPr lang="ar-AE" sz="2400" b="1" i="1">
                              <a:solidFill>
                                <a:schemeClr val="tx1">
                                  <a:lumMod val="95000"/>
                                  <a:lumOff val="5000"/>
                                </a:schemeClr>
                              </a:solidFill>
                              <a:latin typeface="Cambria Math" panose="02040503050406030204" pitchFamily="18" charset="0"/>
                            </a:rPr>
                            <m:t>𝒌</m:t>
                          </m:r>
                        </m:e>
                        <m:sub>
                          <m:r>
                            <a:rPr lang="ar-AE" sz="2400" b="1" i="1">
                              <a:solidFill>
                                <a:schemeClr val="tx1">
                                  <a:lumMod val="95000"/>
                                  <a:lumOff val="5000"/>
                                </a:schemeClr>
                              </a:solidFill>
                              <a:latin typeface="Cambria Math" panose="02040503050406030204" pitchFamily="18" charset="0"/>
                            </a:rPr>
                            <m:t>𝒅</m:t>
                          </m:r>
                        </m:sub>
                      </m:sSub>
                      <m:r>
                        <a:rPr lang="ar-AE" sz="2400" b="1">
                          <a:solidFill>
                            <a:schemeClr val="tx1">
                              <a:lumMod val="95000"/>
                              <a:lumOff val="5000"/>
                            </a:schemeClr>
                          </a:solidFill>
                          <a:latin typeface="Cambria Math" panose="02040503050406030204" pitchFamily="18" charset="0"/>
                        </a:rPr>
                        <m:t>=</m:t>
                      </m:r>
                      <m:f>
                        <m:fPr>
                          <m:ctrlPr>
                            <a:rPr lang="ar-AE" sz="2400" b="1" i="1">
                              <a:solidFill>
                                <a:schemeClr val="tx1">
                                  <a:lumMod val="95000"/>
                                  <a:lumOff val="5000"/>
                                </a:schemeClr>
                              </a:solidFill>
                              <a:latin typeface="Cambria Math" panose="02040503050406030204" pitchFamily="18" charset="0"/>
                            </a:rPr>
                          </m:ctrlPr>
                        </m:fPr>
                        <m:num>
                          <m:func>
                            <m:funcPr>
                              <m:ctrlPr>
                                <a:rPr lang="ar-AE" sz="2400" b="1" i="1">
                                  <a:solidFill>
                                    <a:schemeClr val="tx1">
                                      <a:lumMod val="95000"/>
                                      <a:lumOff val="5000"/>
                                    </a:schemeClr>
                                  </a:solidFill>
                                  <a:latin typeface="Cambria Math" panose="02040503050406030204" pitchFamily="18" charset="0"/>
                                </a:rPr>
                              </m:ctrlPr>
                            </m:funcPr>
                            <m:fName>
                              <m:r>
                                <a:rPr lang="en-IN" sz="2400" b="1" i="1">
                                  <a:solidFill>
                                    <a:schemeClr val="tx1">
                                      <a:lumMod val="95000"/>
                                      <a:lumOff val="5000"/>
                                    </a:schemeClr>
                                  </a:solidFill>
                                  <a:latin typeface="Cambria Math" panose="02040503050406030204" pitchFamily="18" charset="0"/>
                                </a:rPr>
                                <m:t>𝐬𝐢𝐧</m:t>
                              </m:r>
                            </m:fName>
                            <m:e>
                              <m:d>
                                <m:dPr>
                                  <m:ctrlPr>
                                    <a:rPr lang="ar-AE" sz="2400" b="1" i="1">
                                      <a:solidFill>
                                        <a:schemeClr val="tx1">
                                          <a:lumMod val="95000"/>
                                          <a:lumOff val="5000"/>
                                        </a:schemeClr>
                                      </a:solidFill>
                                      <a:latin typeface="Cambria Math" panose="02040503050406030204" pitchFamily="18" charset="0"/>
                                    </a:rPr>
                                  </m:ctrlPr>
                                </m:dPr>
                                <m:e>
                                  <m:f>
                                    <m:fPr>
                                      <m:ctrlPr>
                                        <a:rPr lang="ar-AE" sz="2400" b="1" i="1">
                                          <a:solidFill>
                                            <a:schemeClr val="tx1">
                                              <a:lumMod val="95000"/>
                                              <a:lumOff val="5000"/>
                                            </a:schemeClr>
                                          </a:solidFill>
                                          <a:latin typeface="Cambria Math" panose="02040503050406030204" pitchFamily="18" charset="0"/>
                                        </a:rPr>
                                      </m:ctrlPr>
                                    </m:fPr>
                                    <m:num>
                                      <m:r>
                                        <a:rPr lang="ar-AE" sz="2400" b="1" i="1">
                                          <a:solidFill>
                                            <a:schemeClr val="tx1">
                                              <a:lumMod val="95000"/>
                                              <a:lumOff val="5000"/>
                                            </a:schemeClr>
                                          </a:solidFill>
                                          <a:latin typeface="Cambria Math" panose="02040503050406030204" pitchFamily="18" charset="0"/>
                                        </a:rPr>
                                        <m:t>𝒎</m:t>
                                      </m:r>
                                      <m:r>
                                        <a:rPr lang="ar-AE" sz="2400" b="1" i="1">
                                          <a:solidFill>
                                            <a:schemeClr val="tx1">
                                              <a:lumMod val="95000"/>
                                              <a:lumOff val="5000"/>
                                            </a:schemeClr>
                                          </a:solidFill>
                                          <a:latin typeface="Cambria Math" panose="02040503050406030204" pitchFamily="18" charset="0"/>
                                        </a:rPr>
                                        <m:t>𝜷</m:t>
                                      </m:r>
                                    </m:num>
                                    <m:den>
                                      <m:r>
                                        <a:rPr lang="ar-AE" sz="2400" b="1" i="1">
                                          <a:solidFill>
                                            <a:schemeClr val="tx1">
                                              <a:lumMod val="95000"/>
                                              <a:lumOff val="5000"/>
                                            </a:schemeClr>
                                          </a:solidFill>
                                          <a:latin typeface="Cambria Math" panose="02040503050406030204" pitchFamily="18" charset="0"/>
                                        </a:rPr>
                                        <m:t>𝟐</m:t>
                                      </m:r>
                                    </m:den>
                                  </m:f>
                                </m:e>
                              </m:d>
                            </m:e>
                          </m:func>
                        </m:num>
                        <m:den>
                          <m:f>
                            <m:fPr>
                              <m:ctrlPr>
                                <a:rPr lang="ar-AE" sz="2400" b="1" i="1">
                                  <a:solidFill>
                                    <a:schemeClr val="tx1">
                                      <a:lumMod val="95000"/>
                                      <a:lumOff val="5000"/>
                                    </a:schemeClr>
                                  </a:solidFill>
                                  <a:latin typeface="Cambria Math" panose="02040503050406030204" pitchFamily="18" charset="0"/>
                                </a:rPr>
                              </m:ctrlPr>
                            </m:fPr>
                            <m:num>
                              <m:r>
                                <a:rPr lang="ar-AE" sz="2400" b="1" i="1">
                                  <a:solidFill>
                                    <a:schemeClr val="tx1">
                                      <a:lumMod val="95000"/>
                                      <a:lumOff val="5000"/>
                                    </a:schemeClr>
                                  </a:solidFill>
                                  <a:latin typeface="Cambria Math" panose="02040503050406030204" pitchFamily="18" charset="0"/>
                                </a:rPr>
                                <m:t>𝒎</m:t>
                              </m:r>
                              <m:r>
                                <a:rPr lang="ar-AE" sz="2400" b="1" i="1">
                                  <a:solidFill>
                                    <a:schemeClr val="tx1">
                                      <a:lumMod val="95000"/>
                                      <a:lumOff val="5000"/>
                                    </a:schemeClr>
                                  </a:solidFill>
                                  <a:latin typeface="Cambria Math" panose="02040503050406030204" pitchFamily="18" charset="0"/>
                                </a:rPr>
                                <m:t>𝜷</m:t>
                              </m:r>
                            </m:num>
                            <m:den>
                              <m:r>
                                <a:rPr lang="ar-AE" sz="2400" b="1" i="1">
                                  <a:solidFill>
                                    <a:schemeClr val="tx1">
                                      <a:lumMod val="95000"/>
                                      <a:lumOff val="5000"/>
                                    </a:schemeClr>
                                  </a:solidFill>
                                  <a:latin typeface="Cambria Math" panose="02040503050406030204" pitchFamily="18" charset="0"/>
                                </a:rPr>
                                <m:t>𝟐</m:t>
                              </m:r>
                            </m:den>
                          </m:f>
                        </m:den>
                      </m:f>
                    </m:oMath>
                  </m:oMathPara>
                </a14:m>
                <a:endParaRPr lang="en-IN" sz="2400" b="1" u="sng" dirty="0">
                  <a:solidFill>
                    <a:srgbClr val="2850FC"/>
                  </a:solidFill>
                  <a:latin typeface="Times New Roman" panose="02020603050405020304" pitchFamily="18" charset="0"/>
                  <a:cs typeface="Times New Roman" panose="02020603050405020304" pitchFamily="18" charset="0"/>
                </a:endParaRPr>
              </a:p>
            </p:txBody>
          </p:sp>
        </mc:Choice>
        <mc:Fallback xmlns="">
          <p:sp>
            <p:nvSpPr>
              <p:cNvPr id="5" name="TextBox 2">
                <a:extLst>
                  <a:ext uri="{FF2B5EF4-FFF2-40B4-BE49-F238E27FC236}">
                    <a16:creationId xmlns:a16="http://schemas.microsoft.com/office/drawing/2014/main" id="{A1E8860B-6717-5201-DB25-4652A3FCD079}"/>
                  </a:ext>
                </a:extLst>
              </p:cNvPr>
              <p:cNvSpPr txBox="1">
                <a:spLocks noRot="1" noChangeAspect="1" noMove="1" noResize="1" noEditPoints="1" noAdjustHandles="1" noChangeArrowheads="1" noChangeShapeType="1" noTextEdit="1"/>
              </p:cNvSpPr>
              <p:nvPr/>
            </p:nvSpPr>
            <p:spPr bwMode="auto">
              <a:xfrm>
                <a:off x="2451342" y="1495989"/>
                <a:ext cx="13385314" cy="8783173"/>
              </a:xfrm>
              <a:prstGeom prst="rect">
                <a:avLst/>
              </a:prstGeom>
              <a:blipFill>
                <a:blip r:embed="Rd3c497e60ecf40c0"/>
                <a:stretch>
                  <a:fillRect l="-477" t="-520"/>
                </a:stretch>
              </a:blipFill>
              <a:ln w="9525">
                <a:solidFill>
                  <a:srgbClr val="002060"/>
                </a:solid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Rounded Corners 5">
                <a:extLst>
                  <a:ext uri="{FF2B5EF4-FFF2-40B4-BE49-F238E27FC236}">
                    <a16:creationId xmlns:a16="http://schemas.microsoft.com/office/drawing/2014/main" id="{7E7CCFF9-3D09-B77F-8335-89D14E030626}"/>
                  </a:ext>
                </a:extLst>
              </p:cNvPr>
              <p:cNvSpPr/>
              <p:nvPr/>
            </p:nvSpPr>
            <p:spPr>
              <a:xfrm>
                <a:off x="5729748" y="2728450"/>
                <a:ext cx="6828502" cy="140109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b="1" i="1">
                          <a:solidFill>
                            <a:schemeClr val="tx1">
                              <a:lumMod val="95000"/>
                              <a:lumOff val="5000"/>
                            </a:schemeClr>
                          </a:solidFill>
                          <a:latin typeface="Cambria Math" panose="02040503050406030204" pitchFamily="18" charset="0"/>
                        </a:rPr>
                        <m:t>𝒎</m:t>
                      </m:r>
                      <m:r>
                        <a:rPr lang="en-IN" b="1">
                          <a:solidFill>
                            <a:schemeClr val="tx1">
                              <a:lumMod val="95000"/>
                              <a:lumOff val="5000"/>
                            </a:schemeClr>
                          </a:solidFill>
                          <a:latin typeface="Cambria Math" panose="02040503050406030204" pitchFamily="18" charset="0"/>
                        </a:rPr>
                        <m:t>=</m:t>
                      </m:r>
                      <m:f>
                        <m:fPr>
                          <m:ctrlPr>
                            <a:rPr lang="ar-AE" b="1" i="1">
                              <a:solidFill>
                                <a:schemeClr val="tx1">
                                  <a:lumMod val="95000"/>
                                  <a:lumOff val="5000"/>
                                </a:schemeClr>
                              </a:solidFill>
                              <a:latin typeface="Cambria Math" panose="02040503050406030204" pitchFamily="18" charset="0"/>
                            </a:rPr>
                          </m:ctrlPr>
                        </m:fPr>
                        <m:num>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Number</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of</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slots</m:t>
                          </m:r>
                        </m:num>
                        <m:den>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Number</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of</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poles</m:t>
                          </m:r>
                          <m:r>
                            <a:rPr lang="en-IN" b="1">
                              <a:solidFill>
                                <a:schemeClr val="tx1">
                                  <a:lumMod val="95000"/>
                                  <a:lumOff val="5000"/>
                                </a:schemeClr>
                              </a:solidFill>
                              <a:latin typeface="Cambria Math" panose="02040503050406030204" pitchFamily="18" charset="0"/>
                            </a:rPr>
                            <m:t>×</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Number</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of</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phases</m:t>
                          </m:r>
                        </m:den>
                      </m:f>
                    </m:oMath>
                  </m:oMathPara>
                </a14:m>
                <a:endParaRPr lang="en-IN" dirty="0"/>
              </a:p>
            </p:txBody>
          </p:sp>
        </mc:Choice>
        <mc:Fallback xmlns="">
          <p:sp>
            <p:nvSpPr>
              <p:cNvPr id="6" name="Rectangle: Rounded Corners 5">
                <a:extLst>
                  <a:ext uri="{FF2B5EF4-FFF2-40B4-BE49-F238E27FC236}">
                    <a16:creationId xmlns:a16="http://schemas.microsoft.com/office/drawing/2014/main" id="{7E7CCFF9-3D09-B77F-8335-89D14E030626}"/>
                  </a:ext>
                </a:extLst>
              </p:cNvPr>
              <p:cNvSpPr>
                <a:spLocks noRot="1" noChangeAspect="1" noMove="1" noResize="1" noEditPoints="1" noAdjustHandles="1" noChangeArrowheads="1" noChangeShapeType="1" noTextEdit="1"/>
              </p:cNvSpPr>
              <p:nvPr/>
            </p:nvSpPr>
            <p:spPr>
              <a:xfrm>
                <a:off x="5729748" y="2728450"/>
                <a:ext cx="6828502" cy="1401096"/>
              </a:xfrm>
              <a:prstGeom prst="roundRect">
                <a:avLst/>
              </a:prstGeom>
              <a:blipFill>
                <a:blip r:embed="R9d987d66edf9472e"/>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6827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F582FC-9A00-8FF3-9F04-EBD4CF75942B}"/>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3" name="TextBox 1">
            <a:extLst>
              <a:ext uri="{FF2B5EF4-FFF2-40B4-BE49-F238E27FC236}">
                <a16:creationId xmlns:a16="http://schemas.microsoft.com/office/drawing/2014/main" id="{2D4DD9DD-892C-7444-1944-005E95FD88E3}"/>
              </a:ext>
            </a:extLst>
          </p:cNvPr>
          <p:cNvSpPr txBox="1">
            <a:spLocks noChangeArrowheads="1"/>
          </p:cNvSpPr>
          <p:nvPr/>
        </p:nvSpPr>
        <p:spPr bwMode="auto">
          <a:xfrm>
            <a:off x="2286000" y="844993"/>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sz="3000" b="1" dirty="0">
                <a:latin typeface="Times New Roman" panose="02020603050405020304" pitchFamily="18" charset="0"/>
                <a:cs typeface="Times New Roman" panose="02020603050405020304" pitchFamily="18" charset="0"/>
              </a:rPr>
              <a:t>Effect of Harmonics on Distribution Factor</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4" name="Picture 81">
            <a:extLst>
              <a:ext uri="{FF2B5EF4-FFF2-40B4-BE49-F238E27FC236}">
                <a16:creationId xmlns:a16="http://schemas.microsoft.com/office/drawing/2014/main" id="{D35FF33D-CA62-6379-944F-9B00C3CA48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2">
                <a:extLst>
                  <a:ext uri="{FF2B5EF4-FFF2-40B4-BE49-F238E27FC236}">
                    <a16:creationId xmlns:a16="http://schemas.microsoft.com/office/drawing/2014/main" id="{8CEB11F7-92A8-77A3-574F-9DF4070F861A}"/>
                  </a:ext>
                </a:extLst>
              </p:cNvPr>
              <p:cNvSpPr txBox="1">
                <a:spLocks noChangeArrowheads="1"/>
              </p:cNvSpPr>
              <p:nvPr/>
            </p:nvSpPr>
            <p:spPr bwMode="auto">
              <a:xfrm>
                <a:off x="2451342" y="1495989"/>
                <a:ext cx="13385314" cy="8265052"/>
              </a:xfrm>
              <a:prstGeom prst="rect">
                <a:avLst/>
              </a:prstGeom>
              <a:noFill/>
              <a:ln w="9525">
                <a:solidFill>
                  <a:srgbClr val="002060"/>
                </a:solidFill>
                <a:miter lim="800000"/>
                <a:headEnd/>
                <a:tailEnd/>
              </a:ln>
            </p:spPr>
            <p:txBody>
              <a:bodyPr wrap="square">
                <a:spAutoFit/>
              </a:bodyPr>
              <a:lstStyle/>
              <a:p>
                <a:r>
                  <a:rPr lang="en-IN" b="1" u="sng" dirty="0">
                    <a:solidFill>
                      <a:srgbClr val="2850FC"/>
                    </a:solidFill>
                    <a:latin typeface="Times New Roman" panose="02020603050405020304" pitchFamily="18" charset="0"/>
                    <a:cs typeface="Times New Roman" panose="02020603050405020304" pitchFamily="18" charset="0"/>
                  </a:rPr>
                  <a:t>Distributed Factor for Harmonics</a:t>
                </a: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For the nᵗʰ harmonic, the distributed factor is:</a:t>
                </a:r>
              </a:p>
              <a:p>
                <a:endParaRPr lang="en-IN" sz="2400" b="1" dirty="0">
                  <a:solidFill>
                    <a:srgbClr val="7030A0"/>
                  </a:solidFill>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borderBox>
                        <m:borderBoxPr>
                          <m:ctrlPr>
                            <a:rPr lang="ar-AE" sz="2400" b="1" i="1">
                              <a:latin typeface="Cambria Math" panose="02040503050406030204" pitchFamily="18" charset="0"/>
                            </a:rPr>
                          </m:ctrlPr>
                        </m:borderBoxPr>
                        <m:e>
                          <m:sSub>
                            <m:sSubPr>
                              <m:ctrlPr>
                                <a:rPr lang="ar-AE" sz="2400" b="1" i="1">
                                  <a:latin typeface="Cambria Math" panose="02040503050406030204" pitchFamily="18" charset="0"/>
                                </a:rPr>
                              </m:ctrlPr>
                            </m:sSubPr>
                            <m:e>
                              <m:r>
                                <a:rPr lang="ar-AE" sz="2400" b="1" i="1">
                                  <a:latin typeface="Cambria Math" panose="02040503050406030204" pitchFamily="18" charset="0"/>
                                </a:rPr>
                                <m:t>𝒌</m:t>
                              </m:r>
                            </m:e>
                            <m:sub>
                              <m:r>
                                <a:rPr lang="ar-AE" sz="2400" b="1" i="1">
                                  <a:latin typeface="Cambria Math" panose="02040503050406030204" pitchFamily="18" charset="0"/>
                                </a:rPr>
                                <m:t>𝒅𝒏</m:t>
                              </m:r>
                            </m:sub>
                          </m:sSub>
                          <m:r>
                            <a:rPr lang="ar-AE" sz="2400" b="1">
                              <a:latin typeface="Cambria Math" panose="02040503050406030204" pitchFamily="18" charset="0"/>
                            </a:rPr>
                            <m:t>=</m:t>
                          </m:r>
                          <m:f>
                            <m:fPr>
                              <m:ctrlPr>
                                <a:rPr lang="ar-AE" sz="2400" b="1" i="1">
                                  <a:latin typeface="Cambria Math" panose="02040503050406030204" pitchFamily="18" charset="0"/>
                                </a:rPr>
                              </m:ctrlPr>
                            </m:fPr>
                            <m:num>
                              <m:func>
                                <m:funcPr>
                                  <m:ctrlPr>
                                    <a:rPr lang="ar-AE" sz="2400" b="1" i="1">
                                      <a:latin typeface="Cambria Math" panose="02040503050406030204" pitchFamily="18" charset="0"/>
                                    </a:rPr>
                                  </m:ctrlPr>
                                </m:funcPr>
                                <m:fName>
                                  <m:r>
                                    <a:rPr lang="en-IN" sz="2400" b="1" i="1">
                                      <a:latin typeface="Cambria Math" panose="02040503050406030204" pitchFamily="18" charset="0"/>
                                    </a:rPr>
                                    <m:t>𝐬𝐢𝐧</m:t>
                                  </m:r>
                                </m:fName>
                                <m:e>
                                  <m:d>
                                    <m:dPr>
                                      <m:ctrlPr>
                                        <a:rPr lang="ar-AE" sz="2400" b="1" i="1">
                                          <a:latin typeface="Cambria Math" panose="02040503050406030204" pitchFamily="18" charset="0"/>
                                        </a:rPr>
                                      </m:ctrlPr>
                                    </m:dPr>
                                    <m:e>
                                      <m:f>
                                        <m:fPr>
                                          <m:ctrlPr>
                                            <a:rPr lang="ar-AE" sz="2400" b="1" i="1">
                                              <a:latin typeface="Cambria Math" panose="02040503050406030204" pitchFamily="18" charset="0"/>
                                            </a:rPr>
                                          </m:ctrlPr>
                                        </m:fPr>
                                        <m:num>
                                          <m:r>
                                            <a:rPr lang="ar-AE" sz="2400" b="1" i="1">
                                              <a:latin typeface="Cambria Math" panose="02040503050406030204" pitchFamily="18" charset="0"/>
                                            </a:rPr>
                                            <m:t>𝒏𝒎</m:t>
                                          </m:r>
                                          <m:r>
                                            <a:rPr lang="ar-AE" sz="2400" b="1" i="1">
                                              <a:latin typeface="Cambria Math" panose="02040503050406030204" pitchFamily="18" charset="0"/>
                                            </a:rPr>
                                            <m:t>𝜷</m:t>
                                          </m:r>
                                        </m:num>
                                        <m:den>
                                          <m:r>
                                            <a:rPr lang="ar-AE" sz="2400" b="1" i="1">
                                              <a:latin typeface="Cambria Math" panose="02040503050406030204" pitchFamily="18" charset="0"/>
                                            </a:rPr>
                                            <m:t>𝟐</m:t>
                                          </m:r>
                                        </m:den>
                                      </m:f>
                                    </m:e>
                                  </m:d>
                                </m:e>
                              </m:func>
                            </m:num>
                            <m:den>
                              <m:r>
                                <a:rPr lang="ar-AE" sz="2400" b="1" i="1">
                                  <a:latin typeface="Cambria Math" panose="02040503050406030204" pitchFamily="18" charset="0"/>
                                </a:rPr>
                                <m:t>𝒎</m:t>
                              </m:r>
                              <m:func>
                                <m:funcPr>
                                  <m:ctrlPr>
                                    <a:rPr lang="ar-AE" sz="2400" b="1" i="1">
                                      <a:latin typeface="Cambria Math" panose="02040503050406030204" pitchFamily="18" charset="0"/>
                                    </a:rPr>
                                  </m:ctrlPr>
                                </m:funcPr>
                                <m:fName>
                                  <m:r>
                                    <a:rPr lang="en-IN" sz="2400" b="1" i="1">
                                      <a:latin typeface="Cambria Math" panose="02040503050406030204" pitchFamily="18" charset="0"/>
                                    </a:rPr>
                                    <m:t>𝐬𝐢𝐧</m:t>
                                  </m:r>
                                </m:fName>
                                <m:e>
                                  <m:d>
                                    <m:dPr>
                                      <m:ctrlPr>
                                        <a:rPr lang="ar-AE" sz="2400" b="1" i="1">
                                          <a:latin typeface="Cambria Math" panose="02040503050406030204" pitchFamily="18" charset="0"/>
                                        </a:rPr>
                                      </m:ctrlPr>
                                    </m:dPr>
                                    <m:e>
                                      <m:f>
                                        <m:fPr>
                                          <m:ctrlPr>
                                            <a:rPr lang="ar-AE" sz="2400" b="1" i="1">
                                              <a:latin typeface="Cambria Math" panose="02040503050406030204" pitchFamily="18" charset="0"/>
                                            </a:rPr>
                                          </m:ctrlPr>
                                        </m:fPr>
                                        <m:num>
                                          <m:r>
                                            <a:rPr lang="ar-AE" sz="2400" b="1" i="1">
                                              <a:latin typeface="Cambria Math" panose="02040503050406030204" pitchFamily="18" charset="0"/>
                                            </a:rPr>
                                            <m:t>𝒏</m:t>
                                          </m:r>
                                          <m:r>
                                            <a:rPr lang="ar-AE" sz="2400" b="1" i="1">
                                              <a:latin typeface="Cambria Math" panose="02040503050406030204" pitchFamily="18" charset="0"/>
                                            </a:rPr>
                                            <m:t>𝜷</m:t>
                                          </m:r>
                                        </m:num>
                                        <m:den>
                                          <m:r>
                                            <a:rPr lang="ar-AE" sz="2400" b="1" i="1">
                                              <a:latin typeface="Cambria Math" panose="02040503050406030204" pitchFamily="18" charset="0"/>
                                            </a:rPr>
                                            <m:t>𝟐</m:t>
                                          </m:r>
                                        </m:den>
                                      </m:f>
                                    </m:e>
                                  </m:d>
                                </m:e>
                              </m:func>
                            </m:den>
                          </m:f>
                        </m:e>
                      </m:borderBox>
                    </m:oMath>
                  </m:oMathPara>
                </a14:m>
                <a:endParaRPr lang="ar-AE" sz="2400" b="1" dirty="0">
                  <a:latin typeface="Times New Roman" panose="02020603050405020304" pitchFamily="18" charset="0"/>
                  <a:cs typeface="Times New Roman" panose="02020603050405020304" pitchFamily="18" charset="0"/>
                </a:endParaRPr>
              </a:p>
              <a:p>
                <a:r>
                  <a:rPr lang="en-IN" b="1" u="sng" dirty="0">
                    <a:solidFill>
                      <a:srgbClr val="2850FC"/>
                    </a:solidFill>
                    <a:latin typeface="Times New Roman" panose="02020603050405020304" pitchFamily="18" charset="0"/>
                    <a:cs typeface="Times New Roman" panose="02020603050405020304" pitchFamily="18" charset="0"/>
                  </a:rPr>
                  <a:t>Effect of Harmonics</a:t>
                </a: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As the order of harmonic increases, the value of distributed factor decreases:</a:t>
                </a:r>
              </a:p>
              <a:p>
                <a:endParaRPr lang="en-IN" sz="2400" b="1" dirty="0">
                  <a:solidFill>
                    <a:srgbClr val="7030A0"/>
                  </a:solidFill>
                  <a:latin typeface="Times New Roman" panose="02020603050405020304" pitchFamily="18" charset="0"/>
                  <a:cs typeface="Times New Roman" panose="02020603050405020304" pitchFamily="18" charset="0"/>
                </a:endParaRPr>
              </a:p>
              <a:p>
                <a:endParaRPr lang="en-IN" sz="2400" b="1" dirty="0">
                  <a:solidFill>
                    <a:srgbClr val="7030A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As the order of harmonics increases, the value of the distributed factor decreases. Hence, higher-order harmonics are reduced more effectively in a distributed winding. The distributed factor is always less than unity.</a:t>
                </a:r>
              </a:p>
              <a:p>
                <a:r>
                  <a:rPr lang="en-IN" b="1" u="sng" dirty="0">
                    <a:solidFill>
                      <a:srgbClr val="2850FC"/>
                    </a:solidFill>
                    <a:latin typeface="Times New Roman" panose="02020603050405020304" pitchFamily="18" charset="0"/>
                    <a:cs typeface="Times New Roman" panose="02020603050405020304" pitchFamily="18" charset="0"/>
                  </a:rPr>
                  <a:t>EMF per Phase</a:t>
                </a: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The electromotive force induced per phase in an armature winding is given by</a:t>
                </a:r>
              </a:p>
              <a:p>
                <a:pPr>
                  <a:lnSpc>
                    <a:spcPct val="150000"/>
                  </a:lnSpc>
                </a:pPr>
                <a14:m>
                  <m:oMathPara xmlns:m="http://schemas.openxmlformats.org/officeDocument/2006/math">
                    <m:oMathParaPr>
                      <m:jc m:val="centerGroup"/>
                    </m:oMathParaPr>
                    <m:oMath xmlns:m="http://schemas.openxmlformats.org/officeDocument/2006/math">
                      <m:sSub>
                        <m:sSubPr>
                          <m:ctrlPr>
                            <a:rPr lang="ar-AE" sz="2400" b="1" i="1">
                              <a:latin typeface="Cambria Math" panose="02040503050406030204" pitchFamily="18" charset="0"/>
                            </a:rPr>
                          </m:ctrlPr>
                        </m:sSubPr>
                        <m:e>
                          <m:r>
                            <a:rPr lang="ar-AE" sz="2400" b="1" i="1">
                              <a:latin typeface="Cambria Math" panose="02040503050406030204" pitchFamily="18" charset="0"/>
                            </a:rPr>
                            <m:t>𝑬</m:t>
                          </m:r>
                        </m:e>
                        <m:sub>
                          <m:r>
                            <m:rPr>
                              <m:nor/>
                            </m:rPr>
                            <a:rPr lang="en-IN" sz="2400" b="1" i="1">
                              <a:latin typeface="Times New Roman" panose="02020603050405020304" pitchFamily="18" charset="0"/>
                              <a:cs typeface="Times New Roman" panose="02020603050405020304" pitchFamily="18" charset="0"/>
                            </a:rPr>
                            <m:t>phase</m:t>
                          </m:r>
                        </m:sub>
                      </m:sSub>
                      <m:r>
                        <a:rPr lang="ar-AE" sz="2400" b="1">
                          <a:latin typeface="Cambria Math" panose="02040503050406030204" pitchFamily="18" charset="0"/>
                        </a:rPr>
                        <m:t>=</m:t>
                      </m:r>
                      <m:r>
                        <a:rPr lang="ar-AE" sz="2400" b="1" i="1">
                          <a:latin typeface="Cambria Math" panose="02040503050406030204" pitchFamily="18" charset="0"/>
                        </a:rPr>
                        <m:t>𝟒</m:t>
                      </m:r>
                      <m:r>
                        <a:rPr lang="ar-AE" sz="2400" b="1">
                          <a:latin typeface="Cambria Math" panose="02040503050406030204" pitchFamily="18" charset="0"/>
                        </a:rPr>
                        <m:t>.</m:t>
                      </m:r>
                      <m:r>
                        <a:rPr lang="ar-AE" sz="2400" b="1" i="1">
                          <a:latin typeface="Cambria Math" panose="02040503050406030204" pitchFamily="18" charset="0"/>
                        </a:rPr>
                        <m:t>𝟒𝟒</m:t>
                      </m:r>
                      <m:r>
                        <m:rPr>
                          <m:nor/>
                        </m:rPr>
                        <a:rPr lang="ar-AE" sz="2400" b="1" i="1">
                          <a:latin typeface="Times New Roman" panose="02020603050405020304" pitchFamily="18" charset="0"/>
                          <a:cs typeface="Times New Roman" panose="02020603050405020304" pitchFamily="18" charset="0"/>
                        </a:rPr>
                        <m:t> </m:t>
                      </m:r>
                      <m:sSub>
                        <m:sSubPr>
                          <m:ctrlPr>
                            <a:rPr lang="ar-AE" sz="2400" b="1" i="1">
                              <a:latin typeface="Cambria Math" panose="02040503050406030204" pitchFamily="18" charset="0"/>
                            </a:rPr>
                          </m:ctrlPr>
                        </m:sSubPr>
                        <m:e>
                          <m:r>
                            <a:rPr lang="ar-AE" sz="2400" b="1" i="1">
                              <a:latin typeface="Cambria Math" panose="02040503050406030204" pitchFamily="18" charset="0"/>
                            </a:rPr>
                            <m:t>𝑵</m:t>
                          </m:r>
                        </m:e>
                        <m:sub>
                          <m:r>
                            <a:rPr lang="ar-AE" sz="2400" b="1" i="1">
                              <a:latin typeface="Cambria Math" panose="02040503050406030204" pitchFamily="18" charset="0"/>
                            </a:rPr>
                            <m:t>𝒑𝒉</m:t>
                          </m:r>
                        </m:sub>
                      </m:sSub>
                      <m:r>
                        <m:rPr>
                          <m:nor/>
                        </m:rPr>
                        <a:rPr lang="ar-AE" sz="2400" b="1" i="1">
                          <a:latin typeface="Times New Roman" panose="02020603050405020304" pitchFamily="18" charset="0"/>
                          <a:cs typeface="Times New Roman" panose="02020603050405020304" pitchFamily="18" charset="0"/>
                        </a:rPr>
                        <m:t> </m:t>
                      </m:r>
                      <m:sSub>
                        <m:sSubPr>
                          <m:ctrlPr>
                            <a:rPr lang="ar-AE" sz="2400" b="1" i="1">
                              <a:latin typeface="Cambria Math" panose="02040503050406030204" pitchFamily="18" charset="0"/>
                            </a:rPr>
                          </m:ctrlPr>
                        </m:sSubPr>
                        <m:e>
                          <m:r>
                            <a:rPr lang="el-GR" sz="2400" b="1" i="1">
                              <a:latin typeface="Cambria Math" panose="02040503050406030204" pitchFamily="18" charset="0"/>
                            </a:rPr>
                            <m:t>𝚽</m:t>
                          </m:r>
                        </m:e>
                        <m:sub>
                          <m:r>
                            <a:rPr lang="ar-AE" sz="2400" b="1" i="1">
                              <a:latin typeface="Cambria Math" panose="02040503050406030204" pitchFamily="18" charset="0"/>
                            </a:rPr>
                            <m:t>𝒎</m:t>
                          </m:r>
                        </m:sub>
                      </m:sSub>
                      <m:r>
                        <m:rPr>
                          <m:nor/>
                        </m:rPr>
                        <a:rPr lang="ar-AE" sz="2400" b="1" i="1">
                          <a:latin typeface="Times New Roman" panose="02020603050405020304" pitchFamily="18" charset="0"/>
                          <a:cs typeface="Times New Roman" panose="02020603050405020304" pitchFamily="18" charset="0"/>
                        </a:rPr>
                        <m:t> </m:t>
                      </m:r>
                      <m:r>
                        <a:rPr lang="ar-AE" sz="2400" b="1" i="1">
                          <a:latin typeface="Cambria Math" panose="02040503050406030204" pitchFamily="18" charset="0"/>
                        </a:rPr>
                        <m:t>𝒇</m:t>
                      </m:r>
                      <m:r>
                        <m:rPr>
                          <m:nor/>
                        </m:rPr>
                        <a:rPr lang="ar-AE" sz="2400" b="1" i="1">
                          <a:latin typeface="Times New Roman" panose="02020603050405020304" pitchFamily="18" charset="0"/>
                          <a:cs typeface="Times New Roman" panose="02020603050405020304" pitchFamily="18" charset="0"/>
                        </a:rPr>
                        <m:t> </m:t>
                      </m:r>
                      <m:sSub>
                        <m:sSubPr>
                          <m:ctrlPr>
                            <a:rPr lang="ar-AE" sz="2400" b="1" i="1">
                              <a:latin typeface="Cambria Math" panose="02040503050406030204" pitchFamily="18" charset="0"/>
                            </a:rPr>
                          </m:ctrlPr>
                        </m:sSubPr>
                        <m:e>
                          <m:r>
                            <a:rPr lang="ar-AE" sz="2400" b="1" i="1">
                              <a:latin typeface="Cambria Math" panose="02040503050406030204" pitchFamily="18" charset="0"/>
                            </a:rPr>
                            <m:t>𝒌</m:t>
                          </m:r>
                        </m:e>
                        <m:sub>
                          <m:r>
                            <a:rPr lang="ar-AE" sz="2400" b="1" i="1">
                              <a:latin typeface="Cambria Math" panose="02040503050406030204" pitchFamily="18" charset="0"/>
                            </a:rPr>
                            <m:t>𝒅</m:t>
                          </m:r>
                        </m:sub>
                      </m:sSub>
                    </m:oMath>
                  </m:oMathPara>
                </a14:m>
                <a:endParaRPr lang="ar-AE" sz="2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For a concentrated winding, the entire phase winding is placed in one slot. Therefore, the distributed factor is equal to unity and the induced EMF is:</a:t>
                </a:r>
              </a:p>
              <a:p>
                <a:pPr>
                  <a:lnSpc>
                    <a:spcPct val="150000"/>
                  </a:lnSpc>
                </a:pPr>
                <a14:m>
                  <m:oMathPara xmlns:m="http://schemas.openxmlformats.org/officeDocument/2006/math">
                    <m:oMathParaPr>
                      <m:jc m:val="centerGroup"/>
                    </m:oMathParaPr>
                    <m:oMath xmlns:m="http://schemas.openxmlformats.org/officeDocument/2006/math">
                      <m:sSub>
                        <m:sSubPr>
                          <m:ctrlPr>
                            <a:rPr lang="ar-AE" sz="2400" b="1" i="1">
                              <a:latin typeface="Cambria Math" panose="02040503050406030204" pitchFamily="18" charset="0"/>
                            </a:rPr>
                          </m:ctrlPr>
                        </m:sSubPr>
                        <m:e>
                          <m:r>
                            <a:rPr lang="ar-AE" sz="2400" b="1" i="1">
                              <a:latin typeface="Cambria Math" panose="02040503050406030204" pitchFamily="18" charset="0"/>
                            </a:rPr>
                            <m:t>𝑬</m:t>
                          </m:r>
                        </m:e>
                        <m:sub>
                          <m:r>
                            <a:rPr lang="ar-AE" sz="2400" b="1" i="1">
                              <a:latin typeface="Cambria Math" panose="02040503050406030204" pitchFamily="18" charset="0"/>
                            </a:rPr>
                            <m:t>𝒄</m:t>
                          </m:r>
                        </m:sub>
                      </m:sSub>
                      <m:r>
                        <a:rPr lang="ar-AE" sz="2400" b="1">
                          <a:latin typeface="Cambria Math" panose="02040503050406030204" pitchFamily="18" charset="0"/>
                        </a:rPr>
                        <m:t>=</m:t>
                      </m:r>
                      <m:r>
                        <a:rPr lang="ar-AE" sz="2400" b="1" i="1">
                          <a:latin typeface="Cambria Math" panose="02040503050406030204" pitchFamily="18" charset="0"/>
                        </a:rPr>
                        <m:t>𝟒</m:t>
                      </m:r>
                      <m:r>
                        <a:rPr lang="ar-AE" sz="2400" b="1">
                          <a:latin typeface="Cambria Math" panose="02040503050406030204" pitchFamily="18" charset="0"/>
                        </a:rPr>
                        <m:t>.</m:t>
                      </m:r>
                      <m:r>
                        <a:rPr lang="ar-AE" sz="2400" b="1" i="1">
                          <a:latin typeface="Cambria Math" panose="02040503050406030204" pitchFamily="18" charset="0"/>
                        </a:rPr>
                        <m:t>𝟒𝟒</m:t>
                      </m:r>
                      <m:r>
                        <m:rPr>
                          <m:nor/>
                        </m:rPr>
                        <a:rPr lang="ar-AE" sz="2400" b="1" i="1">
                          <a:latin typeface="Times New Roman" panose="02020603050405020304" pitchFamily="18" charset="0"/>
                          <a:cs typeface="Times New Roman" panose="02020603050405020304" pitchFamily="18" charset="0"/>
                        </a:rPr>
                        <m:t> </m:t>
                      </m:r>
                      <m:sSub>
                        <m:sSubPr>
                          <m:ctrlPr>
                            <a:rPr lang="ar-AE" sz="2400" b="1" i="1">
                              <a:latin typeface="Cambria Math" panose="02040503050406030204" pitchFamily="18" charset="0"/>
                            </a:rPr>
                          </m:ctrlPr>
                        </m:sSubPr>
                        <m:e>
                          <m:r>
                            <a:rPr lang="ar-AE" sz="2400" b="1" i="1">
                              <a:latin typeface="Cambria Math" panose="02040503050406030204" pitchFamily="18" charset="0"/>
                            </a:rPr>
                            <m:t>𝑵</m:t>
                          </m:r>
                        </m:e>
                        <m:sub>
                          <m:r>
                            <a:rPr lang="ar-AE" sz="2400" b="1" i="1">
                              <a:latin typeface="Cambria Math" panose="02040503050406030204" pitchFamily="18" charset="0"/>
                            </a:rPr>
                            <m:t>𝒑𝒉</m:t>
                          </m:r>
                        </m:sub>
                      </m:sSub>
                      <m:r>
                        <m:rPr>
                          <m:nor/>
                        </m:rPr>
                        <a:rPr lang="ar-AE" sz="2400" b="1" i="1">
                          <a:latin typeface="Times New Roman" panose="02020603050405020304" pitchFamily="18" charset="0"/>
                          <a:cs typeface="Times New Roman" panose="02020603050405020304" pitchFamily="18" charset="0"/>
                        </a:rPr>
                        <m:t> </m:t>
                      </m:r>
                      <m:sSub>
                        <m:sSubPr>
                          <m:ctrlPr>
                            <a:rPr lang="ar-AE" sz="2400" b="1" i="1">
                              <a:latin typeface="Cambria Math" panose="02040503050406030204" pitchFamily="18" charset="0"/>
                            </a:rPr>
                          </m:ctrlPr>
                        </m:sSubPr>
                        <m:e>
                          <m:r>
                            <a:rPr lang="el-GR" sz="2400" b="1" i="1">
                              <a:latin typeface="Cambria Math" panose="02040503050406030204" pitchFamily="18" charset="0"/>
                            </a:rPr>
                            <m:t>𝚽</m:t>
                          </m:r>
                        </m:e>
                        <m:sub>
                          <m:r>
                            <a:rPr lang="ar-AE" sz="2400" b="1" i="1">
                              <a:latin typeface="Cambria Math" panose="02040503050406030204" pitchFamily="18" charset="0"/>
                            </a:rPr>
                            <m:t>𝒎</m:t>
                          </m:r>
                        </m:sub>
                      </m:sSub>
                      <m:r>
                        <m:rPr>
                          <m:nor/>
                        </m:rPr>
                        <a:rPr lang="ar-AE" sz="2400" b="1" i="1">
                          <a:latin typeface="Times New Roman" panose="02020603050405020304" pitchFamily="18" charset="0"/>
                          <a:cs typeface="Times New Roman" panose="02020603050405020304" pitchFamily="18" charset="0"/>
                        </a:rPr>
                        <m:t> </m:t>
                      </m:r>
                      <m:r>
                        <a:rPr lang="ar-AE" sz="2400" b="1" i="1">
                          <a:latin typeface="Cambria Math" panose="02040503050406030204" pitchFamily="18" charset="0"/>
                        </a:rPr>
                        <m:t>𝒇</m:t>
                      </m:r>
                    </m:oMath>
                  </m:oMathPara>
                </a14:m>
                <a:endParaRPr lang="ar-AE" sz="2400" b="1" dirty="0">
                  <a:latin typeface="Times New Roman" panose="02020603050405020304" pitchFamily="18" charset="0"/>
                  <a:cs typeface="Times New Roman" panose="02020603050405020304" pitchFamily="18" charset="0"/>
                </a:endParaRPr>
              </a:p>
            </p:txBody>
          </p:sp>
        </mc:Choice>
        <mc:Fallback xmlns="">
          <p:sp>
            <p:nvSpPr>
              <p:cNvPr id="5" name="TextBox 2">
                <a:extLst>
                  <a:ext uri="{FF2B5EF4-FFF2-40B4-BE49-F238E27FC236}">
                    <a16:creationId xmlns:a16="http://schemas.microsoft.com/office/drawing/2014/main" id="{8CEB11F7-92A8-77A3-574F-9DF4070F861A}"/>
                  </a:ext>
                </a:extLst>
              </p:cNvPr>
              <p:cNvSpPr txBox="1">
                <a:spLocks noRot="1" noChangeAspect="1" noMove="1" noResize="1" noEditPoints="1" noAdjustHandles="1" noChangeArrowheads="1" noChangeShapeType="1" noTextEdit="1"/>
              </p:cNvSpPr>
              <p:nvPr/>
            </p:nvSpPr>
            <p:spPr bwMode="auto">
              <a:xfrm>
                <a:off x="2451342" y="1495989"/>
                <a:ext cx="13385314" cy="8265052"/>
              </a:xfrm>
              <a:prstGeom prst="rect">
                <a:avLst/>
              </a:prstGeom>
              <a:blipFill>
                <a:blip r:embed="R6fc5f7bffca8460f"/>
                <a:stretch>
                  <a:fillRect l="-477" t="-552"/>
                </a:stretch>
              </a:blipFill>
              <a:ln w="9525">
                <a:solidFill>
                  <a:srgbClr val="002060"/>
                </a:solid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4828D39-2E84-3A15-4787-3A1560B3FAB4}"/>
                  </a:ext>
                </a:extLst>
              </p:cNvPr>
              <p:cNvSpPr/>
              <p:nvPr/>
            </p:nvSpPr>
            <p:spPr>
              <a:xfrm>
                <a:off x="7467600" y="4866501"/>
                <a:ext cx="3008671" cy="55399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ar-AE" b="1" i="1">
                              <a:latin typeface="Cambria Math" panose="02040503050406030204" pitchFamily="18" charset="0"/>
                            </a:rPr>
                          </m:ctrlPr>
                        </m:sSubPr>
                        <m:e>
                          <m:r>
                            <a:rPr lang="ar-AE" b="1" i="1">
                              <a:latin typeface="Cambria Math" panose="02040503050406030204" pitchFamily="18" charset="0"/>
                            </a:rPr>
                            <m:t>𝒌</m:t>
                          </m:r>
                        </m:e>
                        <m:sub>
                          <m:r>
                            <a:rPr lang="ar-AE" b="1" i="1">
                              <a:latin typeface="Cambria Math" panose="02040503050406030204" pitchFamily="18" charset="0"/>
                            </a:rPr>
                            <m:t>𝒅</m:t>
                          </m:r>
                          <m:r>
                            <a:rPr lang="en-US" b="1" i="1">
                              <a:latin typeface="Cambria Math" panose="02040503050406030204" pitchFamily="18" charset="0"/>
                            </a:rPr>
                            <m:t>𝒇</m:t>
                          </m:r>
                        </m:sub>
                      </m:sSub>
                      <m:r>
                        <a:rPr lang="ar-AE" b="1">
                          <a:latin typeface="Cambria Math" panose="02040503050406030204" pitchFamily="18" charset="0"/>
                        </a:rPr>
                        <m:t>&gt;</m:t>
                      </m:r>
                      <m:sSub>
                        <m:sSubPr>
                          <m:ctrlPr>
                            <a:rPr lang="ar-AE" b="1" i="1">
                              <a:latin typeface="Cambria Math" panose="02040503050406030204" pitchFamily="18" charset="0"/>
                            </a:rPr>
                          </m:ctrlPr>
                        </m:sSubPr>
                        <m:e>
                          <m:r>
                            <a:rPr lang="ar-AE" b="1" i="1">
                              <a:latin typeface="Cambria Math" panose="02040503050406030204" pitchFamily="18" charset="0"/>
                            </a:rPr>
                            <m:t>𝒌</m:t>
                          </m:r>
                        </m:e>
                        <m:sub>
                          <m:r>
                            <a:rPr lang="ar-AE" b="1" i="1">
                              <a:latin typeface="Cambria Math" panose="02040503050406030204" pitchFamily="18" charset="0"/>
                            </a:rPr>
                            <m:t>𝒅</m:t>
                          </m:r>
                          <m:r>
                            <a:rPr lang="ar-AE" b="1" i="1">
                              <a:latin typeface="Cambria Math" panose="02040503050406030204" pitchFamily="18" charset="0"/>
                            </a:rPr>
                            <m:t>𝟓</m:t>
                          </m:r>
                        </m:sub>
                      </m:sSub>
                      <m:r>
                        <a:rPr lang="ar-AE" b="1">
                          <a:latin typeface="Cambria Math" panose="02040503050406030204" pitchFamily="18" charset="0"/>
                        </a:rPr>
                        <m:t>&gt;</m:t>
                      </m:r>
                      <m:sSub>
                        <m:sSubPr>
                          <m:ctrlPr>
                            <a:rPr lang="ar-AE" b="1" i="1">
                              <a:latin typeface="Cambria Math" panose="02040503050406030204" pitchFamily="18" charset="0"/>
                            </a:rPr>
                          </m:ctrlPr>
                        </m:sSubPr>
                        <m:e>
                          <m:r>
                            <a:rPr lang="ar-AE" b="1" i="1">
                              <a:latin typeface="Cambria Math" panose="02040503050406030204" pitchFamily="18" charset="0"/>
                            </a:rPr>
                            <m:t>𝒌</m:t>
                          </m:r>
                        </m:e>
                        <m:sub>
                          <m:r>
                            <a:rPr lang="ar-AE" b="1" i="1">
                              <a:latin typeface="Cambria Math" panose="02040503050406030204" pitchFamily="18" charset="0"/>
                            </a:rPr>
                            <m:t>𝒅</m:t>
                          </m:r>
                          <m:r>
                            <a:rPr lang="ar-AE" b="1" i="1">
                              <a:latin typeface="Cambria Math" panose="02040503050406030204" pitchFamily="18" charset="0"/>
                            </a:rPr>
                            <m:t>𝟕</m:t>
                          </m:r>
                        </m:sub>
                      </m:sSub>
                    </m:oMath>
                  </m:oMathPara>
                </a14:m>
                <a:endParaRPr lang="ar-AE" sz="2400" b="1" dirty="0">
                  <a:latin typeface="Times New Roman" panose="02020603050405020304" pitchFamily="18" charset="0"/>
                  <a:cs typeface="Times New Roman" panose="02020603050405020304" pitchFamily="18" charset="0"/>
                </a:endParaRPr>
              </a:p>
            </p:txBody>
          </p:sp>
        </mc:Choice>
        <mc:Fallback xmlns="">
          <p:sp>
            <p:nvSpPr>
              <p:cNvPr id="6" name="Rectangle 5">
                <a:extLst>
                  <a:ext uri="{FF2B5EF4-FFF2-40B4-BE49-F238E27FC236}">
                    <a16:creationId xmlns:a16="http://schemas.microsoft.com/office/drawing/2014/main" id="{64828D39-2E84-3A15-4787-3A1560B3FAB4}"/>
                  </a:ext>
                </a:extLst>
              </p:cNvPr>
              <p:cNvSpPr>
                <a:spLocks noRot="1" noChangeAspect="1" noMove="1" noResize="1" noEditPoints="1" noAdjustHandles="1" noChangeArrowheads="1" noChangeShapeType="1" noTextEdit="1"/>
              </p:cNvSpPr>
              <p:nvPr/>
            </p:nvSpPr>
            <p:spPr>
              <a:xfrm>
                <a:off x="7467600" y="4866501"/>
                <a:ext cx="3008671" cy="553998"/>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7461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AADA1D-C58C-89BB-5D78-47E06E915611}"/>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3" name="TextBox 1">
            <a:extLst>
              <a:ext uri="{FF2B5EF4-FFF2-40B4-BE49-F238E27FC236}">
                <a16:creationId xmlns:a16="http://schemas.microsoft.com/office/drawing/2014/main" id="{A9E75DB7-9A2E-8D86-8E52-6D5DE47CA6C8}"/>
              </a:ext>
            </a:extLst>
          </p:cNvPr>
          <p:cNvSpPr txBox="1">
            <a:spLocks noChangeArrowheads="1"/>
          </p:cNvSpPr>
          <p:nvPr/>
        </p:nvSpPr>
        <p:spPr bwMode="auto">
          <a:xfrm>
            <a:off x="2286000" y="844993"/>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IN" sz="3000" b="1" dirty="0">
                <a:latin typeface="Times New Roman" panose="02020603050405020304" pitchFamily="18" charset="0"/>
                <a:cs typeface="Times New Roman" panose="02020603050405020304" pitchFamily="18" charset="0"/>
              </a:rPr>
              <a:t>Advantages of Distributed Winding</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4" name="Picture 81">
            <a:extLst>
              <a:ext uri="{FF2B5EF4-FFF2-40B4-BE49-F238E27FC236}">
                <a16:creationId xmlns:a16="http://schemas.microsoft.com/office/drawing/2014/main" id="{34CDCC05-9E06-C9CB-69C1-7051AD37A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2">
                <a:extLst>
                  <a:ext uri="{FF2B5EF4-FFF2-40B4-BE49-F238E27FC236}">
                    <a16:creationId xmlns:a16="http://schemas.microsoft.com/office/drawing/2014/main" id="{7202FBE7-BDF8-FAD6-6D31-81B459134F62}"/>
                  </a:ext>
                </a:extLst>
              </p:cNvPr>
              <p:cNvSpPr txBox="1">
                <a:spLocks noChangeArrowheads="1"/>
              </p:cNvSpPr>
              <p:nvPr/>
            </p:nvSpPr>
            <p:spPr bwMode="auto">
              <a:xfrm>
                <a:off x="2451342" y="1658221"/>
                <a:ext cx="13385314" cy="8336512"/>
              </a:xfrm>
              <a:prstGeom prst="rect">
                <a:avLst/>
              </a:prstGeom>
              <a:noFill/>
              <a:ln w="9525">
                <a:solidFill>
                  <a:srgbClr val="002060"/>
                </a:solidFill>
                <a:miter lim="800000"/>
                <a:headEnd/>
                <a:tailEnd/>
              </a:ln>
            </p:spPr>
            <p:txBody>
              <a:bodyPr wrap="square">
                <a:spAutoFit/>
              </a:bodyPr>
              <a:lstStyle/>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For a distributed winding, the phase winding is spread over several slots. Hence, the distributed factor is less than unity and the induced EMF is:</a:t>
                </a:r>
              </a:p>
              <a:p>
                <a:pPr>
                  <a:lnSpc>
                    <a:spcPct val="150000"/>
                  </a:lnSpc>
                </a:pPr>
                <a14:m>
                  <m:oMathPara xmlns:m="http://schemas.openxmlformats.org/officeDocument/2006/math">
                    <m:oMathParaPr>
                      <m:jc m:val="centerGroup"/>
                    </m:oMathParaPr>
                    <m:oMath xmlns:m="http://schemas.openxmlformats.org/officeDocument/2006/math">
                      <m:sSub>
                        <m:sSubPr>
                          <m:ctrlPr>
                            <a:rPr lang="ar-AE" sz="2400" b="1" i="1">
                              <a:latin typeface="Cambria Math" panose="02040503050406030204" pitchFamily="18" charset="0"/>
                            </a:rPr>
                          </m:ctrlPr>
                        </m:sSubPr>
                        <m:e>
                          <m:r>
                            <a:rPr lang="ar-AE" sz="2400" b="1" i="1">
                              <a:latin typeface="Cambria Math" panose="02040503050406030204" pitchFamily="18" charset="0"/>
                            </a:rPr>
                            <m:t>𝑬</m:t>
                          </m:r>
                        </m:e>
                        <m:sub>
                          <m:r>
                            <a:rPr lang="ar-AE" sz="2400" b="1" i="1">
                              <a:latin typeface="Cambria Math" panose="02040503050406030204" pitchFamily="18" charset="0"/>
                            </a:rPr>
                            <m:t>𝒅</m:t>
                          </m:r>
                        </m:sub>
                      </m:sSub>
                      <m:r>
                        <a:rPr lang="ar-AE" sz="2400" b="1">
                          <a:latin typeface="Cambria Math" panose="02040503050406030204" pitchFamily="18" charset="0"/>
                        </a:rPr>
                        <m:t>=</m:t>
                      </m:r>
                      <m:r>
                        <a:rPr lang="ar-AE" sz="2400" b="1" i="1">
                          <a:latin typeface="Cambria Math" panose="02040503050406030204" pitchFamily="18" charset="0"/>
                        </a:rPr>
                        <m:t>𝟒</m:t>
                      </m:r>
                      <m:r>
                        <a:rPr lang="ar-AE" sz="2400" b="1">
                          <a:latin typeface="Cambria Math" panose="02040503050406030204" pitchFamily="18" charset="0"/>
                        </a:rPr>
                        <m:t>.</m:t>
                      </m:r>
                      <m:r>
                        <a:rPr lang="ar-AE" sz="2400" b="1" i="1">
                          <a:latin typeface="Cambria Math" panose="02040503050406030204" pitchFamily="18" charset="0"/>
                        </a:rPr>
                        <m:t>𝟒𝟒</m:t>
                      </m:r>
                      <m:r>
                        <m:rPr>
                          <m:nor/>
                        </m:rPr>
                        <a:rPr lang="ar-AE" sz="2400" b="1" i="1">
                          <a:latin typeface="Times New Roman" panose="02020603050405020304" pitchFamily="18" charset="0"/>
                          <a:cs typeface="Times New Roman" panose="02020603050405020304" pitchFamily="18" charset="0"/>
                        </a:rPr>
                        <m:t> </m:t>
                      </m:r>
                      <m:sSub>
                        <m:sSubPr>
                          <m:ctrlPr>
                            <a:rPr lang="ar-AE" sz="2400" b="1" i="1">
                              <a:latin typeface="Cambria Math" panose="02040503050406030204" pitchFamily="18" charset="0"/>
                            </a:rPr>
                          </m:ctrlPr>
                        </m:sSubPr>
                        <m:e>
                          <m:r>
                            <a:rPr lang="ar-AE" sz="2400" b="1" i="1">
                              <a:latin typeface="Cambria Math" panose="02040503050406030204" pitchFamily="18" charset="0"/>
                            </a:rPr>
                            <m:t>𝑵</m:t>
                          </m:r>
                        </m:e>
                        <m:sub>
                          <m:r>
                            <a:rPr lang="ar-AE" sz="2400" b="1" i="1">
                              <a:latin typeface="Cambria Math" panose="02040503050406030204" pitchFamily="18" charset="0"/>
                            </a:rPr>
                            <m:t>𝒑𝒉</m:t>
                          </m:r>
                        </m:sub>
                      </m:sSub>
                      <m:r>
                        <m:rPr>
                          <m:nor/>
                        </m:rPr>
                        <a:rPr lang="ar-AE" sz="2400" b="1" i="1">
                          <a:latin typeface="Times New Roman" panose="02020603050405020304" pitchFamily="18" charset="0"/>
                          <a:cs typeface="Times New Roman" panose="02020603050405020304" pitchFamily="18" charset="0"/>
                        </a:rPr>
                        <m:t> </m:t>
                      </m:r>
                      <m:sSub>
                        <m:sSubPr>
                          <m:ctrlPr>
                            <a:rPr lang="ar-AE" sz="2400" b="1" i="1">
                              <a:latin typeface="Cambria Math" panose="02040503050406030204" pitchFamily="18" charset="0"/>
                            </a:rPr>
                          </m:ctrlPr>
                        </m:sSubPr>
                        <m:e>
                          <m:r>
                            <a:rPr lang="el-GR" sz="2400" b="1" i="1">
                              <a:latin typeface="Cambria Math" panose="02040503050406030204" pitchFamily="18" charset="0"/>
                            </a:rPr>
                            <m:t>𝚽</m:t>
                          </m:r>
                        </m:e>
                        <m:sub>
                          <m:r>
                            <a:rPr lang="ar-AE" sz="2400" b="1" i="1">
                              <a:latin typeface="Cambria Math" panose="02040503050406030204" pitchFamily="18" charset="0"/>
                            </a:rPr>
                            <m:t>𝒎</m:t>
                          </m:r>
                        </m:sub>
                      </m:sSub>
                      <m:r>
                        <m:rPr>
                          <m:nor/>
                        </m:rPr>
                        <a:rPr lang="ar-AE" sz="2400" b="1" i="1">
                          <a:latin typeface="Times New Roman" panose="02020603050405020304" pitchFamily="18" charset="0"/>
                          <a:cs typeface="Times New Roman" panose="02020603050405020304" pitchFamily="18" charset="0"/>
                        </a:rPr>
                        <m:t> </m:t>
                      </m:r>
                      <m:r>
                        <a:rPr lang="ar-AE" sz="2400" b="1" i="1">
                          <a:latin typeface="Cambria Math" panose="02040503050406030204" pitchFamily="18" charset="0"/>
                        </a:rPr>
                        <m:t>𝒇</m:t>
                      </m:r>
                      <m:r>
                        <m:rPr>
                          <m:nor/>
                        </m:rPr>
                        <a:rPr lang="ar-AE" sz="2400" b="1" i="1">
                          <a:latin typeface="Times New Roman" panose="02020603050405020304" pitchFamily="18" charset="0"/>
                          <a:cs typeface="Times New Roman" panose="02020603050405020304" pitchFamily="18" charset="0"/>
                        </a:rPr>
                        <m:t> </m:t>
                      </m:r>
                      <m:sSub>
                        <m:sSubPr>
                          <m:ctrlPr>
                            <a:rPr lang="ar-AE" sz="2400" b="1" i="1">
                              <a:latin typeface="Cambria Math" panose="02040503050406030204" pitchFamily="18" charset="0"/>
                            </a:rPr>
                          </m:ctrlPr>
                        </m:sSubPr>
                        <m:e>
                          <m:r>
                            <a:rPr lang="ar-AE" sz="2400" b="1" i="1">
                              <a:latin typeface="Cambria Math" panose="02040503050406030204" pitchFamily="18" charset="0"/>
                            </a:rPr>
                            <m:t>𝒌</m:t>
                          </m:r>
                        </m:e>
                        <m:sub>
                          <m:r>
                            <a:rPr lang="ar-AE" sz="2400" b="1" i="1">
                              <a:latin typeface="Cambria Math" panose="02040503050406030204" pitchFamily="18" charset="0"/>
                            </a:rPr>
                            <m:t>𝒅</m:t>
                          </m:r>
                        </m:sub>
                      </m:sSub>
                    </m:oMath>
                  </m:oMathPara>
                </a14:m>
                <a:endParaRPr lang="ar-AE" sz="2400" b="1" dirty="0">
                  <a:latin typeface="Times New Roman" panose="02020603050405020304" pitchFamily="18" charset="0"/>
                  <a:cs typeface="Times New Roman" panose="02020603050405020304" pitchFamily="18" charset="0"/>
                </a:endParaRPr>
              </a:p>
              <a:p>
                <a:pPr>
                  <a:lnSpc>
                    <a:spcPct val="150000"/>
                  </a:lnSpc>
                </a:pPr>
                <a:r>
                  <a:rPr lang="en-IN" b="1" u="sng" dirty="0">
                    <a:solidFill>
                      <a:srgbClr val="2850FC"/>
                    </a:solidFill>
                    <a:latin typeface="Times New Roman" panose="02020603050405020304" pitchFamily="18" charset="0"/>
                    <a:cs typeface="Times New Roman" panose="02020603050405020304" pitchFamily="18" charset="0"/>
                  </a:rPr>
                  <a:t>Effect of Distributed Winding on Harmonics</a:t>
                </a: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As the order of harmonics increases, the value of the distributed factor is reduced. Because of this reduction, higher-order harmonic components present in the induced electromotive force are suppressed.</a:t>
                </a: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By distributing the winding in different slots along the periphery of the stator, the harmonic content in the induced EMF can be reduced significantly.</a:t>
                </a:r>
              </a:p>
              <a:p>
                <a:pPr>
                  <a:lnSpc>
                    <a:spcPct val="150000"/>
                  </a:lnSpc>
                </a:pPr>
                <a:r>
                  <a:rPr lang="en-IN" b="1" u="sng" dirty="0">
                    <a:solidFill>
                      <a:srgbClr val="2850FC"/>
                    </a:solidFill>
                    <a:latin typeface="Times New Roman" panose="02020603050405020304" pitchFamily="18" charset="0"/>
                    <a:cs typeface="Times New Roman" panose="02020603050405020304" pitchFamily="18" charset="0"/>
                  </a:rPr>
                  <a:t>Air-Gap MMF Waveform</a:t>
                </a: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In a distributed winding, the shape of the air-gap magnetomotive force waveform is approximately sinusoidal. Due to this, the harmonic content present in the induced electromotive force is reduced, and the resultant EMF waveform becomes closer to a sinusoidal waveform.</a:t>
                </a: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Therefore, in practice, both induction machines and synchronous machines employ distributed windings.</a:t>
                </a:r>
              </a:p>
              <a:p>
                <a:pPr>
                  <a:lnSpc>
                    <a:spcPct val="150000"/>
                  </a:lnSpc>
                </a:pPr>
                <a:r>
                  <a:rPr lang="en-IN" b="1" u="sng" dirty="0">
                    <a:solidFill>
                      <a:srgbClr val="2850FC"/>
                    </a:solidFill>
                    <a:latin typeface="Times New Roman" panose="02020603050405020304" pitchFamily="18" charset="0"/>
                    <a:cs typeface="Times New Roman" panose="02020603050405020304" pitchFamily="18" charset="0"/>
                  </a:rPr>
                  <a:t>Types of Windings</a:t>
                </a:r>
              </a:p>
              <a:p>
                <a:pPr>
                  <a:lnSpc>
                    <a:spcPct val="150000"/>
                  </a:lnSpc>
                </a:pPr>
                <a:r>
                  <a:rPr lang="en-IN" sz="2400" b="1" dirty="0">
                    <a:solidFill>
                      <a:srgbClr val="7030A0"/>
                    </a:solidFill>
                    <a:latin typeface="Times New Roman" panose="02020603050405020304" pitchFamily="18" charset="0"/>
                    <a:cs typeface="Times New Roman" panose="02020603050405020304" pitchFamily="18" charset="0"/>
                  </a:rPr>
                  <a:t>Two types of windings are commonly used:</a:t>
                </a:r>
              </a:p>
              <a:p>
                <a:pPr marL="342900" indent="-342900">
                  <a:buFont typeface="+mj-lt"/>
                  <a:buAutoNum type="arabicPeriod"/>
                </a:pPr>
                <a:r>
                  <a:rPr lang="en-IN" sz="2400" b="1" dirty="0">
                    <a:latin typeface="Times New Roman" panose="02020603050405020304" pitchFamily="18" charset="0"/>
                    <a:cs typeface="Times New Roman" panose="02020603050405020304" pitchFamily="18" charset="0"/>
                  </a:rPr>
                  <a:t>Full-pitch winding</a:t>
                </a:r>
              </a:p>
              <a:p>
                <a:pPr marL="342900" indent="-342900">
                  <a:buFont typeface="+mj-lt"/>
                  <a:buAutoNum type="arabicPeriod"/>
                </a:pPr>
                <a:r>
                  <a:rPr lang="en-IN" sz="2400" b="1" dirty="0">
                    <a:latin typeface="Times New Roman" panose="02020603050405020304" pitchFamily="18" charset="0"/>
                    <a:cs typeface="Times New Roman" panose="02020603050405020304" pitchFamily="18" charset="0"/>
                  </a:rPr>
                  <a:t>Short-pitch (fractional pitch) winding</a:t>
                </a:r>
              </a:p>
            </p:txBody>
          </p:sp>
        </mc:Choice>
        <mc:Fallback xmlns="">
          <p:sp>
            <p:nvSpPr>
              <p:cNvPr id="5" name="TextBox 2">
                <a:extLst>
                  <a:ext uri="{FF2B5EF4-FFF2-40B4-BE49-F238E27FC236}">
                    <a16:creationId xmlns:a16="http://schemas.microsoft.com/office/drawing/2014/main" id="{7202FBE7-BDF8-FAD6-6D31-81B459134F62}"/>
                  </a:ext>
                </a:extLst>
              </p:cNvPr>
              <p:cNvSpPr txBox="1">
                <a:spLocks noRot="1" noChangeAspect="1" noMove="1" noResize="1" noEditPoints="1" noAdjustHandles="1" noChangeArrowheads="1" noChangeShapeType="1" noTextEdit="1"/>
              </p:cNvSpPr>
              <p:nvPr/>
            </p:nvSpPr>
            <p:spPr bwMode="auto">
              <a:xfrm>
                <a:off x="2451342" y="1658221"/>
                <a:ext cx="13385314" cy="8336512"/>
              </a:xfrm>
              <a:prstGeom prst="rect">
                <a:avLst/>
              </a:prstGeom>
              <a:blipFill>
                <a:blip r:embed="R5050327ced8f4387"/>
                <a:stretch>
                  <a:fillRect l="-477" t="-219" r="-750" b="-328"/>
                </a:stretch>
              </a:blipFill>
              <a:ln w="9525">
                <a:solidFill>
                  <a:srgbClr val="002060"/>
                </a:solidFill>
                <a:miter lim="800000"/>
                <a:headEnd/>
                <a:tailEnd/>
              </a:ln>
            </p:spPr>
            <p:txBody>
              <a:bodyPr/>
              <a:lstStyle/>
              <a:p>
                <a:r>
                  <a:rPr lang="en-IN">
                    <a:noFill/>
                  </a:rPr>
                  <a:t> </a:t>
                </a:r>
              </a:p>
            </p:txBody>
          </p:sp>
        </mc:Fallback>
      </mc:AlternateContent>
    </p:spTree>
    <p:extLst>
      <p:ext uri="{BB962C8B-B14F-4D97-AF65-F5344CB8AC3E}">
        <p14:creationId xmlns:p14="http://schemas.microsoft.com/office/powerpoint/2010/main" val="4040719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D87D11-0D46-06F6-FEA8-3114212F39FB}"/>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3" name="TextBox 1">
            <a:extLst>
              <a:ext uri="{FF2B5EF4-FFF2-40B4-BE49-F238E27FC236}">
                <a16:creationId xmlns:a16="http://schemas.microsoft.com/office/drawing/2014/main" id="{D56185C3-0E38-74B9-7398-1EE6498C149D}"/>
              </a:ext>
            </a:extLst>
          </p:cNvPr>
          <p:cNvSpPr txBox="1">
            <a:spLocks noChangeArrowheads="1"/>
          </p:cNvSpPr>
          <p:nvPr/>
        </p:nvSpPr>
        <p:spPr bwMode="auto">
          <a:xfrm>
            <a:off x="2286000" y="844993"/>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sz="3000" b="1" dirty="0">
                <a:latin typeface="Times New Roman" panose="02020603050405020304" pitchFamily="18" charset="0"/>
                <a:cs typeface="Times New Roman" panose="02020603050405020304" pitchFamily="18" charset="0"/>
              </a:rPr>
              <a:t>Full Pitch and Short Pitch Winding</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4" name="Picture 81">
            <a:extLst>
              <a:ext uri="{FF2B5EF4-FFF2-40B4-BE49-F238E27FC236}">
                <a16:creationId xmlns:a16="http://schemas.microsoft.com/office/drawing/2014/main" id="{AEB85A9E-C359-6041-3EB7-2E6568D3C4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2">
                <a:extLst>
                  <a:ext uri="{FF2B5EF4-FFF2-40B4-BE49-F238E27FC236}">
                    <a16:creationId xmlns:a16="http://schemas.microsoft.com/office/drawing/2014/main" id="{D885D80F-2849-4A22-9F6D-F452749327E3}"/>
                  </a:ext>
                </a:extLst>
              </p:cNvPr>
              <p:cNvSpPr txBox="1">
                <a:spLocks noChangeArrowheads="1"/>
              </p:cNvSpPr>
              <p:nvPr/>
            </p:nvSpPr>
            <p:spPr bwMode="auto">
              <a:xfrm>
                <a:off x="2451342" y="1658221"/>
                <a:ext cx="13385314" cy="8748549"/>
              </a:xfrm>
              <a:prstGeom prst="rect">
                <a:avLst/>
              </a:prstGeom>
              <a:noFill/>
              <a:ln w="9525">
                <a:solidFill>
                  <a:srgbClr val="002060"/>
                </a:solidFill>
                <a:miter lim="800000"/>
                <a:headEnd/>
                <a:tailEnd/>
              </a:ln>
            </p:spPr>
            <p:txBody>
              <a:bodyPr wrap="square">
                <a:spAutoFit/>
              </a:bodyPr>
              <a:lstStyle/>
              <a:p>
                <a:r>
                  <a:rPr lang="en-IN" b="1" u="sng" dirty="0">
                    <a:solidFill>
                      <a:srgbClr val="2850FC"/>
                    </a:solidFill>
                    <a:latin typeface="Times New Roman" panose="02020603050405020304" pitchFamily="18" charset="0"/>
                    <a:cs typeface="Times New Roman" panose="02020603050405020304" pitchFamily="18" charset="0"/>
                  </a:rPr>
                  <a:t>Coil and Pole Pitch</a:t>
                </a: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A coil consists of two coil sides placed in different slots. The distance between the two sides of a coil is known as the coil span.</a:t>
                </a: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For a full-pitch winding, the coil span is equal to one pole pitch:</a:t>
                </a:r>
              </a:p>
              <a:p>
                <a:pPr>
                  <a:lnSpc>
                    <a:spcPct val="150000"/>
                  </a:lnSpc>
                </a:pPr>
                <a14:m>
                  <m:oMathPara xmlns:m="http://schemas.openxmlformats.org/officeDocument/2006/math">
                    <m:oMathParaPr>
                      <m:jc m:val="centerGroup"/>
                    </m:oMathParaPr>
                    <m:oMath xmlns:m="http://schemas.openxmlformats.org/officeDocument/2006/math">
                      <m:sSup>
                        <m:sSupPr>
                          <m:ctrlPr>
                            <a:rPr lang="ar-AE" sz="2400" b="1" i="1">
                              <a:solidFill>
                                <a:schemeClr val="tx1"/>
                              </a:solidFill>
                              <a:latin typeface="Cambria Math" panose="02040503050406030204" pitchFamily="18" charset="0"/>
                            </a:rPr>
                          </m:ctrlPr>
                        </m:sSupPr>
                        <m:e>
                          <m:r>
                            <a:rPr lang="ar-AE" sz="2400" b="1" i="1">
                              <a:solidFill>
                                <a:schemeClr val="tx1"/>
                              </a:solidFill>
                              <a:latin typeface="Cambria Math" panose="02040503050406030204" pitchFamily="18" charset="0"/>
                            </a:rPr>
                            <m:t>𝟏𝟖𝟎</m:t>
                          </m:r>
                        </m:e>
                        <m:sup>
                          <m:r>
                            <a:rPr lang="ar-AE" sz="2400" b="1">
                              <a:solidFill>
                                <a:schemeClr val="tx1"/>
                              </a:solidFill>
                              <a:latin typeface="Cambria Math" panose="02040503050406030204" pitchFamily="18" charset="0"/>
                            </a:rPr>
                            <m:t>∘</m:t>
                          </m:r>
                        </m:sup>
                      </m:sSup>
                      <m:r>
                        <a:rPr lang="ar-AE" sz="2400" b="1">
                          <a:solidFill>
                            <a:schemeClr val="tx1"/>
                          </a:solidFill>
                          <a:latin typeface="Cambria Math" panose="02040503050406030204" pitchFamily="18" charset="0"/>
                        </a:rPr>
                        <m:t>=</m:t>
                      </m:r>
                      <m:r>
                        <m:rPr>
                          <m:nor/>
                        </m:rPr>
                        <a:rPr lang="en-IN" sz="2400" b="1" i="1">
                          <a:solidFill>
                            <a:schemeClr val="tx1"/>
                          </a:solidFill>
                          <a:latin typeface="Times New Roman" panose="02020603050405020304" pitchFamily="18" charset="0"/>
                          <a:cs typeface="Times New Roman" panose="02020603050405020304" pitchFamily="18" charset="0"/>
                        </a:rPr>
                        <m:t>coil</m:t>
                      </m:r>
                      <m:r>
                        <m:rPr>
                          <m:nor/>
                        </m:rPr>
                        <a:rPr lang="en-IN" sz="2400" b="1" i="1">
                          <a:solidFill>
                            <a:schemeClr val="tx1"/>
                          </a:solidFill>
                          <a:latin typeface="Times New Roman" panose="02020603050405020304" pitchFamily="18" charset="0"/>
                          <a:cs typeface="Times New Roman" panose="02020603050405020304" pitchFamily="18" charset="0"/>
                        </a:rPr>
                        <m:t> </m:t>
                      </m:r>
                      <m:r>
                        <m:rPr>
                          <m:nor/>
                        </m:rPr>
                        <a:rPr lang="en-IN" sz="2400" b="1" i="1">
                          <a:solidFill>
                            <a:schemeClr val="tx1"/>
                          </a:solidFill>
                          <a:latin typeface="Times New Roman" panose="02020603050405020304" pitchFamily="18" charset="0"/>
                          <a:cs typeface="Times New Roman" panose="02020603050405020304" pitchFamily="18" charset="0"/>
                        </a:rPr>
                        <m:t>span</m:t>
                      </m:r>
                      <m:r>
                        <a:rPr lang="en-IN" sz="2400" b="1">
                          <a:solidFill>
                            <a:schemeClr val="tx1"/>
                          </a:solidFill>
                          <a:latin typeface="Cambria Math" panose="02040503050406030204" pitchFamily="18" charset="0"/>
                        </a:rPr>
                        <m:t>=</m:t>
                      </m:r>
                      <m:r>
                        <m:rPr>
                          <m:nor/>
                        </m:rPr>
                        <a:rPr lang="en-IN" sz="2400" b="1" i="1">
                          <a:solidFill>
                            <a:schemeClr val="tx1"/>
                          </a:solidFill>
                          <a:latin typeface="Times New Roman" panose="02020603050405020304" pitchFamily="18" charset="0"/>
                          <a:cs typeface="Times New Roman" panose="02020603050405020304" pitchFamily="18" charset="0"/>
                        </a:rPr>
                        <m:t>one</m:t>
                      </m:r>
                      <m:r>
                        <m:rPr>
                          <m:nor/>
                        </m:rPr>
                        <a:rPr lang="en-IN" sz="2400" b="1" i="1">
                          <a:solidFill>
                            <a:schemeClr val="tx1"/>
                          </a:solidFill>
                          <a:latin typeface="Times New Roman" panose="02020603050405020304" pitchFamily="18" charset="0"/>
                          <a:cs typeface="Times New Roman" panose="02020603050405020304" pitchFamily="18" charset="0"/>
                        </a:rPr>
                        <m:t> </m:t>
                      </m:r>
                      <m:r>
                        <m:rPr>
                          <m:nor/>
                        </m:rPr>
                        <a:rPr lang="en-IN" sz="2400" b="1" i="1">
                          <a:solidFill>
                            <a:schemeClr val="tx1"/>
                          </a:solidFill>
                          <a:latin typeface="Times New Roman" panose="02020603050405020304" pitchFamily="18" charset="0"/>
                          <a:cs typeface="Times New Roman" panose="02020603050405020304" pitchFamily="18" charset="0"/>
                        </a:rPr>
                        <m:t>pole</m:t>
                      </m:r>
                      <m:r>
                        <m:rPr>
                          <m:nor/>
                        </m:rPr>
                        <a:rPr lang="en-IN" sz="2400" b="1" i="1">
                          <a:solidFill>
                            <a:schemeClr val="tx1"/>
                          </a:solidFill>
                          <a:latin typeface="Times New Roman" panose="02020603050405020304" pitchFamily="18" charset="0"/>
                          <a:cs typeface="Times New Roman" panose="02020603050405020304" pitchFamily="18" charset="0"/>
                        </a:rPr>
                        <m:t> </m:t>
                      </m:r>
                      <m:r>
                        <m:rPr>
                          <m:nor/>
                        </m:rPr>
                        <a:rPr lang="en-IN" sz="2400" b="1" i="1">
                          <a:solidFill>
                            <a:schemeClr val="tx1"/>
                          </a:solidFill>
                          <a:latin typeface="Times New Roman" panose="02020603050405020304" pitchFamily="18" charset="0"/>
                          <a:cs typeface="Times New Roman" panose="02020603050405020304" pitchFamily="18" charset="0"/>
                        </a:rPr>
                        <m:t>pitch</m:t>
                      </m:r>
                    </m:oMath>
                  </m:oMathPara>
                </a14:m>
                <a:endParaRPr lang="en-IN" sz="2400" b="1"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Pole pitch is defined as the distance between two consecutive poles and is expressed in electrical degrees. One pole pitch is equal to </a:t>
                </a:r>
                <a14:m>
                  <m:oMath xmlns:m="http://schemas.openxmlformats.org/officeDocument/2006/math">
                    <m:sSup>
                      <m:sSupPr>
                        <m:ctrlPr>
                          <a:rPr lang="ar-AE" sz="2400" b="1" i="1">
                            <a:solidFill>
                              <a:srgbClr val="7030A0"/>
                            </a:solidFill>
                            <a:latin typeface="Cambria Math" panose="02040503050406030204" pitchFamily="18" charset="0"/>
                          </a:rPr>
                        </m:ctrlPr>
                      </m:sSupPr>
                      <m:e>
                        <m:r>
                          <a:rPr lang="ar-AE" sz="2400" b="1" i="1">
                            <a:solidFill>
                              <a:srgbClr val="7030A0"/>
                            </a:solidFill>
                            <a:latin typeface="Cambria Math" panose="02040503050406030204" pitchFamily="18" charset="0"/>
                          </a:rPr>
                          <m:t>𝟏𝟖𝟎</m:t>
                        </m:r>
                      </m:e>
                      <m:sup>
                        <m:r>
                          <a:rPr lang="ar-AE" sz="2400" b="1">
                            <a:solidFill>
                              <a:srgbClr val="7030A0"/>
                            </a:solidFill>
                            <a:latin typeface="Cambria Math" panose="02040503050406030204" pitchFamily="18" charset="0"/>
                          </a:rPr>
                          <m:t>∘</m:t>
                        </m:r>
                      </m:sup>
                    </m:sSup>
                  </m:oMath>
                </a14:m>
                <a:r>
                  <a:rPr lang="en-IN" sz="2400" b="1" dirty="0">
                    <a:solidFill>
                      <a:srgbClr val="7030A0"/>
                    </a:solidFill>
                    <a:latin typeface="Times New Roman" panose="02020603050405020304" pitchFamily="18" charset="0"/>
                    <a:cs typeface="Times New Roman" panose="02020603050405020304" pitchFamily="18" charset="0"/>
                  </a:rPr>
                  <a:t>electrical.</a:t>
                </a: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The electrical angle and mechanical angle are related by:</a:t>
                </a:r>
              </a:p>
              <a:p>
                <a:pPr>
                  <a:lnSpc>
                    <a:spcPct val="150000"/>
                  </a:lnSpc>
                </a:pPr>
                <a:endParaRPr lang="ar-AE" sz="2400" b="1" dirty="0">
                  <a:solidFill>
                    <a:schemeClr val="tx1"/>
                  </a:solidFill>
                  <a:latin typeface="Times New Roman" panose="02020603050405020304" pitchFamily="18" charset="0"/>
                  <a:cs typeface="Times New Roman" panose="02020603050405020304" pitchFamily="18" charset="0"/>
                </a:endParaRPr>
              </a:p>
              <a:p>
                <a:r>
                  <a:rPr lang="en-IN" sz="2400" b="1" dirty="0">
                    <a:solidFill>
                      <a:srgbClr val="7030A0"/>
                    </a:solidFill>
                    <a:latin typeface="Times New Roman" panose="02020603050405020304" pitchFamily="18" charset="0"/>
                    <a:cs typeface="Times New Roman" panose="02020603050405020304" pitchFamily="18" charset="0"/>
                  </a:rPr>
                  <a:t>    where </a:t>
                </a:r>
                <a14:m>
                  <m:oMath xmlns:m="http://schemas.openxmlformats.org/officeDocument/2006/math">
                    <m:r>
                      <a:rPr lang="en-IN" sz="2400" b="1" i="1">
                        <a:solidFill>
                          <a:srgbClr val="7030A0"/>
                        </a:solidFill>
                        <a:latin typeface="Cambria Math" panose="02040503050406030204" pitchFamily="18" charset="0"/>
                      </a:rPr>
                      <m:t>𝑷</m:t>
                    </m:r>
                  </m:oMath>
                </a14:m>
                <a:r>
                  <a:rPr lang="en-IN" sz="2400" b="1" dirty="0">
                    <a:solidFill>
                      <a:srgbClr val="7030A0"/>
                    </a:solidFill>
                    <a:latin typeface="Times New Roman" panose="02020603050405020304" pitchFamily="18" charset="0"/>
                    <a:cs typeface="Times New Roman" panose="02020603050405020304" pitchFamily="18" charset="0"/>
                  </a:rPr>
                  <a:t>is the number of poles.</a:t>
                </a:r>
              </a:p>
              <a:p>
                <a:pPr marL="285750" indent="-285750">
                  <a:buFont typeface="Wingdings" panose="05000000000000000000" pitchFamily="2" charset="2"/>
                  <a:buChar char="Ø"/>
                </a:pPr>
                <a:endParaRPr lang="en-IN" sz="2400" b="1" dirty="0">
                  <a:latin typeface="Times New Roman" panose="02020603050405020304" pitchFamily="18" charset="0"/>
                  <a:cs typeface="Times New Roman" panose="02020603050405020304" pitchFamily="18" charset="0"/>
                </a:endParaRPr>
              </a:p>
              <a:p>
                <a:pPr>
                  <a:lnSpc>
                    <a:spcPct val="150000"/>
                  </a:lnSpc>
                </a:pPr>
                <a:r>
                  <a:rPr lang="en-IN" b="1" u="sng" dirty="0">
                    <a:solidFill>
                      <a:srgbClr val="2850FC"/>
                    </a:solidFill>
                    <a:latin typeface="Times New Roman" panose="02020603050405020304" pitchFamily="18" charset="0"/>
                    <a:cs typeface="Times New Roman" panose="02020603050405020304" pitchFamily="18" charset="0"/>
                  </a:rPr>
                  <a:t>Full-Pitch and Short-Pitch Coils</a:t>
                </a:r>
              </a:p>
              <a:p>
                <a:pPr marL="285750" indent="-285750">
                  <a:buFont typeface="Wingdings" panose="05000000000000000000" pitchFamily="2" charset="2"/>
                  <a:buChar char="q"/>
                </a:pPr>
                <a:r>
                  <a:rPr lang="en-IN" sz="2400" b="1" dirty="0">
                    <a:solidFill>
                      <a:srgbClr val="7030A0"/>
                    </a:solidFill>
                    <a:latin typeface="Times New Roman" panose="02020603050405020304" pitchFamily="18" charset="0"/>
                    <a:cs typeface="Times New Roman" panose="02020603050405020304" pitchFamily="18" charset="0"/>
                  </a:rPr>
                  <a:t>The distance between the two coil sides of a coil is called the</a:t>
                </a:r>
              </a:p>
              <a:p>
                <a:r>
                  <a:rPr lang="en-IN" sz="2400" b="1" dirty="0">
                    <a:solidFill>
                      <a:srgbClr val="7030A0"/>
                    </a:solidFill>
                    <a:latin typeface="Times New Roman" panose="02020603050405020304" pitchFamily="18" charset="0"/>
                    <a:cs typeface="Times New Roman" panose="02020603050405020304" pitchFamily="18" charset="0"/>
                  </a:rPr>
                  <a:t>     coil span. If the coil span is equal to one pole pitch </a:t>
                </a:r>
              </a:p>
              <a:p>
                <a:r>
                  <a:rPr lang="en-IN" sz="2400" b="1" dirty="0">
                    <a:solidFill>
                      <a:srgbClr val="7030A0"/>
                    </a:solidFill>
                    <a:latin typeface="Times New Roman" panose="02020603050405020304" pitchFamily="18" charset="0"/>
                    <a:cs typeface="Times New Roman" panose="02020603050405020304" pitchFamily="18" charset="0"/>
                  </a:rPr>
                  <a:t>      (180° electrical), the coil is called a full-pitch coil.</a:t>
                </a:r>
              </a:p>
              <a:p>
                <a:pPr>
                  <a:lnSpc>
                    <a:spcPct val="150000"/>
                  </a:lnSpc>
                </a:pPr>
                <a:r>
                  <a:rPr lang="en-IN" sz="2400" b="1" dirty="0">
                    <a:solidFill>
                      <a:srgbClr val="7030A0"/>
                    </a:solidFill>
                    <a:latin typeface="Times New Roman" panose="02020603050405020304" pitchFamily="18" charset="0"/>
                    <a:cs typeface="Times New Roman" panose="02020603050405020304" pitchFamily="18" charset="0"/>
                  </a:rPr>
                  <a:t>    For a full-pitch coil:</a:t>
                </a:r>
              </a:p>
              <a:p>
                <a:pPr>
                  <a:lnSpc>
                    <a:spcPct val="150000"/>
                  </a:lnSpc>
                </a:pPr>
                <a14:m>
                  <m:oMathPara xmlns:m="http://schemas.openxmlformats.org/officeDocument/2006/math">
                    <m:oMathParaPr>
                      <m:jc m:val="centerGroup"/>
                    </m:oMathParaPr>
                    <m:oMath xmlns:m="http://schemas.openxmlformats.org/officeDocument/2006/math">
                      <m:r>
                        <m:rPr>
                          <m:nor/>
                        </m:rPr>
                        <a:rPr lang="en-IN" sz="2400" b="1">
                          <a:solidFill>
                            <a:schemeClr val="tx1"/>
                          </a:solidFill>
                          <a:latin typeface="Times New Roman" panose="02020603050405020304" pitchFamily="18" charset="0"/>
                          <a:cs typeface="Times New Roman" panose="02020603050405020304" pitchFamily="18" charset="0"/>
                        </a:rPr>
                        <m:t>Coil</m:t>
                      </m:r>
                      <m:r>
                        <m:rPr>
                          <m:nor/>
                        </m:rPr>
                        <a:rPr lang="en-IN" sz="2400" b="1" i="1">
                          <a:solidFill>
                            <a:schemeClr val="tx1"/>
                          </a:solidFill>
                          <a:latin typeface="Times New Roman" panose="02020603050405020304" pitchFamily="18" charset="0"/>
                          <a:cs typeface="Times New Roman" panose="02020603050405020304" pitchFamily="18" charset="0"/>
                        </a:rPr>
                        <m:t> </m:t>
                      </m:r>
                      <m:r>
                        <m:rPr>
                          <m:nor/>
                        </m:rPr>
                        <a:rPr lang="en-IN" sz="2400" b="1" i="1">
                          <a:solidFill>
                            <a:schemeClr val="tx1"/>
                          </a:solidFill>
                          <a:latin typeface="Times New Roman" panose="02020603050405020304" pitchFamily="18" charset="0"/>
                          <a:cs typeface="Times New Roman" panose="02020603050405020304" pitchFamily="18" charset="0"/>
                        </a:rPr>
                        <m:t>span</m:t>
                      </m:r>
                      <m:r>
                        <a:rPr lang="en-IN" sz="2400" b="1">
                          <a:solidFill>
                            <a:schemeClr val="tx1"/>
                          </a:solidFill>
                          <a:latin typeface="Cambria Math" panose="02040503050406030204" pitchFamily="18" charset="0"/>
                        </a:rPr>
                        <m:t>=</m:t>
                      </m:r>
                      <m:sSup>
                        <m:sSupPr>
                          <m:ctrlPr>
                            <a:rPr lang="ar-AE" sz="2400" b="1" i="1">
                              <a:solidFill>
                                <a:schemeClr val="tx1"/>
                              </a:solidFill>
                              <a:latin typeface="Cambria Math" panose="02040503050406030204" pitchFamily="18" charset="0"/>
                            </a:rPr>
                          </m:ctrlPr>
                        </m:sSupPr>
                        <m:e>
                          <m:r>
                            <a:rPr lang="ar-AE" sz="2400" b="1" i="1">
                              <a:solidFill>
                                <a:schemeClr val="tx1"/>
                              </a:solidFill>
                              <a:latin typeface="Cambria Math" panose="02040503050406030204" pitchFamily="18" charset="0"/>
                            </a:rPr>
                            <m:t>𝟏𝟖𝟎</m:t>
                          </m:r>
                        </m:e>
                        <m:sup>
                          <m:r>
                            <a:rPr lang="ar-AE" sz="2400" b="1">
                              <a:solidFill>
                                <a:schemeClr val="tx1"/>
                              </a:solidFill>
                              <a:latin typeface="Cambria Math" panose="02040503050406030204" pitchFamily="18" charset="0"/>
                            </a:rPr>
                            <m:t>∘</m:t>
                          </m:r>
                        </m:sup>
                      </m:sSup>
                      <m:r>
                        <m:rPr>
                          <m:nor/>
                        </m:rPr>
                        <a:rPr lang="ar-AE" sz="2400" b="1" i="1">
                          <a:solidFill>
                            <a:schemeClr val="tx1"/>
                          </a:solidFill>
                          <a:latin typeface="Times New Roman" panose="02020603050405020304" pitchFamily="18" charset="0"/>
                          <a:cs typeface="Times New Roman" panose="02020603050405020304" pitchFamily="18" charset="0"/>
                        </a:rPr>
                        <m:t> </m:t>
                      </m:r>
                      <m:r>
                        <m:rPr>
                          <m:nor/>
                        </m:rPr>
                        <a:rPr lang="en-IN" sz="2400" b="1" i="1">
                          <a:solidFill>
                            <a:schemeClr val="tx1"/>
                          </a:solidFill>
                          <a:latin typeface="Times New Roman" panose="02020603050405020304" pitchFamily="18" charset="0"/>
                          <a:cs typeface="Times New Roman" panose="02020603050405020304" pitchFamily="18" charset="0"/>
                        </a:rPr>
                        <m:t>electrical</m:t>
                      </m:r>
                    </m:oMath>
                  </m:oMathPara>
                </a14:m>
                <a:endParaRPr lang="en-IN" sz="2400" b="1"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400" b="1" dirty="0">
                    <a:solidFill>
                      <a:srgbClr val="7030A0"/>
                    </a:solidFill>
                    <a:latin typeface="Times New Roman" panose="02020603050405020304" pitchFamily="18" charset="0"/>
                    <a:cs typeface="Times New Roman" panose="02020603050405020304" pitchFamily="18" charset="0"/>
                  </a:rPr>
                  <a:t>The EMFs induced in the two coil sides are in phase, hence the resultant EMF is the arithmetical sum:</a:t>
                </a:r>
              </a:p>
              <a:p>
                <a:pPr>
                  <a:lnSpc>
                    <a:spcPct val="150000"/>
                  </a:lnSpc>
                </a:pPr>
                <a14:m>
                  <m:oMathPara xmlns:m="http://schemas.openxmlformats.org/officeDocument/2006/math">
                    <m:oMathParaPr>
                      <m:jc m:val="centerGroup"/>
                    </m:oMathParaPr>
                    <m:oMath xmlns:m="http://schemas.openxmlformats.org/officeDocument/2006/math">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𝑬</m:t>
                          </m:r>
                        </m:e>
                        <m:sub>
                          <m:r>
                            <a:rPr lang="ar-AE" sz="2400" b="1" i="1">
                              <a:solidFill>
                                <a:schemeClr val="tx1"/>
                              </a:solidFill>
                              <a:latin typeface="Cambria Math" panose="02040503050406030204" pitchFamily="18" charset="0"/>
                            </a:rPr>
                            <m:t>𝒓</m:t>
                          </m:r>
                        </m:sub>
                      </m:sSub>
                      <m:r>
                        <a:rPr lang="ar-AE" sz="2400" b="1">
                          <a:solidFill>
                            <a:schemeClr val="tx1"/>
                          </a:solidFill>
                          <a:latin typeface="Cambria Math" panose="02040503050406030204" pitchFamily="18" charset="0"/>
                        </a:rPr>
                        <m:t>=</m:t>
                      </m:r>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𝑬</m:t>
                          </m:r>
                        </m:e>
                        <m:sub>
                          <m:r>
                            <a:rPr lang="ar-AE" sz="2400" b="1" i="1">
                              <a:solidFill>
                                <a:schemeClr val="tx1"/>
                              </a:solidFill>
                              <a:latin typeface="Cambria Math" panose="02040503050406030204" pitchFamily="18" charset="0"/>
                            </a:rPr>
                            <m:t>𝟏</m:t>
                          </m:r>
                        </m:sub>
                      </m:sSub>
                      <m:r>
                        <a:rPr lang="ar-AE" sz="2400" b="1">
                          <a:solidFill>
                            <a:schemeClr val="tx1"/>
                          </a:solidFill>
                          <a:latin typeface="Cambria Math" panose="02040503050406030204" pitchFamily="18" charset="0"/>
                        </a:rPr>
                        <m:t>+</m:t>
                      </m:r>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𝑬</m:t>
                          </m:r>
                        </m:e>
                        <m:sub>
                          <m:r>
                            <a:rPr lang="ar-AE" sz="2400" b="1" i="1">
                              <a:solidFill>
                                <a:schemeClr val="tx1"/>
                              </a:solidFill>
                              <a:latin typeface="Cambria Math" panose="02040503050406030204" pitchFamily="18" charset="0"/>
                            </a:rPr>
                            <m:t>𝟐</m:t>
                          </m:r>
                        </m:sub>
                      </m:sSub>
                      <m:r>
                        <a:rPr lang="ar-AE" sz="2400" b="1">
                          <a:solidFill>
                            <a:schemeClr val="tx1"/>
                          </a:solidFill>
                          <a:latin typeface="Cambria Math" panose="02040503050406030204" pitchFamily="18" charset="0"/>
                        </a:rPr>
                        <m:t>=</m:t>
                      </m:r>
                      <m:r>
                        <a:rPr lang="ar-AE" sz="2400" b="1" i="1">
                          <a:solidFill>
                            <a:schemeClr val="tx1"/>
                          </a:solidFill>
                          <a:latin typeface="Cambria Math" panose="02040503050406030204" pitchFamily="18" charset="0"/>
                        </a:rPr>
                        <m:t>𝟐</m:t>
                      </m:r>
                      <m:r>
                        <a:rPr lang="ar-AE" sz="2400" b="1" i="1">
                          <a:solidFill>
                            <a:schemeClr val="tx1"/>
                          </a:solidFill>
                          <a:latin typeface="Cambria Math" panose="02040503050406030204" pitchFamily="18" charset="0"/>
                        </a:rPr>
                        <m:t>𝑬</m:t>
                      </m:r>
                    </m:oMath>
                  </m:oMathPara>
                </a14:m>
                <a:endParaRPr lang="ar-AE" sz="2400"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 name="TextBox 2">
                <a:extLst>
                  <a:ext uri="{FF2B5EF4-FFF2-40B4-BE49-F238E27FC236}">
                    <a16:creationId xmlns:a16="http://schemas.microsoft.com/office/drawing/2014/main" id="{D885D80F-2849-4A22-9F6D-F452749327E3}"/>
                  </a:ext>
                </a:extLst>
              </p:cNvPr>
              <p:cNvSpPr txBox="1">
                <a:spLocks noRot="1" noChangeAspect="1" noMove="1" noResize="1" noEditPoints="1" noAdjustHandles="1" noChangeArrowheads="1" noChangeShapeType="1" noTextEdit="1"/>
              </p:cNvSpPr>
              <p:nvPr/>
            </p:nvSpPr>
            <p:spPr bwMode="auto">
              <a:xfrm>
                <a:off x="2451342" y="1658221"/>
                <a:ext cx="13385314" cy="8748549"/>
              </a:xfrm>
              <a:prstGeom prst="rect">
                <a:avLst/>
              </a:prstGeom>
              <a:blipFill>
                <a:blip r:embed="Re9fac5db664b4906"/>
                <a:stretch>
                  <a:fillRect l="-477" t="-417"/>
                </a:stretch>
              </a:blipFill>
              <a:ln w="9525">
                <a:solidFill>
                  <a:srgbClr val="002060"/>
                </a:solid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Rounded Corners 5">
                <a:extLst>
                  <a:ext uri="{FF2B5EF4-FFF2-40B4-BE49-F238E27FC236}">
                    <a16:creationId xmlns:a16="http://schemas.microsoft.com/office/drawing/2014/main" id="{58F4A2DB-75A9-FAEA-79C3-2A21AF710A16}"/>
                  </a:ext>
                </a:extLst>
              </p:cNvPr>
              <p:cNvSpPr/>
              <p:nvPr/>
            </p:nvSpPr>
            <p:spPr>
              <a:xfrm>
                <a:off x="7964128" y="4970205"/>
                <a:ext cx="2639962" cy="110613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ar-AE" b="1" i="1">
                              <a:solidFill>
                                <a:schemeClr val="tx1"/>
                              </a:solidFill>
                              <a:latin typeface="Cambria Math" panose="02040503050406030204" pitchFamily="18" charset="0"/>
                            </a:rPr>
                          </m:ctrlPr>
                        </m:sSubPr>
                        <m:e>
                          <m:r>
                            <a:rPr lang="ar-AE" b="1" i="1">
                              <a:solidFill>
                                <a:schemeClr val="tx1"/>
                              </a:solidFill>
                              <a:latin typeface="Cambria Math" panose="02040503050406030204" pitchFamily="18" charset="0"/>
                            </a:rPr>
                            <m:t>𝜽</m:t>
                          </m:r>
                        </m:e>
                        <m:sub>
                          <m:r>
                            <a:rPr lang="ar-AE" b="1" i="1">
                              <a:solidFill>
                                <a:schemeClr val="tx1"/>
                              </a:solidFill>
                              <a:latin typeface="Cambria Math" panose="02040503050406030204" pitchFamily="18" charset="0"/>
                            </a:rPr>
                            <m:t>𝒆</m:t>
                          </m:r>
                        </m:sub>
                      </m:sSub>
                      <m:r>
                        <a:rPr lang="ar-AE" b="1">
                          <a:solidFill>
                            <a:schemeClr val="tx1"/>
                          </a:solidFill>
                          <a:latin typeface="Cambria Math" panose="02040503050406030204" pitchFamily="18" charset="0"/>
                        </a:rPr>
                        <m:t>=</m:t>
                      </m:r>
                      <m:f>
                        <m:fPr>
                          <m:ctrlPr>
                            <a:rPr lang="ar-AE" b="1" i="1">
                              <a:solidFill>
                                <a:schemeClr val="tx1"/>
                              </a:solidFill>
                              <a:latin typeface="Cambria Math" panose="02040503050406030204" pitchFamily="18" charset="0"/>
                            </a:rPr>
                          </m:ctrlPr>
                        </m:fPr>
                        <m:num>
                          <m:r>
                            <a:rPr lang="ar-AE" b="1" i="1">
                              <a:solidFill>
                                <a:schemeClr val="tx1"/>
                              </a:solidFill>
                              <a:latin typeface="Cambria Math" panose="02040503050406030204" pitchFamily="18" charset="0"/>
                            </a:rPr>
                            <m:t>𝑷</m:t>
                          </m:r>
                        </m:num>
                        <m:den>
                          <m:r>
                            <a:rPr lang="ar-AE" b="1" i="1">
                              <a:solidFill>
                                <a:schemeClr val="tx1"/>
                              </a:solidFill>
                              <a:latin typeface="Cambria Math" panose="02040503050406030204" pitchFamily="18" charset="0"/>
                            </a:rPr>
                            <m:t>𝟐</m:t>
                          </m:r>
                        </m:den>
                      </m:f>
                      <m:r>
                        <m:rPr>
                          <m:nor/>
                        </m:rPr>
                        <a:rPr lang="ar-AE" b="1" i="1">
                          <a:solidFill>
                            <a:schemeClr val="tx1"/>
                          </a:solidFill>
                          <a:latin typeface="Times New Roman" panose="02020603050405020304" pitchFamily="18" charset="0"/>
                          <a:cs typeface="Times New Roman" panose="02020603050405020304" pitchFamily="18" charset="0"/>
                        </a:rPr>
                        <m:t> </m:t>
                      </m:r>
                      <m:sSub>
                        <m:sSubPr>
                          <m:ctrlPr>
                            <a:rPr lang="ar-AE" b="1" i="1">
                              <a:solidFill>
                                <a:schemeClr val="tx1"/>
                              </a:solidFill>
                              <a:latin typeface="Cambria Math" panose="02040503050406030204" pitchFamily="18" charset="0"/>
                            </a:rPr>
                          </m:ctrlPr>
                        </m:sSubPr>
                        <m:e>
                          <m:r>
                            <a:rPr lang="ar-AE" b="1" i="1">
                              <a:solidFill>
                                <a:schemeClr val="tx1"/>
                              </a:solidFill>
                              <a:latin typeface="Cambria Math" panose="02040503050406030204" pitchFamily="18" charset="0"/>
                            </a:rPr>
                            <m:t>𝜽</m:t>
                          </m:r>
                        </m:e>
                        <m:sub>
                          <m:r>
                            <a:rPr lang="ar-AE" b="1" i="1">
                              <a:solidFill>
                                <a:schemeClr val="tx1"/>
                              </a:solidFill>
                              <a:latin typeface="Cambria Math" panose="02040503050406030204" pitchFamily="18" charset="0"/>
                            </a:rPr>
                            <m:t>𝒎</m:t>
                          </m:r>
                        </m:sub>
                      </m:sSub>
                    </m:oMath>
                  </m:oMathPara>
                </a14:m>
                <a:endParaRPr lang="en-IN" dirty="0"/>
              </a:p>
            </p:txBody>
          </p:sp>
        </mc:Choice>
        <mc:Fallback xmlns="">
          <p:sp>
            <p:nvSpPr>
              <p:cNvPr id="6" name="Rectangle: Rounded Corners 5">
                <a:extLst>
                  <a:ext uri="{FF2B5EF4-FFF2-40B4-BE49-F238E27FC236}">
                    <a16:creationId xmlns:a16="http://schemas.microsoft.com/office/drawing/2014/main" id="{58F4A2DB-75A9-FAEA-79C3-2A21AF710A16}"/>
                  </a:ext>
                </a:extLst>
              </p:cNvPr>
              <p:cNvSpPr>
                <a:spLocks noRot="1" noChangeAspect="1" noMove="1" noResize="1" noEditPoints="1" noAdjustHandles="1" noChangeArrowheads="1" noChangeShapeType="1" noTextEdit="1"/>
              </p:cNvSpPr>
              <p:nvPr/>
            </p:nvSpPr>
            <p:spPr>
              <a:xfrm>
                <a:off x="7964128" y="4970205"/>
                <a:ext cx="2639962" cy="1106130"/>
              </a:xfrm>
              <a:prstGeom prst="roundRect">
                <a:avLst/>
              </a:prstGeom>
              <a:blipFill>
                <a:blip r:embed="R2fd59e8df1934053"/>
                <a:stretch>
                  <a:fillRect/>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E01035EE-A16B-A5B9-823D-6FD52745E4C4}"/>
              </a:ext>
            </a:extLst>
          </p:cNvPr>
          <p:cNvPicPr>
            <a:picLocks noChangeAspect="1"/>
          </p:cNvPicPr>
          <p:nvPr/>
        </p:nvPicPr>
        <p:blipFill>
          <a:blip r:embed="rId3"/>
          <a:stretch>
            <a:fillRect/>
          </a:stretch>
        </p:blipFill>
        <p:spPr>
          <a:xfrm>
            <a:off x="11238270" y="4365523"/>
            <a:ext cx="4410466" cy="3937818"/>
          </a:xfrm>
          <a:prstGeom prst="rect">
            <a:avLst/>
          </a:prstGeom>
          <a:ln>
            <a:solidFill>
              <a:schemeClr val="bg1"/>
            </a:solidFill>
          </a:ln>
        </p:spPr>
      </p:pic>
    </p:spTree>
    <p:extLst>
      <p:ext uri="{BB962C8B-B14F-4D97-AF65-F5344CB8AC3E}">
        <p14:creationId xmlns:p14="http://schemas.microsoft.com/office/powerpoint/2010/main" val="3249237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8C2136-14CD-1878-9E1F-4AA32B92F7C3}"/>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3" name="TextBox 1">
            <a:extLst>
              <a:ext uri="{FF2B5EF4-FFF2-40B4-BE49-F238E27FC236}">
                <a16:creationId xmlns:a16="http://schemas.microsoft.com/office/drawing/2014/main" id="{F5E1A2E7-8310-5065-A427-0CCCD412E0CC}"/>
              </a:ext>
            </a:extLst>
          </p:cNvPr>
          <p:cNvSpPr txBox="1">
            <a:spLocks noChangeArrowheads="1"/>
          </p:cNvSpPr>
          <p:nvPr/>
        </p:nvSpPr>
        <p:spPr bwMode="auto">
          <a:xfrm>
            <a:off x="2286000" y="844993"/>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sz="3000" b="1" dirty="0">
                <a:latin typeface="Times New Roman" panose="02020603050405020304" pitchFamily="18" charset="0"/>
                <a:cs typeface="Times New Roman" panose="02020603050405020304" pitchFamily="18" charset="0"/>
              </a:rPr>
              <a:t>Pitch Angle, Coil Span and Electrical Degrees</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4" name="Picture 81">
            <a:extLst>
              <a:ext uri="{FF2B5EF4-FFF2-40B4-BE49-F238E27FC236}">
                <a16:creationId xmlns:a16="http://schemas.microsoft.com/office/drawing/2014/main" id="{344E8607-128A-B1B9-4F8A-63F05913E1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2">
                <a:extLst>
                  <a:ext uri="{FF2B5EF4-FFF2-40B4-BE49-F238E27FC236}">
                    <a16:creationId xmlns:a16="http://schemas.microsoft.com/office/drawing/2014/main" id="{3AB3F1FE-6AB9-EA0C-923F-D5824DB93CA0}"/>
                  </a:ext>
                </a:extLst>
              </p:cNvPr>
              <p:cNvSpPr txBox="1">
                <a:spLocks noChangeArrowheads="1"/>
              </p:cNvSpPr>
              <p:nvPr/>
            </p:nvSpPr>
            <p:spPr bwMode="auto">
              <a:xfrm>
                <a:off x="2451342" y="1495989"/>
                <a:ext cx="13385314" cy="8168679"/>
              </a:xfrm>
              <a:prstGeom prst="rect">
                <a:avLst/>
              </a:prstGeom>
              <a:noFill/>
              <a:ln w="9525">
                <a:solidFill>
                  <a:srgbClr val="002060"/>
                </a:solidFill>
                <a:miter lim="800000"/>
                <a:headEnd/>
                <a:tailEnd/>
              </a:ln>
            </p:spPr>
            <p:txBody>
              <a:bodyPr wrap="square">
                <a:spAutoFit/>
              </a:bodyPr>
              <a:lstStyle/>
              <a:p>
                <a:r>
                  <a:rPr lang="en-IN" b="1" u="sng" dirty="0">
                    <a:solidFill>
                      <a:srgbClr val="2850FC"/>
                    </a:solidFill>
                    <a:latin typeface="Times New Roman" panose="02020603050405020304" pitchFamily="18" charset="0"/>
                    <a:cs typeface="Times New Roman" panose="02020603050405020304" pitchFamily="18" charset="0"/>
                  </a:rPr>
                  <a:t>Short-Pitch (Fractional Pitch) Coil</a:t>
                </a: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If the coil span is less than 180° electrical, the coil is called a short-pitch coil.</a:t>
                </a:r>
              </a:p>
              <a:p>
                <a:r>
                  <a:rPr lang="en-IN" sz="2400" b="1" dirty="0">
                    <a:solidFill>
                      <a:srgbClr val="7030A0"/>
                    </a:solidFill>
                    <a:latin typeface="Times New Roman" panose="02020603050405020304" pitchFamily="18" charset="0"/>
                    <a:cs typeface="Times New Roman" panose="02020603050405020304" pitchFamily="18" charset="0"/>
                  </a:rPr>
                  <a:t>      The chording angle is defined as:</a:t>
                </a:r>
              </a:p>
              <a:p>
                <a:pPr marL="285750" indent="-285750">
                  <a:lnSpc>
                    <a:spcPct val="150000"/>
                  </a:lnSpc>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Example:</a:t>
                </a:r>
              </a:p>
              <a:p>
                <a:pPr>
                  <a:lnSpc>
                    <a:spcPct val="150000"/>
                  </a:lnSpc>
                </a:pPr>
                <a14:m>
                  <m:oMathPara xmlns:m="http://schemas.openxmlformats.org/officeDocument/2006/math">
                    <m:oMathParaPr>
                      <m:jc m:val="centerGroup"/>
                    </m:oMathParaPr>
                    <m:oMath xmlns:m="http://schemas.openxmlformats.org/officeDocument/2006/math">
                      <m:r>
                        <m:rPr>
                          <m:nor/>
                        </m:rPr>
                        <a:rPr lang="en-IN" sz="2400" b="1">
                          <a:solidFill>
                            <a:schemeClr val="tx1">
                              <a:lumMod val="95000"/>
                              <a:lumOff val="5000"/>
                            </a:schemeClr>
                          </a:solidFill>
                          <a:latin typeface="Times New Roman" panose="02020603050405020304" pitchFamily="18" charset="0"/>
                          <a:cs typeface="Times New Roman" panose="02020603050405020304" pitchFamily="18" charset="0"/>
                        </a:rPr>
                        <m:t>coil</m:t>
                      </m:r>
                      <m:r>
                        <m:rPr>
                          <m:nor/>
                        </m:rPr>
                        <a:rPr lang="en-IN" sz="2400"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sz="2400" b="1" i="1">
                          <a:solidFill>
                            <a:schemeClr val="tx1">
                              <a:lumMod val="95000"/>
                              <a:lumOff val="5000"/>
                            </a:schemeClr>
                          </a:solidFill>
                          <a:latin typeface="Times New Roman" panose="02020603050405020304" pitchFamily="18" charset="0"/>
                          <a:cs typeface="Times New Roman" panose="02020603050405020304" pitchFamily="18" charset="0"/>
                        </a:rPr>
                        <m:t>span</m:t>
                      </m:r>
                      <m:r>
                        <a:rPr lang="en-IN" sz="2400" b="1">
                          <a:solidFill>
                            <a:schemeClr val="tx1">
                              <a:lumMod val="95000"/>
                              <a:lumOff val="5000"/>
                            </a:schemeClr>
                          </a:solidFill>
                          <a:latin typeface="Cambria Math" panose="02040503050406030204" pitchFamily="18" charset="0"/>
                        </a:rPr>
                        <m:t>=</m:t>
                      </m:r>
                      <m:f>
                        <m:fPr>
                          <m:ctrlPr>
                            <a:rPr lang="ar-AE" sz="2400" b="1" i="1">
                              <a:solidFill>
                                <a:schemeClr val="tx1">
                                  <a:lumMod val="95000"/>
                                  <a:lumOff val="5000"/>
                                </a:schemeClr>
                              </a:solidFill>
                              <a:latin typeface="Cambria Math" panose="02040503050406030204" pitchFamily="18" charset="0"/>
                            </a:rPr>
                          </m:ctrlPr>
                        </m:fPr>
                        <m:num>
                          <m:r>
                            <a:rPr lang="ar-AE" sz="2400" b="1" i="1">
                              <a:solidFill>
                                <a:schemeClr val="tx1">
                                  <a:lumMod val="95000"/>
                                  <a:lumOff val="5000"/>
                                </a:schemeClr>
                              </a:solidFill>
                              <a:latin typeface="Cambria Math" panose="02040503050406030204" pitchFamily="18" charset="0"/>
                            </a:rPr>
                            <m:t>𝟓</m:t>
                          </m:r>
                        </m:num>
                        <m:den>
                          <m:r>
                            <a:rPr lang="ar-AE" sz="2400" b="1" i="1">
                              <a:solidFill>
                                <a:schemeClr val="tx1">
                                  <a:lumMod val="95000"/>
                                  <a:lumOff val="5000"/>
                                </a:schemeClr>
                              </a:solidFill>
                              <a:latin typeface="Cambria Math" panose="02040503050406030204" pitchFamily="18" charset="0"/>
                            </a:rPr>
                            <m:t>𝟔</m:t>
                          </m:r>
                        </m:den>
                      </m:f>
                      <m:r>
                        <a:rPr lang="ar-AE" sz="2400" b="1">
                          <a:solidFill>
                            <a:schemeClr val="tx1">
                              <a:lumMod val="95000"/>
                              <a:lumOff val="5000"/>
                            </a:schemeClr>
                          </a:solidFill>
                          <a:latin typeface="Cambria Math" panose="02040503050406030204" pitchFamily="18" charset="0"/>
                        </a:rPr>
                        <m:t>×</m:t>
                      </m:r>
                      <m:sSup>
                        <m:sSupPr>
                          <m:ctrlPr>
                            <a:rPr lang="ar-AE" sz="2400" b="1" i="1">
                              <a:solidFill>
                                <a:schemeClr val="tx1">
                                  <a:lumMod val="95000"/>
                                  <a:lumOff val="5000"/>
                                </a:schemeClr>
                              </a:solidFill>
                              <a:latin typeface="Cambria Math" panose="02040503050406030204" pitchFamily="18" charset="0"/>
                            </a:rPr>
                          </m:ctrlPr>
                        </m:sSupPr>
                        <m:e>
                          <m:r>
                            <a:rPr lang="ar-AE" sz="2400" b="1" i="1">
                              <a:solidFill>
                                <a:schemeClr val="tx1">
                                  <a:lumMod val="95000"/>
                                  <a:lumOff val="5000"/>
                                </a:schemeClr>
                              </a:solidFill>
                              <a:latin typeface="Cambria Math" panose="02040503050406030204" pitchFamily="18" charset="0"/>
                            </a:rPr>
                            <m:t>𝟏𝟖𝟎</m:t>
                          </m:r>
                        </m:e>
                        <m:sup>
                          <m:r>
                            <a:rPr lang="ar-AE" sz="2400" b="1">
                              <a:solidFill>
                                <a:schemeClr val="tx1">
                                  <a:lumMod val="95000"/>
                                  <a:lumOff val="5000"/>
                                </a:schemeClr>
                              </a:solidFill>
                              <a:latin typeface="Cambria Math" panose="02040503050406030204" pitchFamily="18" charset="0"/>
                            </a:rPr>
                            <m:t>∘</m:t>
                          </m:r>
                        </m:sup>
                      </m:sSup>
                      <m:r>
                        <a:rPr lang="ar-AE" sz="2400" b="1">
                          <a:solidFill>
                            <a:schemeClr val="tx1">
                              <a:lumMod val="95000"/>
                              <a:lumOff val="5000"/>
                            </a:schemeClr>
                          </a:solidFill>
                          <a:latin typeface="Cambria Math" panose="02040503050406030204" pitchFamily="18" charset="0"/>
                        </a:rPr>
                        <m:t>=</m:t>
                      </m:r>
                      <m:sSup>
                        <m:sSupPr>
                          <m:ctrlPr>
                            <a:rPr lang="ar-AE" sz="2400" b="1" i="1">
                              <a:solidFill>
                                <a:schemeClr val="tx1">
                                  <a:lumMod val="95000"/>
                                  <a:lumOff val="5000"/>
                                </a:schemeClr>
                              </a:solidFill>
                              <a:latin typeface="Cambria Math" panose="02040503050406030204" pitchFamily="18" charset="0"/>
                            </a:rPr>
                          </m:ctrlPr>
                        </m:sSupPr>
                        <m:e>
                          <m:r>
                            <a:rPr lang="ar-AE" sz="2400" b="1" i="1">
                              <a:solidFill>
                                <a:schemeClr val="tx1">
                                  <a:lumMod val="95000"/>
                                  <a:lumOff val="5000"/>
                                </a:schemeClr>
                              </a:solidFill>
                              <a:latin typeface="Cambria Math" panose="02040503050406030204" pitchFamily="18" charset="0"/>
                            </a:rPr>
                            <m:t>𝟏𝟓𝟎</m:t>
                          </m:r>
                        </m:e>
                        <m:sup>
                          <m:r>
                            <a:rPr lang="ar-AE" sz="2400" b="1">
                              <a:solidFill>
                                <a:schemeClr val="tx1">
                                  <a:lumMod val="95000"/>
                                  <a:lumOff val="5000"/>
                                </a:schemeClr>
                              </a:solidFill>
                              <a:latin typeface="Cambria Math" panose="02040503050406030204" pitchFamily="18" charset="0"/>
                            </a:rPr>
                            <m:t>∘</m:t>
                          </m:r>
                        </m:sup>
                      </m:sSup>
                    </m:oMath>
                  </m:oMathPara>
                </a14:m>
                <a:endParaRPr lang="ar-AE" sz="2400" b="1"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ar-AE" sz="2400" b="1" i="1">
                          <a:solidFill>
                            <a:schemeClr val="tx1">
                              <a:lumMod val="95000"/>
                              <a:lumOff val="5000"/>
                            </a:schemeClr>
                          </a:solidFill>
                          <a:latin typeface="Cambria Math" panose="02040503050406030204" pitchFamily="18" charset="0"/>
                        </a:rPr>
                        <m:t>𝜶</m:t>
                      </m:r>
                      <m:r>
                        <a:rPr lang="ar-AE" sz="2400" b="1">
                          <a:solidFill>
                            <a:schemeClr val="tx1">
                              <a:lumMod val="95000"/>
                              <a:lumOff val="5000"/>
                            </a:schemeClr>
                          </a:solidFill>
                          <a:latin typeface="Cambria Math" panose="02040503050406030204" pitchFamily="18" charset="0"/>
                        </a:rPr>
                        <m:t>=</m:t>
                      </m:r>
                      <m:sSup>
                        <m:sSupPr>
                          <m:ctrlPr>
                            <a:rPr lang="ar-AE" sz="2400" b="1" i="1">
                              <a:solidFill>
                                <a:schemeClr val="tx1">
                                  <a:lumMod val="95000"/>
                                  <a:lumOff val="5000"/>
                                </a:schemeClr>
                              </a:solidFill>
                              <a:latin typeface="Cambria Math" panose="02040503050406030204" pitchFamily="18" charset="0"/>
                            </a:rPr>
                          </m:ctrlPr>
                        </m:sSupPr>
                        <m:e>
                          <m:r>
                            <a:rPr lang="ar-AE" sz="2400" b="1" i="1">
                              <a:solidFill>
                                <a:schemeClr val="tx1">
                                  <a:lumMod val="95000"/>
                                  <a:lumOff val="5000"/>
                                </a:schemeClr>
                              </a:solidFill>
                              <a:latin typeface="Cambria Math" panose="02040503050406030204" pitchFamily="18" charset="0"/>
                            </a:rPr>
                            <m:t>𝟏𝟖𝟎</m:t>
                          </m:r>
                        </m:e>
                        <m:sup>
                          <m:r>
                            <a:rPr lang="ar-AE" sz="2400" b="1">
                              <a:solidFill>
                                <a:schemeClr val="tx1">
                                  <a:lumMod val="95000"/>
                                  <a:lumOff val="5000"/>
                                </a:schemeClr>
                              </a:solidFill>
                              <a:latin typeface="Cambria Math" panose="02040503050406030204" pitchFamily="18" charset="0"/>
                            </a:rPr>
                            <m:t>∘</m:t>
                          </m:r>
                        </m:sup>
                      </m:sSup>
                      <m:r>
                        <a:rPr lang="ar-AE" sz="2400" b="1">
                          <a:solidFill>
                            <a:schemeClr val="tx1">
                              <a:lumMod val="95000"/>
                              <a:lumOff val="5000"/>
                            </a:schemeClr>
                          </a:solidFill>
                          <a:latin typeface="Cambria Math" panose="02040503050406030204" pitchFamily="18" charset="0"/>
                        </a:rPr>
                        <m:t>−</m:t>
                      </m:r>
                      <m:sSup>
                        <m:sSupPr>
                          <m:ctrlPr>
                            <a:rPr lang="ar-AE" sz="2400" b="1" i="1">
                              <a:solidFill>
                                <a:schemeClr val="tx1">
                                  <a:lumMod val="95000"/>
                                  <a:lumOff val="5000"/>
                                </a:schemeClr>
                              </a:solidFill>
                              <a:latin typeface="Cambria Math" panose="02040503050406030204" pitchFamily="18" charset="0"/>
                            </a:rPr>
                          </m:ctrlPr>
                        </m:sSupPr>
                        <m:e>
                          <m:r>
                            <a:rPr lang="ar-AE" sz="2400" b="1" i="1">
                              <a:solidFill>
                                <a:schemeClr val="tx1">
                                  <a:lumMod val="95000"/>
                                  <a:lumOff val="5000"/>
                                </a:schemeClr>
                              </a:solidFill>
                              <a:latin typeface="Cambria Math" panose="02040503050406030204" pitchFamily="18" charset="0"/>
                            </a:rPr>
                            <m:t>𝟏𝟓𝟎</m:t>
                          </m:r>
                        </m:e>
                        <m:sup>
                          <m:r>
                            <a:rPr lang="ar-AE" sz="2400" b="1">
                              <a:solidFill>
                                <a:schemeClr val="tx1">
                                  <a:lumMod val="95000"/>
                                  <a:lumOff val="5000"/>
                                </a:schemeClr>
                              </a:solidFill>
                              <a:latin typeface="Cambria Math" panose="02040503050406030204" pitchFamily="18" charset="0"/>
                            </a:rPr>
                            <m:t>∘</m:t>
                          </m:r>
                        </m:sup>
                      </m:sSup>
                      <m:r>
                        <a:rPr lang="ar-AE" sz="2400" b="1">
                          <a:solidFill>
                            <a:schemeClr val="tx1">
                              <a:lumMod val="95000"/>
                              <a:lumOff val="5000"/>
                            </a:schemeClr>
                          </a:solidFill>
                          <a:latin typeface="Cambria Math" panose="02040503050406030204" pitchFamily="18" charset="0"/>
                        </a:rPr>
                        <m:t>=</m:t>
                      </m:r>
                      <m:sSup>
                        <m:sSupPr>
                          <m:ctrlPr>
                            <a:rPr lang="ar-AE" sz="2400" b="1" i="1">
                              <a:solidFill>
                                <a:schemeClr val="tx1">
                                  <a:lumMod val="95000"/>
                                  <a:lumOff val="5000"/>
                                </a:schemeClr>
                              </a:solidFill>
                              <a:latin typeface="Cambria Math" panose="02040503050406030204" pitchFamily="18" charset="0"/>
                            </a:rPr>
                          </m:ctrlPr>
                        </m:sSupPr>
                        <m:e>
                          <m:r>
                            <a:rPr lang="ar-AE" sz="2400" b="1" i="1">
                              <a:solidFill>
                                <a:schemeClr val="tx1">
                                  <a:lumMod val="95000"/>
                                  <a:lumOff val="5000"/>
                                </a:schemeClr>
                              </a:solidFill>
                              <a:latin typeface="Cambria Math" panose="02040503050406030204" pitchFamily="18" charset="0"/>
                            </a:rPr>
                            <m:t>𝟑𝟎</m:t>
                          </m:r>
                        </m:e>
                        <m:sup>
                          <m:r>
                            <a:rPr lang="ar-AE" sz="2400" b="1">
                              <a:solidFill>
                                <a:schemeClr val="tx1">
                                  <a:lumMod val="95000"/>
                                  <a:lumOff val="5000"/>
                                </a:schemeClr>
                              </a:solidFill>
                              <a:latin typeface="Cambria Math" panose="02040503050406030204" pitchFamily="18" charset="0"/>
                            </a:rPr>
                            <m:t>∘</m:t>
                          </m:r>
                        </m:sup>
                      </m:sSup>
                    </m:oMath>
                  </m:oMathPara>
                </a14:m>
                <a:endParaRPr lang="en-IN" sz="2400" b="1" dirty="0">
                  <a:solidFill>
                    <a:srgbClr val="7030A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In a short-pitch coil, the induced EMFs are not in phase. Therefore, the resultant EMF is obtained by vector addition:</a:t>
                </a:r>
              </a:p>
              <a:p>
                <a:pPr/>
                <a14:m>
                  <m:oMathPara xmlns:m="http://schemas.openxmlformats.org/officeDocument/2006/math">
                    <m:oMathParaPr>
                      <m:jc m:val="centerGroup"/>
                    </m:oMathParaPr>
                    <m:oMath xmlns:m="http://schemas.openxmlformats.org/officeDocument/2006/math">
                      <m:sSub>
                        <m:sSubPr>
                          <m:ctrlPr>
                            <a:rPr lang="ar-AE" sz="2400" b="1" i="1">
                              <a:solidFill>
                                <a:schemeClr val="tx1">
                                  <a:lumMod val="95000"/>
                                  <a:lumOff val="5000"/>
                                </a:schemeClr>
                              </a:solidFill>
                              <a:latin typeface="Cambria Math" panose="02040503050406030204" pitchFamily="18" charset="0"/>
                            </a:rPr>
                          </m:ctrlPr>
                        </m:sSubPr>
                        <m:e>
                          <m:r>
                            <a:rPr lang="ar-AE" sz="2400" b="1" i="1">
                              <a:solidFill>
                                <a:schemeClr val="tx1">
                                  <a:lumMod val="95000"/>
                                  <a:lumOff val="5000"/>
                                </a:schemeClr>
                              </a:solidFill>
                              <a:latin typeface="Cambria Math" panose="02040503050406030204" pitchFamily="18" charset="0"/>
                            </a:rPr>
                            <m:t>𝑬</m:t>
                          </m:r>
                        </m:e>
                        <m:sub>
                          <m:r>
                            <a:rPr lang="ar-AE" sz="2400" b="1" i="1">
                              <a:solidFill>
                                <a:schemeClr val="tx1">
                                  <a:lumMod val="95000"/>
                                  <a:lumOff val="5000"/>
                                </a:schemeClr>
                              </a:solidFill>
                              <a:latin typeface="Cambria Math" panose="02040503050406030204" pitchFamily="18" charset="0"/>
                            </a:rPr>
                            <m:t>𝒓</m:t>
                          </m:r>
                        </m:sub>
                      </m:sSub>
                      <m:r>
                        <a:rPr lang="ar-AE" sz="2400" b="1">
                          <a:solidFill>
                            <a:schemeClr val="tx1">
                              <a:lumMod val="95000"/>
                              <a:lumOff val="5000"/>
                            </a:schemeClr>
                          </a:solidFill>
                          <a:latin typeface="Cambria Math" panose="02040503050406030204" pitchFamily="18" charset="0"/>
                        </a:rPr>
                        <m:t>=</m:t>
                      </m:r>
                      <m:r>
                        <a:rPr lang="ar-AE" sz="2400" b="1" i="1">
                          <a:solidFill>
                            <a:schemeClr val="tx1">
                              <a:lumMod val="95000"/>
                              <a:lumOff val="5000"/>
                            </a:schemeClr>
                          </a:solidFill>
                          <a:latin typeface="Cambria Math" panose="02040503050406030204" pitchFamily="18" charset="0"/>
                        </a:rPr>
                        <m:t>𝟐</m:t>
                      </m:r>
                      <m:r>
                        <a:rPr lang="ar-AE" sz="2400" b="1" i="1">
                          <a:solidFill>
                            <a:schemeClr val="tx1">
                              <a:lumMod val="95000"/>
                              <a:lumOff val="5000"/>
                            </a:schemeClr>
                          </a:solidFill>
                          <a:latin typeface="Cambria Math" panose="02040503050406030204" pitchFamily="18" charset="0"/>
                        </a:rPr>
                        <m:t>𝑬</m:t>
                      </m:r>
                      <m:func>
                        <m:funcPr>
                          <m:ctrlPr>
                            <a:rPr lang="ar-AE" sz="2400" b="1" i="1">
                              <a:solidFill>
                                <a:schemeClr val="tx1">
                                  <a:lumMod val="95000"/>
                                  <a:lumOff val="5000"/>
                                </a:schemeClr>
                              </a:solidFill>
                              <a:latin typeface="Cambria Math" panose="02040503050406030204" pitchFamily="18" charset="0"/>
                            </a:rPr>
                          </m:ctrlPr>
                        </m:funcPr>
                        <m:fName>
                          <m:r>
                            <a:rPr lang="en-IN" sz="2400" b="1" i="1">
                              <a:solidFill>
                                <a:schemeClr val="tx1">
                                  <a:lumMod val="95000"/>
                                  <a:lumOff val="5000"/>
                                </a:schemeClr>
                              </a:solidFill>
                              <a:latin typeface="Cambria Math" panose="02040503050406030204" pitchFamily="18" charset="0"/>
                            </a:rPr>
                            <m:t>𝐜𝐨𝐬</m:t>
                          </m:r>
                        </m:fName>
                        <m:e>
                          <m:d>
                            <m:dPr>
                              <m:ctrlPr>
                                <a:rPr lang="ar-AE" sz="2400" b="1" i="1">
                                  <a:solidFill>
                                    <a:schemeClr val="tx1">
                                      <a:lumMod val="95000"/>
                                      <a:lumOff val="5000"/>
                                    </a:schemeClr>
                                  </a:solidFill>
                                  <a:latin typeface="Cambria Math" panose="02040503050406030204" pitchFamily="18" charset="0"/>
                                </a:rPr>
                              </m:ctrlPr>
                            </m:dPr>
                            <m:e>
                              <m:f>
                                <m:fPr>
                                  <m:ctrlPr>
                                    <a:rPr lang="ar-AE" sz="2400" b="1" i="1">
                                      <a:solidFill>
                                        <a:schemeClr val="tx1">
                                          <a:lumMod val="95000"/>
                                          <a:lumOff val="5000"/>
                                        </a:schemeClr>
                                      </a:solidFill>
                                      <a:latin typeface="Cambria Math" panose="02040503050406030204" pitchFamily="18" charset="0"/>
                                    </a:rPr>
                                  </m:ctrlPr>
                                </m:fPr>
                                <m:num>
                                  <m:r>
                                    <a:rPr lang="ar-AE" sz="2400" b="1" i="1">
                                      <a:solidFill>
                                        <a:schemeClr val="tx1">
                                          <a:lumMod val="95000"/>
                                          <a:lumOff val="5000"/>
                                        </a:schemeClr>
                                      </a:solidFill>
                                      <a:latin typeface="Cambria Math" panose="02040503050406030204" pitchFamily="18" charset="0"/>
                                    </a:rPr>
                                    <m:t>𝜶</m:t>
                                  </m:r>
                                </m:num>
                                <m:den>
                                  <m:r>
                                    <a:rPr lang="ar-AE" sz="2400" b="1" i="1">
                                      <a:solidFill>
                                        <a:schemeClr val="tx1">
                                          <a:lumMod val="95000"/>
                                          <a:lumOff val="5000"/>
                                        </a:schemeClr>
                                      </a:solidFill>
                                      <a:latin typeface="Cambria Math" panose="02040503050406030204" pitchFamily="18" charset="0"/>
                                    </a:rPr>
                                    <m:t>𝟐</m:t>
                                  </m:r>
                                </m:den>
                              </m:f>
                            </m:e>
                          </m:d>
                        </m:e>
                      </m:func>
                    </m:oMath>
                  </m:oMathPara>
                </a14:m>
                <a:endParaRPr lang="ar-AE" sz="2400" b="1" dirty="0">
                  <a:solidFill>
                    <a:srgbClr val="7030A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Pitch factor is defined as:</a:t>
                </a:r>
              </a:p>
              <a:p>
                <a:pPr marL="285750" indent="-285750">
                  <a:lnSpc>
                    <a:spcPct val="150000"/>
                  </a:lnSpc>
                  <a:buFont typeface="Arial" panose="020B0604020202020204" pitchFamily="34" charset="0"/>
                  <a:buChar char="•"/>
                </a:pPr>
                <a:endParaRPr lang="en-IN" sz="2400" b="1" dirty="0">
                  <a:solidFill>
                    <a:srgbClr val="7030A0"/>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sz="2400" b="1" dirty="0">
                  <a:solidFill>
                    <a:srgbClr val="7030A0"/>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sz="2400" b="1" dirty="0">
                  <a:solidFill>
                    <a:srgbClr val="7030A0"/>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sz="2400" b="1" dirty="0">
                  <a:solidFill>
                    <a:srgbClr val="7030A0"/>
                  </a:solidFill>
                  <a:latin typeface="Times New Roman" panose="02020603050405020304" pitchFamily="18" charset="0"/>
                  <a:cs typeface="Times New Roman" panose="02020603050405020304" pitchFamily="18" charset="0"/>
                </a:endParaRPr>
              </a:p>
              <a:p>
                <a:r>
                  <a:rPr lang="en-IN" sz="2400" b="1" dirty="0">
                    <a:solidFill>
                      <a:srgbClr val="7030A0"/>
                    </a:solidFill>
                    <a:latin typeface="Times New Roman" panose="02020603050405020304" pitchFamily="18" charset="0"/>
                    <a:cs typeface="Times New Roman" panose="02020603050405020304" pitchFamily="18" charset="0"/>
                  </a:rPr>
                  <a:t>Since , pitch factor is always less than unity.</a:t>
                </a:r>
              </a:p>
              <a:p>
                <a:endParaRPr lang="ar-AE" sz="2400" b="1" dirty="0">
                  <a:latin typeface="Times New Roman" panose="02020603050405020304" pitchFamily="18" charset="0"/>
                  <a:cs typeface="Times New Roman" panose="02020603050405020304" pitchFamily="18" charset="0"/>
                </a:endParaRPr>
              </a:p>
            </p:txBody>
          </p:sp>
        </mc:Choice>
        <mc:Fallback xmlns="">
          <p:sp>
            <p:nvSpPr>
              <p:cNvPr id="5" name="TextBox 2">
                <a:extLst>
                  <a:ext uri="{FF2B5EF4-FFF2-40B4-BE49-F238E27FC236}">
                    <a16:creationId xmlns:a16="http://schemas.microsoft.com/office/drawing/2014/main" id="{3AB3F1FE-6AB9-EA0C-923F-D5824DB93CA0}"/>
                  </a:ext>
                </a:extLst>
              </p:cNvPr>
              <p:cNvSpPr txBox="1">
                <a:spLocks noRot="1" noChangeAspect="1" noMove="1" noResize="1" noEditPoints="1" noAdjustHandles="1" noChangeArrowheads="1" noChangeShapeType="1" noTextEdit="1"/>
              </p:cNvSpPr>
              <p:nvPr/>
            </p:nvSpPr>
            <p:spPr bwMode="auto">
              <a:xfrm>
                <a:off x="2451342" y="1495989"/>
                <a:ext cx="13385314" cy="8168679"/>
              </a:xfrm>
              <a:prstGeom prst="rect">
                <a:avLst/>
              </a:prstGeom>
              <a:blipFill>
                <a:blip r:embed="R863b0be723a743a1"/>
                <a:stretch>
                  <a:fillRect l="-477" t="-559"/>
                </a:stretch>
              </a:blipFill>
              <a:ln w="9525">
                <a:solidFill>
                  <a:srgbClr val="002060"/>
                </a:solidFill>
                <a:miter lim="800000"/>
                <a:headEnd/>
                <a:tailEnd/>
              </a:ln>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43749D6B-82B2-9F8E-3583-59B1CC9A6011}"/>
                  </a:ext>
                </a:extLst>
              </p:cNvPr>
              <p:cNvSpPr/>
              <p:nvPr/>
            </p:nvSpPr>
            <p:spPr>
              <a:xfrm>
                <a:off x="7359442" y="2628900"/>
                <a:ext cx="3569109" cy="69317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b="1" i="1">
                          <a:solidFill>
                            <a:schemeClr val="tx1">
                              <a:lumMod val="95000"/>
                              <a:lumOff val="5000"/>
                            </a:schemeClr>
                          </a:solidFill>
                          <a:latin typeface="Cambria Math" panose="02040503050406030204" pitchFamily="18" charset="0"/>
                        </a:rPr>
                        <m:t>𝜶</m:t>
                      </m:r>
                      <m:r>
                        <a:rPr lang="en-IN" b="1">
                          <a:solidFill>
                            <a:schemeClr val="tx1">
                              <a:lumMod val="95000"/>
                              <a:lumOff val="5000"/>
                            </a:schemeClr>
                          </a:solidFill>
                          <a:latin typeface="Cambria Math" panose="02040503050406030204" pitchFamily="18" charset="0"/>
                        </a:rPr>
                        <m:t>=</m:t>
                      </m:r>
                      <m:sSup>
                        <m:sSupPr>
                          <m:ctrlPr>
                            <a:rPr lang="ar-AE" b="1" i="1">
                              <a:solidFill>
                                <a:schemeClr val="tx1">
                                  <a:lumMod val="95000"/>
                                  <a:lumOff val="5000"/>
                                </a:schemeClr>
                              </a:solidFill>
                              <a:latin typeface="Cambria Math" panose="02040503050406030204" pitchFamily="18" charset="0"/>
                            </a:rPr>
                          </m:ctrlPr>
                        </m:sSupPr>
                        <m:e>
                          <m:r>
                            <a:rPr lang="ar-AE" b="1" i="1">
                              <a:solidFill>
                                <a:schemeClr val="tx1">
                                  <a:lumMod val="95000"/>
                                  <a:lumOff val="5000"/>
                                </a:schemeClr>
                              </a:solidFill>
                              <a:latin typeface="Cambria Math" panose="02040503050406030204" pitchFamily="18" charset="0"/>
                            </a:rPr>
                            <m:t>𝟏𝟖𝟎</m:t>
                          </m:r>
                        </m:e>
                        <m:sup>
                          <m:r>
                            <a:rPr lang="ar-AE" b="1">
                              <a:solidFill>
                                <a:schemeClr val="tx1">
                                  <a:lumMod val="95000"/>
                                  <a:lumOff val="5000"/>
                                </a:schemeClr>
                              </a:solidFill>
                              <a:latin typeface="Cambria Math" panose="02040503050406030204" pitchFamily="18" charset="0"/>
                            </a:rPr>
                            <m:t>∘</m:t>
                          </m:r>
                        </m:sup>
                      </m:sSup>
                      <m:r>
                        <a:rPr lang="ar-AE" b="1">
                          <a:solidFill>
                            <a:schemeClr val="tx1">
                              <a:lumMod val="95000"/>
                              <a:lumOff val="5000"/>
                            </a:schemeClr>
                          </a:solidFill>
                          <a:latin typeface="Cambria Math" panose="02040503050406030204" pitchFamily="18" charset="0"/>
                        </a:rPr>
                        <m:t>−</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coil</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span</m:t>
                      </m:r>
                    </m:oMath>
                  </m:oMathPara>
                </a14:m>
                <a:endParaRPr lang="en-IN" b="1" dirty="0">
                  <a:solidFill>
                    <a:srgbClr val="7030A0"/>
                  </a:solidFill>
                  <a:latin typeface="Times New Roman" panose="02020603050405020304" pitchFamily="18" charset="0"/>
                  <a:cs typeface="Times New Roman" panose="02020603050405020304" pitchFamily="18" charset="0"/>
                </a:endParaRPr>
              </a:p>
            </p:txBody>
          </p:sp>
        </mc:Choice>
        <mc:Fallback>
          <p:sp>
            <p:nvSpPr>
              <p:cNvPr id="6" name="Rectangle 5">
                <a:extLst>
                  <a:ext uri="{FF2B5EF4-FFF2-40B4-BE49-F238E27FC236}">
                    <a16:creationId xmlns:a16="http://schemas.microsoft.com/office/drawing/2014/main" id="{43749D6B-82B2-9F8E-3583-59B1CC9A6011}"/>
                  </a:ext>
                </a:extLst>
              </p:cNvPr>
              <p:cNvSpPr>
                <a:spLocks noRot="1" noChangeAspect="1" noMove="1" noResize="1" noEditPoints="1" noAdjustHandles="1" noChangeArrowheads="1" noChangeShapeType="1" noTextEdit="1"/>
              </p:cNvSpPr>
              <p:nvPr/>
            </p:nvSpPr>
            <p:spPr>
              <a:xfrm>
                <a:off x="7359442" y="2628900"/>
                <a:ext cx="3569109" cy="693174"/>
              </a:xfrm>
              <a:prstGeom prst="rect">
                <a:avLst/>
              </a:prstGeom>
              <a:blipFill>
                <a:blip r:embed="rId3"/>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Rounded Corners 6">
                <a:extLst>
                  <a:ext uri="{FF2B5EF4-FFF2-40B4-BE49-F238E27FC236}">
                    <a16:creationId xmlns:a16="http://schemas.microsoft.com/office/drawing/2014/main" id="{A5F0F23D-CFCE-8280-6D8E-FD60B08AB202}"/>
                  </a:ext>
                </a:extLst>
              </p:cNvPr>
              <p:cNvSpPr/>
              <p:nvPr/>
            </p:nvSpPr>
            <p:spPr>
              <a:xfrm>
                <a:off x="6496661" y="6286500"/>
                <a:ext cx="5294673" cy="228502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nSpc>
                    <a:spcPct val="150000"/>
                  </a:lnSpc>
                </a:pPr>
                <a14:m>
                  <m:oMathPara xmlns:m="http://schemas.openxmlformats.org/officeDocument/2006/math">
                    <m:oMathParaPr>
                      <m:jc m:val="centerGroup"/>
                    </m:oMathParaPr>
                    <m:oMath xmlns:m="http://schemas.openxmlformats.org/officeDocument/2006/math">
                      <m:sSub>
                        <m:sSubPr>
                          <m:ctrlPr>
                            <a:rPr lang="ar-AE" b="1" i="1">
                              <a:solidFill>
                                <a:schemeClr val="tx1">
                                  <a:lumMod val="95000"/>
                                  <a:lumOff val="5000"/>
                                </a:schemeClr>
                              </a:solidFill>
                              <a:latin typeface="Cambria Math" panose="02040503050406030204" pitchFamily="18" charset="0"/>
                            </a:rPr>
                          </m:ctrlPr>
                        </m:sSubPr>
                        <m:e>
                          <m:r>
                            <a:rPr lang="ar-AE" b="1" i="1">
                              <a:solidFill>
                                <a:schemeClr val="tx1">
                                  <a:lumMod val="95000"/>
                                  <a:lumOff val="5000"/>
                                </a:schemeClr>
                              </a:solidFill>
                              <a:latin typeface="Cambria Math" panose="02040503050406030204" pitchFamily="18" charset="0"/>
                            </a:rPr>
                            <m:t>𝒌</m:t>
                          </m:r>
                        </m:e>
                        <m:sub>
                          <m:r>
                            <a:rPr lang="ar-AE" b="1" i="1">
                              <a:solidFill>
                                <a:schemeClr val="tx1">
                                  <a:lumMod val="95000"/>
                                  <a:lumOff val="5000"/>
                                </a:schemeClr>
                              </a:solidFill>
                              <a:latin typeface="Cambria Math" panose="02040503050406030204" pitchFamily="18" charset="0"/>
                            </a:rPr>
                            <m:t>𝒑</m:t>
                          </m:r>
                        </m:sub>
                      </m:sSub>
                      <m:r>
                        <a:rPr lang="ar-AE" b="1">
                          <a:solidFill>
                            <a:schemeClr val="tx1">
                              <a:lumMod val="95000"/>
                              <a:lumOff val="5000"/>
                            </a:schemeClr>
                          </a:solidFill>
                          <a:latin typeface="Cambria Math" panose="02040503050406030204" pitchFamily="18" charset="0"/>
                        </a:rPr>
                        <m:t>=</m:t>
                      </m:r>
                      <m:f>
                        <m:fPr>
                          <m:ctrlPr>
                            <a:rPr lang="ar-AE" b="1" i="1">
                              <a:solidFill>
                                <a:schemeClr val="tx1">
                                  <a:lumMod val="95000"/>
                                  <a:lumOff val="5000"/>
                                </a:schemeClr>
                              </a:solidFill>
                              <a:latin typeface="Cambria Math" panose="02040503050406030204" pitchFamily="18" charset="0"/>
                            </a:rPr>
                          </m:ctrlPr>
                        </m:fPr>
                        <m:num>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EMF</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in</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short</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pitch</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coil</m:t>
                          </m:r>
                        </m:num>
                        <m:den>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EMF</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in</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full</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pitch</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 </m:t>
                          </m:r>
                          <m:r>
                            <m:rPr>
                              <m:nor/>
                            </m:rPr>
                            <a:rPr lang="en-IN" b="1" i="1">
                              <a:solidFill>
                                <a:schemeClr val="tx1">
                                  <a:lumMod val="95000"/>
                                  <a:lumOff val="5000"/>
                                </a:schemeClr>
                              </a:solidFill>
                              <a:latin typeface="Times New Roman" panose="02020603050405020304" pitchFamily="18" charset="0"/>
                              <a:cs typeface="Times New Roman" panose="02020603050405020304" pitchFamily="18" charset="0"/>
                            </a:rPr>
                            <m:t>coil</m:t>
                          </m:r>
                        </m:den>
                      </m:f>
                    </m:oMath>
                  </m:oMathPara>
                </a14:m>
                <a:endParaRPr lang="ar-AE" b="1"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ar-AE" b="1" i="1">
                              <a:solidFill>
                                <a:schemeClr val="tx1">
                                  <a:lumMod val="95000"/>
                                  <a:lumOff val="5000"/>
                                </a:schemeClr>
                              </a:solidFill>
                              <a:latin typeface="Cambria Math" panose="02040503050406030204" pitchFamily="18" charset="0"/>
                            </a:rPr>
                          </m:ctrlPr>
                        </m:sSubPr>
                        <m:e>
                          <m:r>
                            <a:rPr lang="ar-AE" b="1" i="1">
                              <a:solidFill>
                                <a:schemeClr val="tx1">
                                  <a:lumMod val="95000"/>
                                  <a:lumOff val="5000"/>
                                </a:schemeClr>
                              </a:solidFill>
                              <a:latin typeface="Cambria Math" panose="02040503050406030204" pitchFamily="18" charset="0"/>
                            </a:rPr>
                            <m:t>𝒌</m:t>
                          </m:r>
                        </m:e>
                        <m:sub>
                          <m:r>
                            <a:rPr lang="ar-AE" b="1" i="1">
                              <a:solidFill>
                                <a:schemeClr val="tx1">
                                  <a:lumMod val="95000"/>
                                  <a:lumOff val="5000"/>
                                </a:schemeClr>
                              </a:solidFill>
                              <a:latin typeface="Cambria Math" panose="02040503050406030204" pitchFamily="18" charset="0"/>
                            </a:rPr>
                            <m:t>𝒑</m:t>
                          </m:r>
                        </m:sub>
                      </m:sSub>
                      <m:r>
                        <a:rPr lang="ar-AE" b="1">
                          <a:solidFill>
                            <a:schemeClr val="tx1">
                              <a:lumMod val="95000"/>
                              <a:lumOff val="5000"/>
                            </a:schemeClr>
                          </a:solidFill>
                          <a:latin typeface="Cambria Math" panose="02040503050406030204" pitchFamily="18" charset="0"/>
                        </a:rPr>
                        <m:t>=</m:t>
                      </m:r>
                      <m:func>
                        <m:funcPr>
                          <m:ctrlPr>
                            <a:rPr lang="ar-AE" b="1" i="1">
                              <a:solidFill>
                                <a:schemeClr val="tx1">
                                  <a:lumMod val="95000"/>
                                  <a:lumOff val="5000"/>
                                </a:schemeClr>
                              </a:solidFill>
                              <a:latin typeface="Cambria Math" panose="02040503050406030204" pitchFamily="18" charset="0"/>
                            </a:rPr>
                          </m:ctrlPr>
                        </m:funcPr>
                        <m:fName>
                          <m:r>
                            <a:rPr lang="en-IN" b="1" i="1">
                              <a:solidFill>
                                <a:schemeClr val="tx1">
                                  <a:lumMod val="95000"/>
                                  <a:lumOff val="5000"/>
                                </a:schemeClr>
                              </a:solidFill>
                              <a:latin typeface="Cambria Math" panose="02040503050406030204" pitchFamily="18" charset="0"/>
                            </a:rPr>
                            <m:t>𝐜𝐨𝐬</m:t>
                          </m:r>
                        </m:fName>
                        <m:e>
                          <m:d>
                            <m:dPr>
                              <m:ctrlPr>
                                <a:rPr lang="ar-AE" b="1" i="1">
                                  <a:solidFill>
                                    <a:schemeClr val="tx1">
                                      <a:lumMod val="95000"/>
                                      <a:lumOff val="5000"/>
                                    </a:schemeClr>
                                  </a:solidFill>
                                  <a:latin typeface="Cambria Math" panose="02040503050406030204" pitchFamily="18" charset="0"/>
                                </a:rPr>
                              </m:ctrlPr>
                            </m:dPr>
                            <m:e>
                              <m:f>
                                <m:fPr>
                                  <m:ctrlPr>
                                    <a:rPr lang="ar-AE" b="1" i="1">
                                      <a:solidFill>
                                        <a:schemeClr val="tx1">
                                          <a:lumMod val="95000"/>
                                          <a:lumOff val="5000"/>
                                        </a:schemeClr>
                                      </a:solidFill>
                                      <a:latin typeface="Cambria Math" panose="02040503050406030204" pitchFamily="18" charset="0"/>
                                    </a:rPr>
                                  </m:ctrlPr>
                                </m:fPr>
                                <m:num>
                                  <m:r>
                                    <a:rPr lang="ar-AE" b="1" i="1">
                                      <a:solidFill>
                                        <a:schemeClr val="tx1">
                                          <a:lumMod val="95000"/>
                                          <a:lumOff val="5000"/>
                                        </a:schemeClr>
                                      </a:solidFill>
                                      <a:latin typeface="Cambria Math" panose="02040503050406030204" pitchFamily="18" charset="0"/>
                                    </a:rPr>
                                    <m:t>𝜶</m:t>
                                  </m:r>
                                </m:num>
                                <m:den>
                                  <m:r>
                                    <a:rPr lang="ar-AE" b="1" i="1">
                                      <a:solidFill>
                                        <a:schemeClr val="tx1">
                                          <a:lumMod val="95000"/>
                                          <a:lumOff val="5000"/>
                                        </a:schemeClr>
                                      </a:solidFill>
                                      <a:latin typeface="Cambria Math" panose="02040503050406030204" pitchFamily="18" charset="0"/>
                                    </a:rPr>
                                    <m:t>𝟐</m:t>
                                  </m:r>
                                </m:den>
                              </m:f>
                            </m:e>
                          </m:d>
                        </m:e>
                      </m:func>
                    </m:oMath>
                  </m:oMathPara>
                </a14:m>
                <a:endParaRPr lang="ar-AE"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mc:Choice>
        <mc:Fallback xmlns="">
          <p:sp>
            <p:nvSpPr>
              <p:cNvPr id="7" name="Rectangle: Rounded Corners 6">
                <a:extLst>
                  <a:ext uri="{FF2B5EF4-FFF2-40B4-BE49-F238E27FC236}">
                    <a16:creationId xmlns:a16="http://schemas.microsoft.com/office/drawing/2014/main" id="{A5F0F23D-CFCE-8280-6D8E-FD60B08AB202}"/>
                  </a:ext>
                </a:extLst>
              </p:cNvPr>
              <p:cNvSpPr>
                <a:spLocks noRot="1" noChangeAspect="1" noMove="1" noResize="1" noEditPoints="1" noAdjustHandles="1" noChangeArrowheads="1" noChangeShapeType="1" noTextEdit="1"/>
              </p:cNvSpPr>
              <p:nvPr/>
            </p:nvSpPr>
            <p:spPr>
              <a:xfrm>
                <a:off x="6496661" y="6286500"/>
                <a:ext cx="5294673" cy="2285028"/>
              </a:xfrm>
              <a:prstGeom prst="round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748471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BFA153-3A67-3259-7231-131B0A3A0C71}"/>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3" name="TextBox 1">
            <a:extLst>
              <a:ext uri="{FF2B5EF4-FFF2-40B4-BE49-F238E27FC236}">
                <a16:creationId xmlns:a16="http://schemas.microsoft.com/office/drawing/2014/main" id="{4D374D9F-D4B6-7C9E-A47E-42C15A82FDB1}"/>
              </a:ext>
            </a:extLst>
          </p:cNvPr>
          <p:cNvSpPr txBox="1">
            <a:spLocks noChangeArrowheads="1"/>
          </p:cNvSpPr>
          <p:nvPr/>
        </p:nvSpPr>
        <p:spPr bwMode="auto">
          <a:xfrm>
            <a:off x="2286000" y="844993"/>
            <a:ext cx="13716000" cy="553998"/>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b="1" dirty="0">
                <a:latin typeface="Times New Roman" panose="02020603050405020304" pitchFamily="18" charset="0"/>
                <a:cs typeface="Times New Roman" panose="02020603050405020304" pitchFamily="18" charset="0"/>
              </a:rPr>
              <a:t>Pitch Factor, Winding Factor and Harmonic Reduction</a:t>
            </a:r>
            <a:endParaRPr kumimoji="0" lang="en-US" sz="27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4" name="Picture 81">
            <a:extLst>
              <a:ext uri="{FF2B5EF4-FFF2-40B4-BE49-F238E27FC236}">
                <a16:creationId xmlns:a16="http://schemas.microsoft.com/office/drawing/2014/main" id="{77859FE8-5C29-6489-71E6-F37861C14B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2">
                <a:extLst>
                  <a:ext uri="{FF2B5EF4-FFF2-40B4-BE49-F238E27FC236}">
                    <a16:creationId xmlns:a16="http://schemas.microsoft.com/office/drawing/2014/main" id="{478E087A-C96F-F037-A190-30D7464B2DB2}"/>
                  </a:ext>
                </a:extLst>
              </p:cNvPr>
              <p:cNvSpPr txBox="1">
                <a:spLocks noChangeArrowheads="1"/>
              </p:cNvSpPr>
              <p:nvPr/>
            </p:nvSpPr>
            <p:spPr bwMode="auto">
              <a:xfrm>
                <a:off x="2451342" y="1495989"/>
                <a:ext cx="13385314" cy="8620437"/>
              </a:xfrm>
              <a:prstGeom prst="rect">
                <a:avLst/>
              </a:prstGeom>
              <a:noFill/>
              <a:ln w="9525">
                <a:solidFill>
                  <a:srgbClr val="002060"/>
                </a:solidFill>
                <a:miter lim="800000"/>
                <a:headEnd/>
                <a:tailEnd/>
              </a:ln>
            </p:spPr>
            <p:txBody>
              <a:bodyPr wrap="square">
                <a:spAutoFit/>
              </a:bodyPr>
              <a:lstStyle/>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The pitch factor is defined as the ratio of the EMF induced in a short-pitch coil to the EMF induced in a full-pitch coil. For a short-pitch coil, the resultant EMF is reduced due to the phase difference between the coil sides.</a:t>
                </a:r>
              </a:p>
              <a:p>
                <a:pPr marL="285750" indent="-285750">
                  <a:lnSpc>
                    <a:spcPct val="150000"/>
                  </a:lnSpc>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The winding factor is the product of the pitch factor and the distributed factor.</a:t>
                </a:r>
              </a:p>
              <a:p>
                <a:pPr>
                  <a:lnSpc>
                    <a:spcPct val="150000"/>
                  </a:lnSpc>
                </a:pPr>
                <a14:m>
                  <m:oMathPara xmlns:m="http://schemas.openxmlformats.org/officeDocument/2006/math">
                    <m:oMathParaPr>
                      <m:jc m:val="centerGroup"/>
                    </m:oMathParaPr>
                    <m:oMath xmlns:m="http://schemas.openxmlformats.org/officeDocument/2006/math">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𝒌</m:t>
                          </m:r>
                        </m:e>
                        <m:sub>
                          <m:r>
                            <a:rPr lang="ar-AE" sz="2400" b="1" i="1">
                              <a:solidFill>
                                <a:schemeClr val="tx1"/>
                              </a:solidFill>
                              <a:latin typeface="Cambria Math" panose="02040503050406030204" pitchFamily="18" charset="0"/>
                            </a:rPr>
                            <m:t>𝒘</m:t>
                          </m:r>
                        </m:sub>
                      </m:sSub>
                      <m:r>
                        <a:rPr lang="ar-AE" sz="2400" b="1">
                          <a:solidFill>
                            <a:schemeClr val="tx1"/>
                          </a:solidFill>
                          <a:latin typeface="Cambria Math" panose="02040503050406030204" pitchFamily="18" charset="0"/>
                        </a:rPr>
                        <m:t>=</m:t>
                      </m:r>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𝒌</m:t>
                          </m:r>
                        </m:e>
                        <m:sub>
                          <m:r>
                            <a:rPr lang="ar-AE" sz="2400" b="1" i="1">
                              <a:solidFill>
                                <a:schemeClr val="tx1"/>
                              </a:solidFill>
                              <a:latin typeface="Cambria Math" panose="02040503050406030204" pitchFamily="18" charset="0"/>
                            </a:rPr>
                            <m:t>𝒑</m:t>
                          </m:r>
                        </m:sub>
                      </m:sSub>
                      <m:r>
                        <m:rPr>
                          <m:nor/>
                        </m:rPr>
                        <a:rPr lang="ar-AE" sz="2400" b="1" i="1">
                          <a:solidFill>
                            <a:schemeClr val="tx1"/>
                          </a:solidFill>
                          <a:latin typeface="Times New Roman" panose="02020603050405020304" pitchFamily="18" charset="0"/>
                          <a:cs typeface="Times New Roman" panose="02020603050405020304" pitchFamily="18" charset="0"/>
                        </a:rPr>
                        <m:t> </m:t>
                      </m:r>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𝒌</m:t>
                          </m:r>
                        </m:e>
                        <m:sub>
                          <m:r>
                            <a:rPr lang="ar-AE" sz="2400" b="1" i="1">
                              <a:solidFill>
                                <a:schemeClr val="tx1"/>
                              </a:solidFill>
                              <a:latin typeface="Cambria Math" panose="02040503050406030204" pitchFamily="18" charset="0"/>
                            </a:rPr>
                            <m:t>𝒅</m:t>
                          </m:r>
                        </m:sub>
                      </m:sSub>
                    </m:oMath>
                  </m:oMathPara>
                </a14:m>
                <a:endParaRPr lang="ar-AE" sz="2400" b="1" dirty="0">
                  <a:solidFill>
                    <a:srgbClr val="7030A0"/>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The EMF per phase including winding factor is given by:</a:t>
                </a:r>
              </a:p>
              <a:p>
                <a:pPr>
                  <a:lnSpc>
                    <a:spcPct val="150000"/>
                  </a:lnSpc>
                </a:pPr>
                <a14:m>
                  <m:oMathPara xmlns:m="http://schemas.openxmlformats.org/officeDocument/2006/math">
                    <m:oMathParaPr>
                      <m:jc m:val="centerGroup"/>
                    </m:oMathParaPr>
                    <m:oMath xmlns:m="http://schemas.openxmlformats.org/officeDocument/2006/math">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𝑬</m:t>
                          </m:r>
                        </m:e>
                        <m:sub>
                          <m:r>
                            <a:rPr lang="ar-AE" sz="2400" b="1" i="1">
                              <a:solidFill>
                                <a:schemeClr val="tx1"/>
                              </a:solidFill>
                              <a:latin typeface="Cambria Math" panose="02040503050406030204" pitchFamily="18" charset="0"/>
                            </a:rPr>
                            <m:t>𝒑𝒉</m:t>
                          </m:r>
                        </m:sub>
                      </m:sSub>
                      <m:r>
                        <a:rPr lang="ar-AE" sz="2400" b="1">
                          <a:solidFill>
                            <a:schemeClr val="tx1"/>
                          </a:solidFill>
                          <a:latin typeface="Cambria Math" panose="02040503050406030204" pitchFamily="18" charset="0"/>
                        </a:rPr>
                        <m:t>=</m:t>
                      </m:r>
                      <m:r>
                        <a:rPr lang="ar-AE" sz="2400" b="1" i="1">
                          <a:solidFill>
                            <a:schemeClr val="tx1"/>
                          </a:solidFill>
                          <a:latin typeface="Cambria Math" panose="02040503050406030204" pitchFamily="18" charset="0"/>
                        </a:rPr>
                        <m:t>𝟒</m:t>
                      </m:r>
                      <m:r>
                        <a:rPr lang="ar-AE" sz="2400" b="1">
                          <a:solidFill>
                            <a:schemeClr val="tx1"/>
                          </a:solidFill>
                          <a:latin typeface="Cambria Math" panose="02040503050406030204" pitchFamily="18" charset="0"/>
                        </a:rPr>
                        <m:t>.</m:t>
                      </m:r>
                      <m:r>
                        <a:rPr lang="ar-AE" sz="2400" b="1" i="1">
                          <a:solidFill>
                            <a:schemeClr val="tx1"/>
                          </a:solidFill>
                          <a:latin typeface="Cambria Math" panose="02040503050406030204" pitchFamily="18" charset="0"/>
                        </a:rPr>
                        <m:t>𝟒𝟒</m:t>
                      </m:r>
                      <m:r>
                        <m:rPr>
                          <m:nor/>
                        </m:rPr>
                        <a:rPr lang="ar-AE" sz="2400" b="1" i="1">
                          <a:solidFill>
                            <a:schemeClr val="tx1"/>
                          </a:solidFill>
                          <a:latin typeface="Times New Roman" panose="02020603050405020304" pitchFamily="18" charset="0"/>
                          <a:cs typeface="Times New Roman" panose="02020603050405020304" pitchFamily="18" charset="0"/>
                        </a:rPr>
                        <m:t> </m:t>
                      </m:r>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𝑵</m:t>
                          </m:r>
                        </m:e>
                        <m:sub>
                          <m:r>
                            <a:rPr lang="ar-AE" sz="2400" b="1" i="1">
                              <a:solidFill>
                                <a:schemeClr val="tx1"/>
                              </a:solidFill>
                              <a:latin typeface="Cambria Math" panose="02040503050406030204" pitchFamily="18" charset="0"/>
                            </a:rPr>
                            <m:t>𝒑𝒉</m:t>
                          </m:r>
                        </m:sub>
                      </m:sSub>
                      <m:r>
                        <m:rPr>
                          <m:nor/>
                        </m:rPr>
                        <a:rPr lang="ar-AE" sz="2400" b="1" i="1">
                          <a:solidFill>
                            <a:schemeClr val="tx1"/>
                          </a:solidFill>
                          <a:latin typeface="Times New Roman" panose="02020603050405020304" pitchFamily="18" charset="0"/>
                          <a:cs typeface="Times New Roman" panose="02020603050405020304" pitchFamily="18" charset="0"/>
                        </a:rPr>
                        <m:t> </m:t>
                      </m:r>
                      <m:sSub>
                        <m:sSubPr>
                          <m:ctrlPr>
                            <a:rPr lang="ar-AE" sz="2400" b="1" i="1">
                              <a:solidFill>
                                <a:schemeClr val="tx1"/>
                              </a:solidFill>
                              <a:latin typeface="Cambria Math" panose="02040503050406030204" pitchFamily="18" charset="0"/>
                            </a:rPr>
                          </m:ctrlPr>
                        </m:sSubPr>
                        <m:e>
                          <m:r>
                            <a:rPr lang="el-GR" sz="2400" b="1" i="1">
                              <a:solidFill>
                                <a:schemeClr val="tx1"/>
                              </a:solidFill>
                              <a:latin typeface="Cambria Math" panose="02040503050406030204" pitchFamily="18" charset="0"/>
                            </a:rPr>
                            <m:t>𝚽</m:t>
                          </m:r>
                        </m:e>
                        <m:sub>
                          <m:r>
                            <a:rPr lang="ar-AE" sz="2400" b="1" i="1">
                              <a:solidFill>
                                <a:schemeClr val="tx1"/>
                              </a:solidFill>
                              <a:latin typeface="Cambria Math" panose="02040503050406030204" pitchFamily="18" charset="0"/>
                            </a:rPr>
                            <m:t>𝒎</m:t>
                          </m:r>
                        </m:sub>
                      </m:sSub>
                      <m:r>
                        <m:rPr>
                          <m:nor/>
                        </m:rPr>
                        <a:rPr lang="ar-AE" sz="2400" b="1" i="1">
                          <a:solidFill>
                            <a:schemeClr val="tx1"/>
                          </a:solidFill>
                          <a:latin typeface="Times New Roman" panose="02020603050405020304" pitchFamily="18" charset="0"/>
                          <a:cs typeface="Times New Roman" panose="02020603050405020304" pitchFamily="18" charset="0"/>
                        </a:rPr>
                        <m:t> </m:t>
                      </m:r>
                      <m:r>
                        <a:rPr lang="ar-AE" sz="2400" b="1" i="1">
                          <a:solidFill>
                            <a:schemeClr val="tx1"/>
                          </a:solidFill>
                          <a:latin typeface="Cambria Math" panose="02040503050406030204" pitchFamily="18" charset="0"/>
                        </a:rPr>
                        <m:t>𝒇</m:t>
                      </m:r>
                      <m:r>
                        <m:rPr>
                          <m:nor/>
                        </m:rPr>
                        <a:rPr lang="ar-AE" sz="2400" b="1" i="1">
                          <a:solidFill>
                            <a:schemeClr val="tx1"/>
                          </a:solidFill>
                          <a:latin typeface="Times New Roman" panose="02020603050405020304" pitchFamily="18" charset="0"/>
                          <a:cs typeface="Times New Roman" panose="02020603050405020304" pitchFamily="18" charset="0"/>
                        </a:rPr>
                        <m:t> </m:t>
                      </m:r>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𝒌</m:t>
                          </m:r>
                        </m:e>
                        <m:sub>
                          <m:r>
                            <a:rPr lang="ar-AE" sz="2400" b="1" i="1">
                              <a:solidFill>
                                <a:schemeClr val="tx1"/>
                              </a:solidFill>
                              <a:latin typeface="Cambria Math" panose="02040503050406030204" pitchFamily="18" charset="0"/>
                            </a:rPr>
                            <m:t>𝒘</m:t>
                          </m:r>
                        </m:sub>
                      </m:sSub>
                    </m:oMath>
                  </m:oMathPara>
                </a14:m>
                <a:endParaRPr lang="ar-AE" sz="2400" b="1"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As the order of harmonics increases, the value of the pitch factor decreases. Hence, higher-order harmonics are reduced more effectively.</a:t>
                </a:r>
              </a:p>
              <a:p>
                <a:pPr>
                  <a:lnSpc>
                    <a:spcPct val="150000"/>
                  </a:lnSpc>
                </a:pPr>
                <a14:m>
                  <m:oMathPara xmlns:m="http://schemas.openxmlformats.org/officeDocument/2006/math">
                    <m:oMathParaPr>
                      <m:jc m:val="centerGroup"/>
                    </m:oMathParaPr>
                    <m:oMath xmlns:m="http://schemas.openxmlformats.org/officeDocument/2006/math">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𝒌</m:t>
                          </m:r>
                        </m:e>
                        <m:sub>
                          <m:r>
                            <a:rPr lang="ar-AE" sz="2400" b="1" i="1">
                              <a:solidFill>
                                <a:schemeClr val="tx1"/>
                              </a:solidFill>
                              <a:latin typeface="Cambria Math" panose="02040503050406030204" pitchFamily="18" charset="0"/>
                            </a:rPr>
                            <m:t>𝒑</m:t>
                          </m:r>
                          <m:r>
                            <a:rPr lang="ar-AE" sz="2400" b="1" i="1">
                              <a:solidFill>
                                <a:schemeClr val="tx1"/>
                              </a:solidFill>
                              <a:latin typeface="Cambria Math" panose="02040503050406030204" pitchFamily="18" charset="0"/>
                            </a:rPr>
                            <m:t>𝟏</m:t>
                          </m:r>
                        </m:sub>
                      </m:sSub>
                      <m:r>
                        <a:rPr lang="ar-AE" sz="2400" b="1">
                          <a:solidFill>
                            <a:schemeClr val="tx1"/>
                          </a:solidFill>
                          <a:latin typeface="Cambria Math" panose="02040503050406030204" pitchFamily="18" charset="0"/>
                        </a:rPr>
                        <m:t>&gt;</m:t>
                      </m:r>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𝒌</m:t>
                          </m:r>
                        </m:e>
                        <m:sub>
                          <m:r>
                            <a:rPr lang="ar-AE" sz="2400" b="1" i="1">
                              <a:solidFill>
                                <a:schemeClr val="tx1"/>
                              </a:solidFill>
                              <a:latin typeface="Cambria Math" panose="02040503050406030204" pitchFamily="18" charset="0"/>
                            </a:rPr>
                            <m:t>𝒑</m:t>
                          </m:r>
                          <m:r>
                            <a:rPr lang="ar-AE" sz="2400" b="1" i="1">
                              <a:solidFill>
                                <a:schemeClr val="tx1"/>
                              </a:solidFill>
                              <a:latin typeface="Cambria Math" panose="02040503050406030204" pitchFamily="18" charset="0"/>
                            </a:rPr>
                            <m:t>𝟓</m:t>
                          </m:r>
                        </m:sub>
                      </m:sSub>
                      <m:r>
                        <a:rPr lang="ar-AE" sz="2400" b="1">
                          <a:solidFill>
                            <a:schemeClr val="tx1"/>
                          </a:solidFill>
                          <a:latin typeface="Cambria Math" panose="02040503050406030204" pitchFamily="18" charset="0"/>
                        </a:rPr>
                        <m:t>&gt;</m:t>
                      </m:r>
                      <m:sSub>
                        <m:sSubPr>
                          <m:ctrlPr>
                            <a:rPr lang="ar-AE" sz="2400" b="1" i="1">
                              <a:solidFill>
                                <a:schemeClr val="tx1"/>
                              </a:solidFill>
                              <a:latin typeface="Cambria Math" panose="02040503050406030204" pitchFamily="18" charset="0"/>
                            </a:rPr>
                          </m:ctrlPr>
                        </m:sSubPr>
                        <m:e>
                          <m:r>
                            <a:rPr lang="ar-AE" sz="2400" b="1" i="1">
                              <a:solidFill>
                                <a:schemeClr val="tx1"/>
                              </a:solidFill>
                              <a:latin typeface="Cambria Math" panose="02040503050406030204" pitchFamily="18" charset="0"/>
                            </a:rPr>
                            <m:t>𝒌</m:t>
                          </m:r>
                        </m:e>
                        <m:sub>
                          <m:r>
                            <a:rPr lang="ar-AE" sz="2400" b="1" i="1">
                              <a:solidFill>
                                <a:schemeClr val="tx1"/>
                              </a:solidFill>
                              <a:latin typeface="Cambria Math" panose="02040503050406030204" pitchFamily="18" charset="0"/>
                            </a:rPr>
                            <m:t>𝒑</m:t>
                          </m:r>
                          <m:r>
                            <a:rPr lang="ar-AE" sz="2400" b="1" i="1">
                              <a:solidFill>
                                <a:schemeClr val="tx1"/>
                              </a:solidFill>
                              <a:latin typeface="Cambria Math" panose="02040503050406030204" pitchFamily="18" charset="0"/>
                            </a:rPr>
                            <m:t>𝟕</m:t>
                          </m:r>
                        </m:sub>
                      </m:sSub>
                    </m:oMath>
                  </m:oMathPara>
                </a14:m>
                <a:endParaRPr lang="ar-AE" sz="2400" b="1" dirty="0">
                  <a:solidFill>
                    <a:srgbClr val="7030A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400" b="1" dirty="0">
                    <a:solidFill>
                      <a:srgbClr val="7030A0"/>
                    </a:solidFill>
                    <a:latin typeface="Times New Roman" panose="02020603050405020304" pitchFamily="18" charset="0"/>
                    <a:cs typeface="Times New Roman" panose="02020603050405020304" pitchFamily="18" charset="0"/>
                  </a:rPr>
                  <a:t>By employing short-pitch winding, the harmonic content in the induced EMF can be reduced.</a:t>
                </a:r>
                <a:br>
                  <a:rPr lang="en-IN" sz="2400" b="1" dirty="0">
                    <a:solidFill>
                      <a:srgbClr val="7030A0"/>
                    </a:solidFill>
                    <a:latin typeface="Times New Roman" panose="02020603050405020304" pitchFamily="18" charset="0"/>
                    <a:cs typeface="Times New Roman" panose="02020603050405020304" pitchFamily="18" charset="0"/>
                  </a:rPr>
                </a:br>
                <a:r>
                  <a:rPr lang="en-IN" sz="2400" b="1" dirty="0">
                    <a:solidFill>
                      <a:srgbClr val="7030A0"/>
                    </a:solidFill>
                    <a:latin typeface="Times New Roman" panose="02020603050405020304" pitchFamily="18" charset="0"/>
                    <a:cs typeface="Times New Roman" panose="02020603050405020304" pitchFamily="18" charset="0"/>
                  </a:rPr>
                  <a:t>For complete elimination of the </a:t>
                </a:r>
                <a14:m>
                  <m:oMath xmlns:m="http://schemas.openxmlformats.org/officeDocument/2006/math">
                    <m:sSup>
                      <m:sSupPr>
                        <m:ctrlPr>
                          <a:rPr lang="ar-AE" sz="2400" b="1" i="1">
                            <a:solidFill>
                              <a:srgbClr val="7030A0"/>
                            </a:solidFill>
                            <a:latin typeface="Cambria Math" panose="02040503050406030204" pitchFamily="18" charset="0"/>
                          </a:rPr>
                        </m:ctrlPr>
                      </m:sSupPr>
                      <m:e>
                        <m:r>
                          <a:rPr lang="ar-AE" sz="2400" b="1" i="1">
                            <a:solidFill>
                              <a:srgbClr val="7030A0"/>
                            </a:solidFill>
                            <a:latin typeface="Cambria Math" panose="02040503050406030204" pitchFamily="18" charset="0"/>
                          </a:rPr>
                          <m:t>𝒏</m:t>
                        </m:r>
                      </m:e>
                      <m:sup>
                        <m:r>
                          <m:rPr>
                            <m:nor/>
                          </m:rPr>
                          <a:rPr lang="en-IN" sz="2400" b="1" i="1">
                            <a:solidFill>
                              <a:srgbClr val="7030A0"/>
                            </a:solidFill>
                            <a:latin typeface="Times New Roman" panose="02020603050405020304" pitchFamily="18" charset="0"/>
                            <a:cs typeface="Times New Roman" panose="02020603050405020304" pitchFamily="18" charset="0"/>
                          </a:rPr>
                          <m:t>th</m:t>
                        </m:r>
                      </m:sup>
                    </m:sSup>
                  </m:oMath>
                </a14:m>
                <a:r>
                  <a:rPr lang="en-IN" sz="2400" b="1" dirty="0">
                    <a:solidFill>
                      <a:srgbClr val="7030A0"/>
                    </a:solidFill>
                    <a:latin typeface="Times New Roman" panose="02020603050405020304" pitchFamily="18" charset="0"/>
                    <a:cs typeface="Times New Roman" panose="02020603050405020304" pitchFamily="18" charset="0"/>
                  </a:rPr>
                  <a:t>harmonic, the chording angle must satisfy:</a:t>
                </a:r>
              </a:p>
              <a:p>
                <a:pPr>
                  <a:lnSpc>
                    <a:spcPct val="150000"/>
                  </a:lnSpc>
                </a:pPr>
                <a:endParaRPr lang="en-US" sz="2400" b="1" dirty="0">
                  <a:solidFill>
                    <a:srgbClr val="7030A0"/>
                  </a:solidFill>
                  <a:latin typeface="Times New Roman" panose="02020603050405020304" pitchFamily="18" charset="0"/>
                  <a:cs typeface="Times New Roman" panose="02020603050405020304" pitchFamily="18" charset="0"/>
                </a:endParaRPr>
              </a:p>
              <a:p>
                <a:pPr>
                  <a:lnSpc>
                    <a:spcPct val="150000"/>
                  </a:lnSpc>
                </a:pPr>
                <a:endParaRPr lang="ar-AE" sz="2400" b="1" dirty="0">
                  <a:solidFill>
                    <a:srgbClr val="2850FC"/>
                  </a:solidFill>
                  <a:latin typeface="Times New Roman" panose="02020603050405020304" pitchFamily="18" charset="0"/>
                  <a:cs typeface="Times New Roman" panose="02020603050405020304" pitchFamily="18" charset="0"/>
                </a:endParaRPr>
              </a:p>
              <a:p>
                <a:endParaRPr lang="en-IN" sz="2400" b="1" dirty="0">
                  <a:solidFill>
                    <a:srgbClr val="2850FC"/>
                  </a:solidFill>
                  <a:latin typeface="Times New Roman" panose="02020603050405020304" pitchFamily="18" charset="0"/>
                  <a:cs typeface="Times New Roman" panose="02020603050405020304" pitchFamily="18" charset="0"/>
                </a:endParaRPr>
              </a:p>
              <a:p>
                <a:r>
                  <a:rPr lang="en-IN" sz="2400" b="1" dirty="0">
                    <a:solidFill>
                      <a:srgbClr val="2850FC"/>
                    </a:solidFill>
                    <a:latin typeface="Times New Roman" panose="02020603050405020304" pitchFamily="18" charset="0"/>
                    <a:cs typeface="Times New Roman" panose="02020603050405020304" pitchFamily="18" charset="0"/>
                  </a:rPr>
                  <a:t>Example:</a:t>
                </a:r>
                <a:br>
                  <a:rPr lang="en-IN" sz="2400" b="1" dirty="0">
                    <a:solidFill>
                      <a:srgbClr val="7030A0"/>
                    </a:solidFill>
                    <a:latin typeface="Times New Roman" panose="02020603050405020304" pitchFamily="18" charset="0"/>
                    <a:cs typeface="Times New Roman" panose="02020603050405020304" pitchFamily="18" charset="0"/>
                  </a:rPr>
                </a:br>
                <a:r>
                  <a:rPr lang="en-IN" sz="2400" b="1" dirty="0">
                    <a:solidFill>
                      <a:srgbClr val="7030A0"/>
                    </a:solidFill>
                    <a:latin typeface="Times New Roman" panose="02020603050405020304" pitchFamily="18" charset="0"/>
                    <a:cs typeface="Times New Roman" panose="02020603050405020304" pitchFamily="18" charset="0"/>
                  </a:rPr>
                  <a:t>To eliminate the 7th harmonic,</a:t>
                </a:r>
              </a:p>
              <a:p>
                <a:pPr/>
                <a14:m>
                  <m:oMathPara xmlns:m="http://schemas.openxmlformats.org/officeDocument/2006/math">
                    <m:oMathParaPr>
                      <m:jc m:val="centerGroup"/>
                    </m:oMathParaPr>
                    <m:oMath xmlns:m="http://schemas.openxmlformats.org/officeDocument/2006/math">
                      <m:r>
                        <a:rPr lang="en-IN" sz="2400" b="1" i="1">
                          <a:solidFill>
                            <a:schemeClr val="tx1"/>
                          </a:solidFill>
                          <a:latin typeface="Cambria Math" panose="02040503050406030204" pitchFamily="18" charset="0"/>
                        </a:rPr>
                        <m:t>𝜶</m:t>
                      </m:r>
                      <m:r>
                        <a:rPr lang="en-IN" sz="2400" b="1">
                          <a:solidFill>
                            <a:schemeClr val="tx1"/>
                          </a:solidFill>
                          <a:latin typeface="Cambria Math" panose="02040503050406030204" pitchFamily="18" charset="0"/>
                        </a:rPr>
                        <m:t>=</m:t>
                      </m:r>
                      <m:f>
                        <m:fPr>
                          <m:ctrlPr>
                            <a:rPr lang="ar-AE" sz="2400" b="1" i="1">
                              <a:solidFill>
                                <a:schemeClr val="tx1"/>
                              </a:solidFill>
                              <a:latin typeface="Cambria Math" panose="02040503050406030204" pitchFamily="18" charset="0"/>
                            </a:rPr>
                          </m:ctrlPr>
                        </m:fPr>
                        <m:num>
                          <m:sSup>
                            <m:sSupPr>
                              <m:ctrlPr>
                                <a:rPr lang="ar-AE" sz="2400" b="1" i="1">
                                  <a:solidFill>
                                    <a:schemeClr val="tx1"/>
                                  </a:solidFill>
                                  <a:latin typeface="Cambria Math" panose="02040503050406030204" pitchFamily="18" charset="0"/>
                                </a:rPr>
                              </m:ctrlPr>
                            </m:sSupPr>
                            <m:e>
                              <m:r>
                                <a:rPr lang="ar-AE" sz="2400" b="1" i="1">
                                  <a:solidFill>
                                    <a:schemeClr val="tx1"/>
                                  </a:solidFill>
                                  <a:latin typeface="Cambria Math" panose="02040503050406030204" pitchFamily="18" charset="0"/>
                                </a:rPr>
                                <m:t>𝟏𝟖𝟎</m:t>
                              </m:r>
                            </m:e>
                            <m:sup>
                              <m:r>
                                <a:rPr lang="ar-AE" sz="2400" b="1">
                                  <a:solidFill>
                                    <a:schemeClr val="tx1"/>
                                  </a:solidFill>
                                  <a:latin typeface="Cambria Math" panose="02040503050406030204" pitchFamily="18" charset="0"/>
                                </a:rPr>
                                <m:t>∘</m:t>
                              </m:r>
                            </m:sup>
                          </m:sSup>
                        </m:num>
                        <m:den>
                          <m:r>
                            <a:rPr lang="ar-AE" sz="2400" b="1" i="1">
                              <a:solidFill>
                                <a:schemeClr val="tx1"/>
                              </a:solidFill>
                              <a:latin typeface="Cambria Math" panose="02040503050406030204" pitchFamily="18" charset="0"/>
                            </a:rPr>
                            <m:t>𝟕</m:t>
                          </m:r>
                        </m:den>
                      </m:f>
                    </m:oMath>
                  </m:oMathPara>
                </a14:m>
                <a:endParaRPr lang="ar-AE" sz="2400"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 name="TextBox 2">
                <a:extLst>
                  <a:ext uri="{FF2B5EF4-FFF2-40B4-BE49-F238E27FC236}">
                    <a16:creationId xmlns:a16="http://schemas.microsoft.com/office/drawing/2014/main" id="{478E087A-C96F-F037-A190-30D7464B2DB2}"/>
                  </a:ext>
                </a:extLst>
              </p:cNvPr>
              <p:cNvSpPr txBox="1">
                <a:spLocks noRot="1" noChangeAspect="1" noMove="1" noResize="1" noEditPoints="1" noAdjustHandles="1" noChangeArrowheads="1" noChangeShapeType="1" noTextEdit="1"/>
              </p:cNvSpPr>
              <p:nvPr/>
            </p:nvSpPr>
            <p:spPr bwMode="auto">
              <a:xfrm>
                <a:off x="2451342" y="1495989"/>
                <a:ext cx="13385314" cy="8620437"/>
              </a:xfrm>
              <a:prstGeom prst="rect">
                <a:avLst/>
              </a:prstGeom>
              <a:blipFill>
                <a:blip r:embed="Rc70e4db33434464b"/>
                <a:stretch>
                  <a:fillRect l="-273" t="-212"/>
                </a:stretch>
              </a:blipFill>
              <a:ln w="9525">
                <a:solidFill>
                  <a:srgbClr val="002060"/>
                </a:solid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7ED178A6-2E55-1A73-E85D-8C7870E615A3}"/>
                  </a:ext>
                </a:extLst>
              </p:cNvPr>
              <p:cNvSpPr/>
              <p:nvPr/>
            </p:nvSpPr>
            <p:spPr>
              <a:xfrm>
                <a:off x="7860888" y="7315198"/>
                <a:ext cx="2566219" cy="116512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b="1" i="1">
                          <a:solidFill>
                            <a:schemeClr val="tx1"/>
                          </a:solidFill>
                          <a:latin typeface="Cambria Math" panose="02040503050406030204" pitchFamily="18" charset="0"/>
                        </a:rPr>
                        <m:t>𝜶</m:t>
                      </m:r>
                      <m:r>
                        <a:rPr lang="en-IN" b="1">
                          <a:solidFill>
                            <a:schemeClr val="tx1"/>
                          </a:solidFill>
                          <a:latin typeface="Cambria Math" panose="02040503050406030204" pitchFamily="18" charset="0"/>
                        </a:rPr>
                        <m:t>=</m:t>
                      </m:r>
                      <m:f>
                        <m:fPr>
                          <m:ctrlPr>
                            <a:rPr lang="ar-AE" b="1" i="1">
                              <a:solidFill>
                                <a:schemeClr val="tx1"/>
                              </a:solidFill>
                              <a:latin typeface="Cambria Math" panose="02040503050406030204" pitchFamily="18" charset="0"/>
                            </a:rPr>
                          </m:ctrlPr>
                        </m:fPr>
                        <m:num>
                          <m:sSup>
                            <m:sSupPr>
                              <m:ctrlPr>
                                <a:rPr lang="ar-AE" b="1" i="1">
                                  <a:solidFill>
                                    <a:schemeClr val="tx1"/>
                                  </a:solidFill>
                                  <a:latin typeface="Cambria Math" panose="02040503050406030204" pitchFamily="18" charset="0"/>
                                </a:rPr>
                              </m:ctrlPr>
                            </m:sSupPr>
                            <m:e>
                              <m:r>
                                <a:rPr lang="ar-AE" b="1" i="1">
                                  <a:solidFill>
                                    <a:schemeClr val="tx1"/>
                                  </a:solidFill>
                                  <a:latin typeface="Cambria Math" panose="02040503050406030204" pitchFamily="18" charset="0"/>
                                </a:rPr>
                                <m:t>𝟏𝟖𝟎</m:t>
                              </m:r>
                            </m:e>
                            <m:sup>
                              <m:r>
                                <a:rPr lang="ar-AE" b="1">
                                  <a:solidFill>
                                    <a:schemeClr val="tx1"/>
                                  </a:solidFill>
                                  <a:latin typeface="Cambria Math" panose="02040503050406030204" pitchFamily="18" charset="0"/>
                                </a:rPr>
                                <m:t>∘</m:t>
                              </m:r>
                            </m:sup>
                          </m:sSup>
                        </m:num>
                        <m:den>
                          <m:r>
                            <a:rPr lang="ar-AE" b="1" i="1">
                              <a:solidFill>
                                <a:schemeClr val="tx1"/>
                              </a:solidFill>
                              <a:latin typeface="Cambria Math" panose="02040503050406030204" pitchFamily="18" charset="0"/>
                            </a:rPr>
                            <m:t>𝒏</m:t>
                          </m:r>
                        </m:den>
                      </m:f>
                    </m:oMath>
                  </m:oMathPara>
                </a14:m>
                <a:endParaRPr lang="en-US"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6" name="Rectangle 5">
                <a:extLst>
                  <a:ext uri="{FF2B5EF4-FFF2-40B4-BE49-F238E27FC236}">
                    <a16:creationId xmlns:a16="http://schemas.microsoft.com/office/drawing/2014/main" id="{7ED178A6-2E55-1A73-E85D-8C7870E615A3}"/>
                  </a:ext>
                </a:extLst>
              </p:cNvPr>
              <p:cNvSpPr>
                <a:spLocks noRot="1" noChangeAspect="1" noMove="1" noResize="1" noEditPoints="1" noAdjustHandles="1" noChangeArrowheads="1" noChangeShapeType="1" noTextEdit="1"/>
              </p:cNvSpPr>
              <p:nvPr/>
            </p:nvSpPr>
            <p:spPr>
              <a:xfrm>
                <a:off x="7860888" y="7315198"/>
                <a:ext cx="2566219" cy="1165122"/>
              </a:xfrm>
              <a:prstGeom prst="rect">
                <a:avLst/>
              </a:prstGeom>
              <a:blipFill>
                <a:blip r:embed="R2b284fbd336c4d6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044203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587208-AC48-FA69-3FC6-7EFCA4BF0CDF}"/>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3" name="TextBox 1">
            <a:extLst>
              <a:ext uri="{FF2B5EF4-FFF2-40B4-BE49-F238E27FC236}">
                <a16:creationId xmlns:a16="http://schemas.microsoft.com/office/drawing/2014/main" id="{7AAB3ADE-774F-D7CD-E974-96DCD07968CB}"/>
              </a:ext>
            </a:extLst>
          </p:cNvPr>
          <p:cNvSpPr txBox="1">
            <a:spLocks noChangeArrowheads="1"/>
          </p:cNvSpPr>
          <p:nvPr/>
        </p:nvSpPr>
        <p:spPr bwMode="auto">
          <a:xfrm>
            <a:off x="2286000" y="844993"/>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sz="3000" b="1" dirty="0">
                <a:latin typeface="Times New Roman" panose="02020603050405020304" pitchFamily="18" charset="0"/>
                <a:cs typeface="Times New Roman" panose="02020603050405020304" pitchFamily="18" charset="0"/>
              </a:rPr>
              <a:t>Harmonic Elimination using Short-Pitch (Chorded) Winding</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4" name="Picture 81">
            <a:extLst>
              <a:ext uri="{FF2B5EF4-FFF2-40B4-BE49-F238E27FC236}">
                <a16:creationId xmlns:a16="http://schemas.microsoft.com/office/drawing/2014/main" id="{5D49FC05-BE44-6710-9DE7-712788CB96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2">
            <a:extLst>
              <a:ext uri="{FF2B5EF4-FFF2-40B4-BE49-F238E27FC236}">
                <a16:creationId xmlns:a16="http://schemas.microsoft.com/office/drawing/2014/main" id="{9290712C-409C-A807-EAC8-97C81E732C7E}"/>
              </a:ext>
            </a:extLst>
          </p:cNvPr>
          <p:cNvSpPr txBox="1">
            <a:spLocks noChangeArrowheads="1"/>
          </p:cNvSpPr>
          <p:nvPr/>
        </p:nvSpPr>
        <p:spPr bwMode="auto">
          <a:xfrm>
            <a:off x="2451342" y="1495989"/>
            <a:ext cx="13385314" cy="8517717"/>
          </a:xfrm>
          <a:prstGeom prst="rect">
            <a:avLst/>
          </a:prstGeom>
          <a:noFill/>
          <a:ln w="9525">
            <a:solidFill>
              <a:srgbClr val="002060"/>
            </a:solidFill>
            <a:miter lim="800000"/>
            <a:headEnd/>
            <a:tailEnd/>
          </a:ln>
        </p:spPr>
        <p:txBody>
          <a:bodyPr wrap="square">
            <a:spAutoFit/>
          </a:bodyPr>
          <a:lstStyle/>
          <a:p>
            <a:pPr marL="285750" indent="-285750">
              <a:buFont typeface="Arial" panose="020B0604020202020204" pitchFamily="34" charset="0"/>
              <a:buChar char="•"/>
            </a:pPr>
            <a:r>
              <a:rPr lang="en-US" sz="2400" b="1" dirty="0">
                <a:solidFill>
                  <a:srgbClr val="7030A0"/>
                </a:solidFill>
                <a:latin typeface="Times New Roman" panose="02020603050405020304" pitchFamily="18" charset="0"/>
                <a:cs typeface="Times New Roman" panose="02020603050405020304" pitchFamily="18" charset="0"/>
              </a:rPr>
              <a:t>For a given chording angle, only one harmonic is eliminated. However, by properly choosing the chording angle, any desired harmonic can be eliminated from the system.</a:t>
            </a:r>
          </a:p>
          <a:p>
            <a:pPr marL="285750" indent="-285750">
              <a:buFont typeface="Arial" panose="020B0604020202020204" pitchFamily="34" charset="0"/>
              <a:buChar char="•"/>
            </a:pPr>
            <a:endParaRPr lang="en-US" sz="2400" b="1" dirty="0">
              <a:solidFill>
                <a:srgbClr val="7030A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b="1" dirty="0">
                <a:solidFill>
                  <a:srgbClr val="7030A0"/>
                </a:solidFill>
                <a:latin typeface="Times New Roman" panose="02020603050405020304" pitchFamily="18" charset="0"/>
                <a:cs typeface="Times New Roman" panose="02020603050405020304" pitchFamily="18" charset="0"/>
              </a:rPr>
              <a:t>Short-pitch coils are also preferred because they provide saving of copper due to reduced overhang. However, to produce the same amount of EMF, the number of turns must be increased, which slightly increases copper loss. Even then, the reduction in overhang makes short-pitch coils economical.</a:t>
            </a:r>
          </a:p>
          <a:p>
            <a:endParaRPr lang="en-US" sz="2400" b="1" dirty="0">
              <a:solidFill>
                <a:srgbClr val="7030A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b="1" dirty="0">
                <a:solidFill>
                  <a:srgbClr val="7030A0"/>
                </a:solidFill>
                <a:latin typeface="Times New Roman" panose="02020603050405020304" pitchFamily="18" charset="0"/>
                <a:cs typeface="Times New Roman" panose="02020603050405020304" pitchFamily="18" charset="0"/>
              </a:rPr>
              <a:t>In practice, armature windings are short-pitched and distributed.</a:t>
            </a:r>
            <a:br>
              <a:rPr lang="en-US" sz="2400" b="1" dirty="0">
                <a:solidFill>
                  <a:srgbClr val="7030A0"/>
                </a:solidFill>
                <a:latin typeface="Times New Roman" panose="02020603050405020304" pitchFamily="18" charset="0"/>
                <a:cs typeface="Times New Roman" panose="02020603050405020304" pitchFamily="18" charset="0"/>
              </a:rPr>
            </a:br>
            <a:r>
              <a:rPr lang="en-US" sz="2400" b="1" dirty="0">
                <a:solidFill>
                  <a:srgbClr val="7030A0"/>
                </a:solidFill>
                <a:latin typeface="Times New Roman" panose="02020603050405020304" pitchFamily="18" charset="0"/>
                <a:cs typeface="Times New Roman" panose="02020603050405020304" pitchFamily="18" charset="0"/>
              </a:rPr>
              <a:t>By employing short-pitch winding, the amount of copper required for the winding is reduced when compared to full-pitch winding.</a:t>
            </a:r>
          </a:p>
          <a:p>
            <a:pPr>
              <a:lnSpc>
                <a:spcPct val="150000"/>
              </a:lnSpc>
            </a:pPr>
            <a:r>
              <a:rPr lang="en-US" b="1" u="sng" dirty="0">
                <a:solidFill>
                  <a:srgbClr val="2850FC"/>
                </a:solidFill>
                <a:latin typeface="Times New Roman" panose="02020603050405020304" pitchFamily="18" charset="0"/>
                <a:cs typeface="Times New Roman" panose="02020603050405020304" pitchFamily="18" charset="0"/>
              </a:rPr>
              <a:t>Construction and Frequency of Rotor in Induction Motor:</a:t>
            </a:r>
          </a:p>
          <a:p>
            <a:pPr marL="285750" indent="-285750">
              <a:buFont typeface="Arial" panose="020B0604020202020204" pitchFamily="34" charset="0"/>
              <a:buChar char="•"/>
            </a:pPr>
            <a:r>
              <a:rPr lang="en-US" sz="2400" b="1" dirty="0">
                <a:solidFill>
                  <a:srgbClr val="7030A0"/>
                </a:solidFill>
                <a:latin typeface="Times New Roman" panose="02020603050405020304" pitchFamily="18" charset="0"/>
                <a:cs typeface="Times New Roman" panose="02020603050405020304" pitchFamily="18" charset="0"/>
              </a:rPr>
              <a:t>The rotor is one of the important parts of an induction motor. Based on construction, rotors used in induction motors are classified into two types: squirrel cage rotor and wound rotor (slip-ring induction motor).</a:t>
            </a:r>
          </a:p>
          <a:p>
            <a:endParaRPr lang="en-US" sz="2400" b="1" dirty="0">
              <a:solidFill>
                <a:srgbClr val="2850FC"/>
              </a:solidFill>
              <a:latin typeface="Times New Roman" panose="02020603050405020304" pitchFamily="18" charset="0"/>
              <a:cs typeface="Times New Roman" panose="02020603050405020304" pitchFamily="18" charset="0"/>
            </a:endParaRPr>
          </a:p>
          <a:p>
            <a:r>
              <a:rPr lang="en-US" sz="2400" b="1" u="sng" dirty="0">
                <a:solidFill>
                  <a:srgbClr val="2850FC"/>
                </a:solidFill>
                <a:latin typeface="Times New Roman" panose="02020603050405020304" pitchFamily="18" charset="0"/>
                <a:cs typeface="Times New Roman" panose="02020603050405020304" pitchFamily="18" charset="0"/>
              </a:rPr>
              <a:t>Squirrel Cage Rotor</a:t>
            </a:r>
          </a:p>
          <a:p>
            <a:pPr marL="285750" indent="-285750">
              <a:buFont typeface="Arial" panose="020B0604020202020204" pitchFamily="34" charset="0"/>
              <a:buChar char="•"/>
            </a:pPr>
            <a:r>
              <a:rPr lang="en-US" sz="2400" b="1" dirty="0">
                <a:solidFill>
                  <a:srgbClr val="7030A0"/>
                </a:solidFill>
                <a:latin typeface="Times New Roman" panose="02020603050405020304" pitchFamily="18" charset="0"/>
                <a:cs typeface="Times New Roman" panose="02020603050405020304" pitchFamily="18" charset="0"/>
              </a:rPr>
              <a:t>In a squirrel cage rotor, the rotor conductors are made of high-conductivity forged copper or aluminum. These conductors are placed in rotor slots and are short-circuited at both ends by end rings, forming a closed circuit.</a:t>
            </a:r>
          </a:p>
          <a:p>
            <a:pPr marL="285750" indent="-285750">
              <a:buFont typeface="Arial" panose="020B0604020202020204" pitchFamily="34" charset="0"/>
              <a:buChar char="•"/>
            </a:pPr>
            <a:r>
              <a:rPr lang="en-US" sz="2400" b="1" dirty="0">
                <a:solidFill>
                  <a:srgbClr val="7030A0"/>
                </a:solidFill>
                <a:latin typeface="Times New Roman" panose="02020603050405020304" pitchFamily="18" charset="0"/>
                <a:cs typeface="Times New Roman" panose="02020603050405020304" pitchFamily="18" charset="0"/>
              </a:rPr>
              <a:t>Since the rotor bars are permanently short-circuited, external resistance cannot be added to the rotor circuit.</a:t>
            </a:r>
          </a:p>
        </p:txBody>
      </p:sp>
    </p:spTree>
    <p:extLst>
      <p:ext uri="{BB962C8B-B14F-4D97-AF65-F5344CB8AC3E}">
        <p14:creationId xmlns:p14="http://schemas.microsoft.com/office/powerpoint/2010/main" val="2537395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414806-2E8D-4035-BBA6-A68B03F54E1C}"/>
              </a:ext>
            </a:extLst>
          </p:cNvPr>
          <p:cNvSpPr/>
          <p:nvPr/>
        </p:nvSpPr>
        <p:spPr>
          <a:xfrm>
            <a:off x="2286000" y="1"/>
            <a:ext cx="13716000" cy="747994"/>
          </a:xfrm>
          <a:prstGeom prst="rect">
            <a:avLst/>
          </a:prstGeom>
          <a:solidFill>
            <a:srgbClr val="E97132"/>
          </a:solidFill>
        </p:spPr>
        <p:txBody>
          <a:bodyPr wrap="square">
            <a:spAutoFit/>
          </a:bodyPr>
          <a:lstStyle/>
          <a:p>
            <a:pPr marL="342900" marR="0" lvl="0" indent="-342900" algn="ctr" defTabSz="1371600" eaLnBrk="1" fontAlgn="auto" latinLnBrk="0" hangingPunct="1">
              <a:lnSpc>
                <a:spcPct val="150000"/>
              </a:lnSpc>
              <a:spcBef>
                <a:spcPts val="0"/>
              </a:spcBef>
              <a:spcAft>
                <a:spcPts val="0"/>
              </a:spcAft>
              <a:buClrTx/>
              <a:buSzTx/>
              <a:buFontTx/>
              <a:buNone/>
              <a:tabLst/>
              <a:defRPr/>
            </a:pPr>
            <a:endParaRPr kumimoji="0" lang="en-US" sz="3000" b="1" i="0" u="none" strike="noStrike" kern="0" cap="none" spc="0" normalizeH="0" baseline="0" noProof="0" dirty="0">
              <a:ln>
                <a:noFill/>
              </a:ln>
              <a:solidFill>
                <a:srgbClr val="EEECE1"/>
              </a:solidFill>
              <a:effectLst/>
              <a:uLnTx/>
              <a:uFillTx/>
              <a:latin typeface="Times New Roman" pitchFamily="18" charset="0"/>
              <a:cs typeface="Times New Roman" pitchFamily="18" charset="0"/>
            </a:endParaRPr>
          </a:p>
        </p:txBody>
      </p:sp>
      <p:sp>
        <p:nvSpPr>
          <p:cNvPr id="3" name="TextBox 1">
            <a:extLst>
              <a:ext uri="{FF2B5EF4-FFF2-40B4-BE49-F238E27FC236}">
                <a16:creationId xmlns:a16="http://schemas.microsoft.com/office/drawing/2014/main" id="{5D03273F-4C21-738E-7C73-AEF0A418F9F8}"/>
              </a:ext>
            </a:extLst>
          </p:cNvPr>
          <p:cNvSpPr txBox="1">
            <a:spLocks noChangeArrowheads="1"/>
          </p:cNvSpPr>
          <p:nvPr/>
        </p:nvSpPr>
        <p:spPr bwMode="auto">
          <a:xfrm>
            <a:off x="2286000" y="844993"/>
            <a:ext cx="13716000" cy="600165"/>
          </a:xfrm>
          <a:prstGeom prst="rect">
            <a:avLst/>
          </a:prstGeom>
          <a:solidFill>
            <a:srgbClr val="A02B93">
              <a:lumMod val="40000"/>
              <a:lumOff val="60000"/>
              <a:alpha val="52156"/>
            </a:srgbClr>
          </a:solidFill>
          <a:ln w="9525">
            <a:noFill/>
            <a:miter lim="800000"/>
            <a:headEnd/>
            <a:tailEnd/>
          </a:ln>
        </p:spPr>
        <p:txBody>
          <a:bodyPr wrap="square">
            <a:spAutoFit/>
          </a:bodyPr>
          <a:lstStyle/>
          <a:p>
            <a:pPr lvl="0" algn="ctr">
              <a:defRPr/>
            </a:pPr>
            <a:r>
              <a:rPr lang="en-US" sz="3000" b="1" dirty="0">
                <a:latin typeface="Times New Roman" panose="02020603050405020304" pitchFamily="18" charset="0"/>
                <a:cs typeface="Times New Roman" panose="02020603050405020304" pitchFamily="18" charset="0"/>
              </a:rPr>
              <a:t>Construction and Features of Squirrel Cage Rotor</a:t>
            </a:r>
            <a:endParaRPr kumimoji="0" lang="en-US" sz="3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itchFamily="18" charset="0"/>
            </a:endParaRPr>
          </a:p>
        </p:txBody>
      </p:sp>
      <p:pic>
        <p:nvPicPr>
          <p:cNvPr id="4" name="Picture 81">
            <a:extLst>
              <a:ext uri="{FF2B5EF4-FFF2-40B4-BE49-F238E27FC236}">
                <a16:creationId xmlns:a16="http://schemas.microsoft.com/office/drawing/2014/main" id="{5D1E25BE-AE6B-7375-624B-4A88879D34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75" y="101184"/>
            <a:ext cx="1000125" cy="1000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2">
                <a:extLst>
                  <a:ext uri="{FF2B5EF4-FFF2-40B4-BE49-F238E27FC236}">
                    <a16:creationId xmlns:a16="http://schemas.microsoft.com/office/drawing/2014/main" id="{802C4B0E-1278-FA3B-965C-67FF839C8E4A}"/>
                  </a:ext>
                </a:extLst>
              </p:cNvPr>
              <p:cNvSpPr txBox="1">
                <a:spLocks noChangeArrowheads="1"/>
              </p:cNvSpPr>
              <p:nvPr/>
            </p:nvSpPr>
            <p:spPr bwMode="auto">
              <a:xfrm>
                <a:off x="2451342" y="1495989"/>
                <a:ext cx="13385314" cy="8309967"/>
              </a:xfrm>
              <a:prstGeom prst="rect">
                <a:avLst/>
              </a:prstGeom>
              <a:noFill/>
              <a:ln w="9525">
                <a:solidFill>
                  <a:srgbClr val="002060"/>
                </a:solidFill>
                <a:miter lim="800000"/>
                <a:headEnd/>
                <a:tailEnd/>
              </a:ln>
            </p:spPr>
            <p:txBody>
              <a:bodyPr wrap="square">
                <a:spAutoFit/>
              </a:bodyPr>
              <a:lstStyle/>
              <a:p>
                <a:r>
                  <a:rPr lang="en-IN" b="1" u="sng" dirty="0">
                    <a:solidFill>
                      <a:srgbClr val="2850FC"/>
                    </a:solidFill>
                    <a:latin typeface="Times New Roman" panose="02020603050405020304" pitchFamily="18" charset="0"/>
                    <a:cs typeface="Times New Roman" panose="02020603050405020304" pitchFamily="18" charset="0"/>
                  </a:rPr>
                  <a:t>Rotor Frequency</a:t>
                </a: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The frequency of rotor current depends on the slip of the motor.</a:t>
                </a:r>
                <a:br>
                  <a:rPr lang="en-IN" sz="2400" b="1" dirty="0">
                    <a:solidFill>
                      <a:srgbClr val="7030A0"/>
                    </a:solidFill>
                    <a:latin typeface="Times New Roman" panose="02020603050405020304" pitchFamily="18" charset="0"/>
                    <a:cs typeface="Times New Roman" panose="02020603050405020304" pitchFamily="18" charset="0"/>
                  </a:rPr>
                </a:br>
                <a:r>
                  <a:rPr lang="en-IN" sz="2400" b="1" dirty="0">
                    <a:solidFill>
                      <a:srgbClr val="7030A0"/>
                    </a:solidFill>
                    <a:latin typeface="Times New Roman" panose="02020603050405020304" pitchFamily="18" charset="0"/>
                    <a:cs typeface="Times New Roman" panose="02020603050405020304" pitchFamily="18" charset="0"/>
                  </a:rPr>
                  <a:t>The rotor current frequency is given by:</a:t>
                </a:r>
              </a:p>
              <a:p>
                <a:endParaRPr lang="en-IN" sz="2400" b="1" dirty="0">
                  <a:solidFill>
                    <a:srgbClr val="7030A0"/>
                  </a:solidFill>
                  <a:latin typeface="Times New Roman" panose="02020603050405020304" pitchFamily="18" charset="0"/>
                  <a:cs typeface="Times New Roman" panose="02020603050405020304" pitchFamily="18" charset="0"/>
                </a:endParaRPr>
              </a:p>
              <a:p>
                <a:r>
                  <a:rPr lang="en-IN" sz="2400" b="1" dirty="0">
                    <a:solidFill>
                      <a:srgbClr val="7030A0"/>
                    </a:solidFill>
                    <a:latin typeface="Times New Roman" panose="02020603050405020304" pitchFamily="18" charset="0"/>
                    <a:cs typeface="Times New Roman" panose="02020603050405020304" pitchFamily="18" charset="0"/>
                  </a:rPr>
                  <a:t>   Where,</a:t>
                </a:r>
                <a:br>
                  <a:rPr lang="en-IN" sz="2400" b="1" dirty="0">
                    <a:solidFill>
                      <a:srgbClr val="7030A0"/>
                    </a:solidFill>
                    <a:latin typeface="Times New Roman" panose="02020603050405020304" pitchFamily="18" charset="0"/>
                    <a:cs typeface="Times New Roman" panose="02020603050405020304" pitchFamily="18" charset="0"/>
                  </a:rPr>
                </a:br>
                <a:r>
                  <a:rPr lang="en-IN" sz="2400" b="1" dirty="0">
                    <a:solidFill>
                      <a:srgbClr val="7030A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b="1" i="1">
                            <a:solidFill>
                              <a:srgbClr val="7030A0"/>
                            </a:solidFill>
                            <a:latin typeface="Cambria Math" panose="02040503050406030204" pitchFamily="18" charset="0"/>
                          </a:rPr>
                        </m:ctrlPr>
                      </m:sSubPr>
                      <m:e>
                        <m:r>
                          <a:rPr lang="ar-AE" sz="2400" b="1" i="1">
                            <a:solidFill>
                              <a:srgbClr val="7030A0"/>
                            </a:solidFill>
                            <a:latin typeface="Cambria Math" panose="02040503050406030204" pitchFamily="18" charset="0"/>
                          </a:rPr>
                          <m:t>𝒇</m:t>
                        </m:r>
                      </m:e>
                      <m:sub>
                        <m:r>
                          <a:rPr lang="ar-AE" sz="2400" b="1" i="1">
                            <a:solidFill>
                              <a:srgbClr val="7030A0"/>
                            </a:solidFill>
                            <a:latin typeface="Cambria Math" panose="02040503050406030204" pitchFamily="18" charset="0"/>
                          </a:rPr>
                          <m:t>𝒓</m:t>
                        </m:r>
                      </m:sub>
                    </m:sSub>
                  </m:oMath>
                </a14:m>
                <a:r>
                  <a:rPr lang="ar-AE" sz="2400" b="1" dirty="0">
                    <a:solidFill>
                      <a:srgbClr val="7030A0"/>
                    </a:solidFill>
                    <a:latin typeface="Times New Roman" panose="02020603050405020304" pitchFamily="18" charset="0"/>
                    <a:cs typeface="Times New Roman" panose="02020603050405020304" pitchFamily="18" charset="0"/>
                  </a:rPr>
                  <a:t>= </a:t>
                </a:r>
                <a:r>
                  <a:rPr lang="en-US" sz="2400" b="1" dirty="0">
                    <a:solidFill>
                      <a:srgbClr val="7030A0"/>
                    </a:solidFill>
                    <a:latin typeface="Times New Roman" panose="02020603050405020304" pitchFamily="18" charset="0"/>
                    <a:cs typeface="Times New Roman" panose="02020603050405020304" pitchFamily="18" charset="0"/>
                  </a:rPr>
                  <a:t> </a:t>
                </a:r>
                <a:r>
                  <a:rPr lang="en-IN" sz="2400" b="1" dirty="0">
                    <a:solidFill>
                      <a:srgbClr val="7030A0"/>
                    </a:solidFill>
                    <a:latin typeface="Times New Roman" panose="02020603050405020304" pitchFamily="18" charset="0"/>
                    <a:cs typeface="Times New Roman" panose="02020603050405020304" pitchFamily="18" charset="0"/>
                  </a:rPr>
                  <a:t>rotor frequency</a:t>
                </a:r>
                <a:br>
                  <a:rPr lang="en-IN" sz="2400" b="1" dirty="0">
                    <a:solidFill>
                      <a:srgbClr val="7030A0"/>
                    </a:solidFill>
                    <a:latin typeface="Times New Roman" panose="02020603050405020304" pitchFamily="18" charset="0"/>
                    <a:cs typeface="Times New Roman" panose="02020603050405020304" pitchFamily="18" charset="0"/>
                  </a:rPr>
                </a:br>
                <a14:m>
                  <m:oMath xmlns:m="http://schemas.openxmlformats.org/officeDocument/2006/math">
                    <m:r>
                      <a:rPr lang="en-US" sz="2400" b="1" i="0">
                        <a:solidFill>
                          <a:srgbClr val="7030A0"/>
                        </a:solidFill>
                        <a:latin typeface="Cambria Math" panose="02040503050406030204" pitchFamily="18" charset="0"/>
                      </a:rPr>
                      <m:t>   </m:t>
                    </m:r>
                    <m:r>
                      <a:rPr lang="en-IN" sz="2400" b="1" i="1">
                        <a:solidFill>
                          <a:srgbClr val="7030A0"/>
                        </a:solidFill>
                        <a:latin typeface="Cambria Math" panose="02040503050406030204" pitchFamily="18" charset="0"/>
                      </a:rPr>
                      <m:t>𝒔</m:t>
                    </m:r>
                    <m:r>
                      <a:rPr lang="en-US" sz="2400" b="1" i="1">
                        <a:solidFill>
                          <a:srgbClr val="7030A0"/>
                        </a:solidFill>
                        <a:latin typeface="Cambria Math" panose="02040503050406030204" pitchFamily="18" charset="0"/>
                      </a:rPr>
                      <m:t> </m:t>
                    </m:r>
                  </m:oMath>
                </a14:m>
                <a:r>
                  <a:rPr lang="en-IN" sz="2400" b="1" dirty="0">
                    <a:solidFill>
                      <a:srgbClr val="7030A0"/>
                    </a:solidFill>
                    <a:latin typeface="Times New Roman" panose="02020603050405020304" pitchFamily="18" charset="0"/>
                    <a:cs typeface="Times New Roman" panose="02020603050405020304" pitchFamily="18" charset="0"/>
                  </a:rPr>
                  <a:t>= slip</a:t>
                </a:r>
                <a:br>
                  <a:rPr lang="en-IN" sz="2400" b="1" dirty="0">
                    <a:solidFill>
                      <a:srgbClr val="7030A0"/>
                    </a:solidFill>
                    <a:latin typeface="Times New Roman" panose="02020603050405020304" pitchFamily="18" charset="0"/>
                    <a:cs typeface="Times New Roman" panose="02020603050405020304" pitchFamily="18" charset="0"/>
                  </a:rPr>
                </a:br>
                <a14:m>
                  <m:oMath xmlns:m="http://schemas.openxmlformats.org/officeDocument/2006/math">
                    <m:r>
                      <a:rPr lang="en-US" sz="2400" b="1" i="0">
                        <a:solidFill>
                          <a:srgbClr val="7030A0"/>
                        </a:solidFill>
                        <a:latin typeface="Cambria Math" panose="02040503050406030204" pitchFamily="18" charset="0"/>
                      </a:rPr>
                      <m:t>   </m:t>
                    </m:r>
                    <m:r>
                      <a:rPr lang="en-IN" sz="2400" b="1" i="1">
                        <a:solidFill>
                          <a:srgbClr val="7030A0"/>
                        </a:solidFill>
                        <a:latin typeface="Cambria Math" panose="02040503050406030204" pitchFamily="18" charset="0"/>
                      </a:rPr>
                      <m:t>𝒇</m:t>
                    </m:r>
                    <m:r>
                      <a:rPr lang="en-US" sz="2400" b="1" i="1">
                        <a:solidFill>
                          <a:srgbClr val="7030A0"/>
                        </a:solidFill>
                        <a:latin typeface="Cambria Math" panose="02040503050406030204" pitchFamily="18" charset="0"/>
                      </a:rPr>
                      <m:t> </m:t>
                    </m:r>
                  </m:oMath>
                </a14:m>
                <a:r>
                  <a:rPr lang="en-IN" sz="2400" b="1" dirty="0">
                    <a:solidFill>
                      <a:srgbClr val="7030A0"/>
                    </a:solidFill>
                    <a:latin typeface="Times New Roman" panose="02020603050405020304" pitchFamily="18" charset="0"/>
                    <a:cs typeface="Times New Roman" panose="02020603050405020304" pitchFamily="18" charset="0"/>
                  </a:rPr>
                  <a:t>= stator supply frequency</a:t>
                </a:r>
              </a:p>
              <a:p>
                <a:endParaRPr lang="en-IN" sz="2400" b="1" dirty="0">
                  <a:solidFill>
                    <a:srgbClr val="7030A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At standstill, slip </a:t>
                </a:r>
                <a14:m>
                  <m:oMath xmlns:m="http://schemas.openxmlformats.org/officeDocument/2006/math">
                    <m:r>
                      <a:rPr lang="en-IN" sz="2400" b="1" i="1">
                        <a:solidFill>
                          <a:srgbClr val="7030A0"/>
                        </a:solidFill>
                        <a:latin typeface="Cambria Math" panose="02040503050406030204" pitchFamily="18" charset="0"/>
                      </a:rPr>
                      <m:t>𝒔</m:t>
                    </m:r>
                    <m:r>
                      <a:rPr lang="en-IN" sz="2400" b="1">
                        <a:solidFill>
                          <a:srgbClr val="7030A0"/>
                        </a:solidFill>
                        <a:latin typeface="Cambria Math" panose="02040503050406030204" pitchFamily="18" charset="0"/>
                      </a:rPr>
                      <m:t>=</m:t>
                    </m:r>
                    <m:r>
                      <a:rPr lang="en-IN" sz="2400" b="1" i="1">
                        <a:solidFill>
                          <a:srgbClr val="7030A0"/>
                        </a:solidFill>
                        <a:latin typeface="Cambria Math" panose="02040503050406030204" pitchFamily="18" charset="0"/>
                      </a:rPr>
                      <m:t>𝟏</m:t>
                    </m:r>
                  </m:oMath>
                </a14:m>
                <a:r>
                  <a:rPr lang="en-IN" sz="2400" b="1" dirty="0">
                    <a:solidFill>
                      <a:srgbClr val="7030A0"/>
                    </a:solidFill>
                    <a:latin typeface="Times New Roman" panose="02020603050405020304" pitchFamily="18" charset="0"/>
                    <a:cs typeface="Times New Roman" panose="02020603050405020304" pitchFamily="18" charset="0"/>
                  </a:rPr>
                  <a:t>, hence the rotor frequency is </a:t>
                </a:r>
              </a:p>
              <a:p>
                <a:r>
                  <a:rPr lang="en-IN" sz="2400" b="1" dirty="0">
                    <a:solidFill>
                      <a:srgbClr val="7030A0"/>
                    </a:solidFill>
                    <a:latin typeface="Times New Roman" panose="02020603050405020304" pitchFamily="18" charset="0"/>
                    <a:cs typeface="Times New Roman" panose="02020603050405020304" pitchFamily="18" charset="0"/>
                  </a:rPr>
                  <a:t>equal to the stator frequency. During normal operation,</a:t>
                </a:r>
              </a:p>
              <a:p>
                <a:r>
                  <a:rPr lang="en-IN" sz="2400" b="1" dirty="0">
                    <a:solidFill>
                      <a:srgbClr val="7030A0"/>
                    </a:solidFill>
                    <a:latin typeface="Times New Roman" panose="02020603050405020304" pitchFamily="18" charset="0"/>
                    <a:cs typeface="Times New Roman" panose="02020603050405020304" pitchFamily="18" charset="0"/>
                  </a:rPr>
                  <a:t>slip is very small, therefore the rotor frequency is also very small.</a:t>
                </a:r>
              </a:p>
              <a:p>
                <a:endParaRPr lang="en-IN" sz="2400" b="1" dirty="0">
                  <a:solidFill>
                    <a:srgbClr val="7030A0"/>
                  </a:solidFill>
                  <a:latin typeface="Times New Roman" panose="02020603050405020304" pitchFamily="18" charset="0"/>
                  <a:cs typeface="Times New Roman" panose="02020603050405020304" pitchFamily="18" charset="0"/>
                </a:endParaRPr>
              </a:p>
              <a:p>
                <a:r>
                  <a:rPr lang="en-IN" sz="2400" b="1" u="sng" dirty="0">
                    <a:solidFill>
                      <a:srgbClr val="2850FC"/>
                    </a:solidFill>
                    <a:latin typeface="Times New Roman" panose="02020603050405020304" pitchFamily="18" charset="0"/>
                    <a:cs typeface="Times New Roman" panose="02020603050405020304" pitchFamily="18" charset="0"/>
                  </a:rPr>
                  <a:t>Effect of Low Rotor Frequency</a:t>
                </a: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Since the rotor frequency is very low during normal running</a:t>
                </a:r>
              </a:p>
              <a:p>
                <a:r>
                  <a:rPr lang="en-IN" sz="2400" b="1" dirty="0">
                    <a:solidFill>
                      <a:srgbClr val="7030A0"/>
                    </a:solidFill>
                    <a:latin typeface="Times New Roman" panose="02020603050405020304" pitchFamily="18" charset="0"/>
                    <a:cs typeface="Times New Roman" panose="02020603050405020304" pitchFamily="18" charset="0"/>
                  </a:rPr>
                  <a:t>      conditions, the rotor copper losses are low, which improves the efficiency of the induction motor.</a:t>
                </a:r>
              </a:p>
              <a:p>
                <a:endParaRPr lang="en-IN" sz="2400" b="1" dirty="0">
                  <a:solidFill>
                    <a:srgbClr val="7030A0"/>
                  </a:solidFill>
                  <a:latin typeface="Times New Roman" panose="02020603050405020304" pitchFamily="18" charset="0"/>
                  <a:cs typeface="Times New Roman" panose="02020603050405020304" pitchFamily="18" charset="0"/>
                </a:endParaRPr>
              </a:p>
              <a:p>
                <a:r>
                  <a:rPr lang="en-IN" sz="2400" b="1" u="sng" dirty="0">
                    <a:solidFill>
                      <a:srgbClr val="2850FC"/>
                    </a:solidFill>
                    <a:latin typeface="Times New Roman" panose="02020603050405020304" pitchFamily="18" charset="0"/>
                    <a:cs typeface="Times New Roman" panose="02020603050405020304" pitchFamily="18" charset="0"/>
                  </a:rPr>
                  <a:t>Pole Formation in Squirrel Cage Rotor</a:t>
                </a: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In the squirrel cage rotor, by means of induction, the rotor automatically induces the same number of poles as the stator poles.</a:t>
                </a:r>
              </a:p>
              <a:p>
                <a:pPr marL="285750" indent="-285750">
                  <a:buFont typeface="Arial" panose="020B0604020202020204" pitchFamily="34" charset="0"/>
                  <a:buChar char="•"/>
                </a:pPr>
                <a:r>
                  <a:rPr lang="en-IN" sz="2400" b="1" dirty="0">
                    <a:solidFill>
                      <a:srgbClr val="7030A0"/>
                    </a:solidFill>
                    <a:latin typeface="Times New Roman" panose="02020603050405020304" pitchFamily="18" charset="0"/>
                    <a:cs typeface="Times New Roman" panose="02020603050405020304" pitchFamily="18" charset="0"/>
                  </a:rPr>
                  <a:t>Because of this, the squirrel cage rotor can respond automatically to changes in stator poles without any external control.</a:t>
                </a:r>
              </a:p>
            </p:txBody>
          </p:sp>
        </mc:Choice>
        <mc:Fallback xmlns="">
          <p:sp>
            <p:nvSpPr>
              <p:cNvPr id="5" name="TextBox 2">
                <a:extLst>
                  <a:ext uri="{FF2B5EF4-FFF2-40B4-BE49-F238E27FC236}">
                    <a16:creationId xmlns:a16="http://schemas.microsoft.com/office/drawing/2014/main" id="{802C4B0E-1278-FA3B-965C-67FF839C8E4A}"/>
                  </a:ext>
                </a:extLst>
              </p:cNvPr>
              <p:cNvSpPr txBox="1">
                <a:spLocks noRot="1" noChangeAspect="1" noMove="1" noResize="1" noEditPoints="1" noAdjustHandles="1" noChangeArrowheads="1" noChangeShapeType="1" noTextEdit="1"/>
              </p:cNvSpPr>
              <p:nvPr/>
            </p:nvSpPr>
            <p:spPr bwMode="auto">
              <a:xfrm>
                <a:off x="2451342" y="1495989"/>
                <a:ext cx="13385314" cy="8309967"/>
              </a:xfrm>
              <a:prstGeom prst="rect">
                <a:avLst/>
              </a:prstGeom>
              <a:blipFill>
                <a:blip r:embed="R067f47ab8afa4486"/>
                <a:stretch>
                  <a:fillRect l="-477" t="-549" b="-440"/>
                </a:stretch>
              </a:blipFill>
              <a:ln w="9525">
                <a:solidFill>
                  <a:srgbClr val="002060"/>
                </a:solid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Rounded Corners 5">
                <a:extLst>
                  <a:ext uri="{FF2B5EF4-FFF2-40B4-BE49-F238E27FC236}">
                    <a16:creationId xmlns:a16="http://schemas.microsoft.com/office/drawing/2014/main" id="{E9CD25E1-43BB-E10C-9591-60CD4D6C6A75}"/>
                  </a:ext>
                </a:extLst>
              </p:cNvPr>
              <p:cNvSpPr/>
              <p:nvPr/>
            </p:nvSpPr>
            <p:spPr>
              <a:xfrm>
                <a:off x="6799008" y="3126654"/>
                <a:ext cx="2595715" cy="103238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ar-AE" b="1" i="1">
                              <a:solidFill>
                                <a:schemeClr val="tx1">
                                  <a:lumMod val="95000"/>
                                  <a:lumOff val="5000"/>
                                </a:schemeClr>
                              </a:solidFill>
                              <a:latin typeface="Cambria Math" panose="02040503050406030204" pitchFamily="18" charset="0"/>
                            </a:rPr>
                          </m:ctrlPr>
                        </m:sSubPr>
                        <m:e>
                          <m:r>
                            <a:rPr lang="ar-AE" b="1" i="1">
                              <a:solidFill>
                                <a:schemeClr val="tx1">
                                  <a:lumMod val="95000"/>
                                  <a:lumOff val="5000"/>
                                </a:schemeClr>
                              </a:solidFill>
                              <a:latin typeface="Cambria Math" panose="02040503050406030204" pitchFamily="18" charset="0"/>
                            </a:rPr>
                            <m:t>𝒇</m:t>
                          </m:r>
                        </m:e>
                        <m:sub>
                          <m:r>
                            <a:rPr lang="ar-AE" b="1" i="1">
                              <a:solidFill>
                                <a:schemeClr val="tx1">
                                  <a:lumMod val="95000"/>
                                  <a:lumOff val="5000"/>
                                </a:schemeClr>
                              </a:solidFill>
                              <a:latin typeface="Cambria Math" panose="02040503050406030204" pitchFamily="18" charset="0"/>
                            </a:rPr>
                            <m:t>𝒓</m:t>
                          </m:r>
                        </m:sub>
                      </m:sSub>
                      <m:r>
                        <a:rPr lang="ar-AE" b="1">
                          <a:solidFill>
                            <a:schemeClr val="tx1">
                              <a:lumMod val="95000"/>
                              <a:lumOff val="5000"/>
                            </a:schemeClr>
                          </a:solidFill>
                          <a:latin typeface="Cambria Math" panose="02040503050406030204" pitchFamily="18" charset="0"/>
                        </a:rPr>
                        <m:t>=</m:t>
                      </m:r>
                      <m:r>
                        <a:rPr lang="ar-AE" b="1" i="1">
                          <a:solidFill>
                            <a:schemeClr val="tx1">
                              <a:lumMod val="95000"/>
                              <a:lumOff val="5000"/>
                            </a:schemeClr>
                          </a:solidFill>
                          <a:latin typeface="Cambria Math" panose="02040503050406030204" pitchFamily="18" charset="0"/>
                        </a:rPr>
                        <m:t>𝒔𝒇</m:t>
                      </m:r>
                    </m:oMath>
                  </m:oMathPara>
                </a14:m>
                <a:endParaRPr lang="ar-AE"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mc:Choice>
        <mc:Fallback xmlns="">
          <p:sp>
            <p:nvSpPr>
              <p:cNvPr id="6" name="Rectangle: Rounded Corners 5">
                <a:extLst>
                  <a:ext uri="{FF2B5EF4-FFF2-40B4-BE49-F238E27FC236}">
                    <a16:creationId xmlns:a16="http://schemas.microsoft.com/office/drawing/2014/main" id="{E9CD25E1-43BB-E10C-9591-60CD4D6C6A75}"/>
                  </a:ext>
                </a:extLst>
              </p:cNvPr>
              <p:cNvSpPr>
                <a:spLocks noRot="1" noChangeAspect="1" noMove="1" noResize="1" noEditPoints="1" noAdjustHandles="1" noChangeArrowheads="1" noChangeShapeType="1" noTextEdit="1"/>
              </p:cNvSpPr>
              <p:nvPr/>
            </p:nvSpPr>
            <p:spPr>
              <a:xfrm>
                <a:off x="6799008" y="3126654"/>
                <a:ext cx="2595715" cy="1032388"/>
              </a:xfrm>
              <a:prstGeom prst="roundRect">
                <a:avLst/>
              </a:prstGeom>
              <a:blipFill>
                <a:blip r:embed="R54c8fd46866d4a69"/>
                <a:stretch>
                  <a:fillRect/>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2D657B95-C1AD-3399-3900-BCDB0BDF49EA}"/>
              </a:ext>
            </a:extLst>
          </p:cNvPr>
          <p:cNvPicPr>
            <a:picLocks noChangeAspect="1"/>
          </p:cNvPicPr>
          <p:nvPr/>
        </p:nvPicPr>
        <p:blipFill>
          <a:blip r:embed="rId3"/>
          <a:stretch>
            <a:fillRect/>
          </a:stretch>
        </p:blipFill>
        <p:spPr>
          <a:xfrm>
            <a:off x="11359479" y="2477727"/>
            <a:ext cx="4362301" cy="3967320"/>
          </a:xfrm>
          <a:prstGeom prst="rect">
            <a:avLst/>
          </a:prstGeom>
        </p:spPr>
      </p:pic>
    </p:spTree>
    <p:extLst>
      <p:ext uri="{BB962C8B-B14F-4D97-AF65-F5344CB8AC3E}">
        <p14:creationId xmlns:p14="http://schemas.microsoft.com/office/powerpoint/2010/main" val="2347517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0"/>
            <a:ext cx="11301259" cy="727248"/>
          </a:xfrm>
          <a:custGeom>
            <a:avLst/>
            <a:gdLst/>
            <a:ahLst/>
            <a:cxnLst/>
            <a:rect l="l" t="t" r="r" b="b"/>
            <a:pathLst>
              <a:path w="11301259" h="727248">
                <a:moveTo>
                  <a:pt x="0" y="0"/>
                </a:moveTo>
                <a:lnTo>
                  <a:pt x="11301258" y="0"/>
                </a:lnTo>
                <a:lnTo>
                  <a:pt x="11301258" y="727248"/>
                </a:lnTo>
                <a:lnTo>
                  <a:pt x="0" y="727248"/>
                </a:lnTo>
                <a:lnTo>
                  <a:pt x="0" y="0"/>
                </a:lnTo>
                <a:close/>
              </a:path>
            </a:pathLst>
          </a:custGeom>
          <a:blipFill>
            <a:blip r:embed="rId2"/>
            <a:stretch>
              <a:fillRect l="-7200" r="-7200"/>
            </a:stretch>
          </a:blipFill>
        </p:spPr>
      </p:sp>
      <p:sp>
        <p:nvSpPr>
          <p:cNvPr id="3" name="Freeform 3"/>
          <p:cNvSpPr/>
          <p:nvPr/>
        </p:nvSpPr>
        <p:spPr>
          <a:xfrm>
            <a:off x="3493371" y="866931"/>
            <a:ext cx="11301259" cy="670326"/>
          </a:xfrm>
          <a:custGeom>
            <a:avLst/>
            <a:gdLst/>
            <a:ahLst/>
            <a:cxnLst/>
            <a:rect l="l" t="t" r="r" b="b"/>
            <a:pathLst>
              <a:path w="11301259" h="670326">
                <a:moveTo>
                  <a:pt x="0" y="0"/>
                </a:moveTo>
                <a:lnTo>
                  <a:pt x="11301258" y="0"/>
                </a:lnTo>
                <a:lnTo>
                  <a:pt x="11301258" y="670326"/>
                </a:lnTo>
                <a:lnTo>
                  <a:pt x="0" y="670326"/>
                </a:lnTo>
                <a:lnTo>
                  <a:pt x="0" y="0"/>
                </a:lnTo>
                <a:close/>
              </a:path>
            </a:pathLst>
          </a:custGeom>
          <a:blipFill>
            <a:blip r:embed="rId3"/>
            <a:stretch>
              <a:fillRect l="-15904" r="-15904"/>
            </a:stretch>
          </a:blipFill>
        </p:spPr>
      </p:sp>
      <p:sp>
        <p:nvSpPr>
          <p:cNvPr id="4" name="Freeform 4"/>
          <p:cNvSpPr/>
          <p:nvPr/>
        </p:nvSpPr>
        <p:spPr>
          <a:xfrm>
            <a:off x="14067382" y="0"/>
            <a:ext cx="1454495" cy="1454495"/>
          </a:xfrm>
          <a:custGeom>
            <a:avLst/>
            <a:gdLst/>
            <a:ahLst/>
            <a:cxnLst/>
            <a:rect l="l" t="t" r="r" b="b"/>
            <a:pathLst>
              <a:path w="1454495" h="1454495">
                <a:moveTo>
                  <a:pt x="0" y="0"/>
                </a:moveTo>
                <a:lnTo>
                  <a:pt x="1454495" y="0"/>
                </a:lnTo>
                <a:lnTo>
                  <a:pt x="1454495" y="1454495"/>
                </a:lnTo>
                <a:lnTo>
                  <a:pt x="0" y="1454495"/>
                </a:lnTo>
                <a:lnTo>
                  <a:pt x="0" y="0"/>
                </a:lnTo>
                <a:close/>
              </a:path>
            </a:pathLst>
          </a:custGeom>
          <a:blipFill>
            <a:blip r:embed="rId4"/>
            <a:stretch>
              <a:fillRect/>
            </a:stretch>
          </a:blipFill>
        </p:spPr>
      </p:sp>
      <p:sp>
        <p:nvSpPr>
          <p:cNvPr id="5" name="Freeform 5"/>
          <p:cNvSpPr/>
          <p:nvPr/>
        </p:nvSpPr>
        <p:spPr>
          <a:xfrm>
            <a:off x="1633515" y="2448138"/>
            <a:ext cx="11030665" cy="3676888"/>
          </a:xfrm>
          <a:custGeom>
            <a:avLst/>
            <a:gdLst/>
            <a:ahLst/>
            <a:cxnLst/>
            <a:rect l="l" t="t" r="r" b="b"/>
            <a:pathLst>
              <a:path w="11030665" h="3676888">
                <a:moveTo>
                  <a:pt x="0" y="0"/>
                </a:moveTo>
                <a:lnTo>
                  <a:pt x="11030665" y="0"/>
                </a:lnTo>
                <a:lnTo>
                  <a:pt x="11030665" y="3676888"/>
                </a:lnTo>
                <a:lnTo>
                  <a:pt x="0" y="3676888"/>
                </a:lnTo>
                <a:lnTo>
                  <a:pt x="0" y="0"/>
                </a:lnTo>
                <a:close/>
              </a:path>
            </a:pathLst>
          </a:custGeom>
          <a:blipFill>
            <a:blip r:embed="rId5"/>
            <a:stretch>
              <a:fillRect/>
            </a:stretch>
          </a:blipFill>
        </p:spPr>
      </p:sp>
      <p:sp>
        <p:nvSpPr>
          <p:cNvPr id="6" name="Freeform 6"/>
          <p:cNvSpPr/>
          <p:nvPr/>
        </p:nvSpPr>
        <p:spPr>
          <a:xfrm>
            <a:off x="1980759" y="6458401"/>
            <a:ext cx="7827589" cy="2900727"/>
          </a:xfrm>
          <a:custGeom>
            <a:avLst/>
            <a:gdLst/>
            <a:ahLst/>
            <a:cxnLst/>
            <a:rect l="l" t="t" r="r" b="b"/>
            <a:pathLst>
              <a:path w="7827589" h="2900727">
                <a:moveTo>
                  <a:pt x="0" y="0"/>
                </a:moveTo>
                <a:lnTo>
                  <a:pt x="7827590" y="0"/>
                </a:lnTo>
                <a:lnTo>
                  <a:pt x="7827590" y="2900727"/>
                </a:lnTo>
                <a:lnTo>
                  <a:pt x="0" y="2900727"/>
                </a:lnTo>
                <a:lnTo>
                  <a:pt x="0" y="0"/>
                </a:lnTo>
                <a:close/>
              </a:path>
            </a:pathLst>
          </a:custGeom>
          <a:blipFill>
            <a:blip r:embed="rId6"/>
            <a:stretch>
              <a:fillRect/>
            </a:stretch>
          </a:blipFill>
        </p:spPr>
      </p:sp>
      <p:sp>
        <p:nvSpPr>
          <p:cNvPr id="7" name="TextBox 7"/>
          <p:cNvSpPr txBox="1"/>
          <p:nvPr/>
        </p:nvSpPr>
        <p:spPr>
          <a:xfrm>
            <a:off x="2097298" y="1824056"/>
            <a:ext cx="5065502" cy="512961"/>
          </a:xfrm>
          <a:prstGeom prst="rect">
            <a:avLst/>
          </a:prstGeom>
        </p:spPr>
        <p:txBody>
          <a:bodyPr wrap="square" lIns="0" tIns="0" rIns="0" bIns="0" rtlCol="0" anchor="t">
            <a:spAutoFit/>
          </a:bodyPr>
          <a:lstStyle/>
          <a:p>
            <a:pPr algn="ctr">
              <a:lnSpc>
                <a:spcPts val="3986"/>
              </a:lnSpc>
            </a:pPr>
            <a:r>
              <a:rPr lang="en-US" sz="2847" b="1" dirty="0">
                <a:solidFill>
                  <a:srgbClr val="000000"/>
                </a:solidFill>
                <a:latin typeface="Canva Sans Bold"/>
                <a:ea typeface="Canva Sans Bold"/>
                <a:cs typeface="Canva Sans Bold"/>
                <a:sym typeface="Canva Sans Bold"/>
              </a:rPr>
              <a:t>Slip Ring Induction Motor</a:t>
            </a:r>
          </a:p>
        </p:txBody>
      </p:sp>
      <p:sp>
        <p:nvSpPr>
          <p:cNvPr id="8" name="TextBox 8"/>
          <p:cNvSpPr txBox="1"/>
          <p:nvPr/>
        </p:nvSpPr>
        <p:spPr>
          <a:xfrm>
            <a:off x="2097298" y="5643820"/>
            <a:ext cx="3389102" cy="478977"/>
          </a:xfrm>
          <a:prstGeom prst="rect">
            <a:avLst/>
          </a:prstGeom>
        </p:spPr>
        <p:txBody>
          <a:bodyPr wrap="square" lIns="0" tIns="0" rIns="0" bIns="0" rtlCol="0" anchor="t">
            <a:spAutoFit/>
          </a:bodyPr>
          <a:lstStyle/>
          <a:p>
            <a:pPr algn="ctr">
              <a:lnSpc>
                <a:spcPts val="3986"/>
              </a:lnSpc>
            </a:pPr>
            <a:r>
              <a:rPr lang="en-US" sz="2847" b="1" dirty="0">
                <a:solidFill>
                  <a:srgbClr val="000000"/>
                </a:solidFill>
                <a:latin typeface="Canva Sans Bold"/>
                <a:ea typeface="Canva Sans Bold"/>
                <a:cs typeface="Canva Sans Bold"/>
                <a:sym typeface="Canva Sans Bold"/>
              </a:rPr>
              <a:t>Overhang Effect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0"/>
            <a:ext cx="11301259" cy="727248"/>
          </a:xfrm>
          <a:custGeom>
            <a:avLst/>
            <a:gdLst/>
            <a:ahLst/>
            <a:cxnLst/>
            <a:rect l="l" t="t" r="r" b="b"/>
            <a:pathLst>
              <a:path w="11301259" h="727248">
                <a:moveTo>
                  <a:pt x="0" y="0"/>
                </a:moveTo>
                <a:lnTo>
                  <a:pt x="11301258" y="0"/>
                </a:lnTo>
                <a:lnTo>
                  <a:pt x="11301258" y="727248"/>
                </a:lnTo>
                <a:lnTo>
                  <a:pt x="0" y="727248"/>
                </a:lnTo>
                <a:lnTo>
                  <a:pt x="0" y="0"/>
                </a:lnTo>
                <a:close/>
              </a:path>
            </a:pathLst>
          </a:custGeom>
          <a:blipFill>
            <a:blip r:embed="rId2"/>
            <a:stretch>
              <a:fillRect l="-7200" r="-7200"/>
            </a:stretch>
          </a:blipFill>
        </p:spPr>
      </p:sp>
      <p:sp>
        <p:nvSpPr>
          <p:cNvPr id="3" name="Freeform 3"/>
          <p:cNvSpPr/>
          <p:nvPr/>
        </p:nvSpPr>
        <p:spPr>
          <a:xfrm>
            <a:off x="3493371" y="866931"/>
            <a:ext cx="11301259" cy="670326"/>
          </a:xfrm>
          <a:custGeom>
            <a:avLst/>
            <a:gdLst/>
            <a:ahLst/>
            <a:cxnLst/>
            <a:rect l="l" t="t" r="r" b="b"/>
            <a:pathLst>
              <a:path w="11301259" h="670326">
                <a:moveTo>
                  <a:pt x="0" y="0"/>
                </a:moveTo>
                <a:lnTo>
                  <a:pt x="11301258" y="0"/>
                </a:lnTo>
                <a:lnTo>
                  <a:pt x="11301258" y="670326"/>
                </a:lnTo>
                <a:lnTo>
                  <a:pt x="0" y="670326"/>
                </a:lnTo>
                <a:lnTo>
                  <a:pt x="0" y="0"/>
                </a:lnTo>
                <a:close/>
              </a:path>
            </a:pathLst>
          </a:custGeom>
          <a:blipFill>
            <a:blip r:embed="rId3"/>
            <a:stretch>
              <a:fillRect l="-15904" r="-15904"/>
            </a:stretch>
          </a:blipFill>
        </p:spPr>
      </p:sp>
      <p:sp>
        <p:nvSpPr>
          <p:cNvPr id="4" name="Freeform 4"/>
          <p:cNvSpPr/>
          <p:nvPr/>
        </p:nvSpPr>
        <p:spPr>
          <a:xfrm>
            <a:off x="14067382" y="0"/>
            <a:ext cx="1454495" cy="1454495"/>
          </a:xfrm>
          <a:custGeom>
            <a:avLst/>
            <a:gdLst/>
            <a:ahLst/>
            <a:cxnLst/>
            <a:rect l="l" t="t" r="r" b="b"/>
            <a:pathLst>
              <a:path w="1454495" h="1454495">
                <a:moveTo>
                  <a:pt x="0" y="0"/>
                </a:moveTo>
                <a:lnTo>
                  <a:pt x="1454495" y="0"/>
                </a:lnTo>
                <a:lnTo>
                  <a:pt x="1454495" y="1454495"/>
                </a:lnTo>
                <a:lnTo>
                  <a:pt x="0" y="1454495"/>
                </a:lnTo>
                <a:lnTo>
                  <a:pt x="0" y="0"/>
                </a:lnTo>
                <a:close/>
              </a:path>
            </a:pathLst>
          </a:custGeom>
          <a:blipFill>
            <a:blip r:embed="rId4"/>
            <a:stretch>
              <a:fillRect/>
            </a:stretch>
          </a:blipFill>
        </p:spPr>
      </p:sp>
      <p:sp>
        <p:nvSpPr>
          <p:cNvPr id="5" name="Freeform 5"/>
          <p:cNvSpPr/>
          <p:nvPr/>
        </p:nvSpPr>
        <p:spPr>
          <a:xfrm>
            <a:off x="1028700" y="2113712"/>
            <a:ext cx="10776025" cy="4283637"/>
          </a:xfrm>
          <a:custGeom>
            <a:avLst/>
            <a:gdLst/>
            <a:ahLst/>
            <a:cxnLst/>
            <a:rect l="l" t="t" r="r" b="b"/>
            <a:pathLst>
              <a:path w="10776025" h="4283637">
                <a:moveTo>
                  <a:pt x="0" y="0"/>
                </a:moveTo>
                <a:lnTo>
                  <a:pt x="10776025" y="0"/>
                </a:lnTo>
                <a:lnTo>
                  <a:pt x="10776025" y="4283638"/>
                </a:lnTo>
                <a:lnTo>
                  <a:pt x="0" y="4283638"/>
                </a:lnTo>
                <a:lnTo>
                  <a:pt x="0" y="0"/>
                </a:lnTo>
                <a:close/>
              </a:path>
            </a:pathLst>
          </a:custGeom>
          <a:blipFill>
            <a:blip r:embed="rId5"/>
            <a:stretch>
              <a:fillRect/>
            </a:stretch>
          </a:blipFill>
        </p:spPr>
      </p:sp>
      <p:sp>
        <p:nvSpPr>
          <p:cNvPr id="6" name="Freeform 6"/>
          <p:cNvSpPr/>
          <p:nvPr/>
        </p:nvSpPr>
        <p:spPr>
          <a:xfrm>
            <a:off x="1028700" y="6869219"/>
            <a:ext cx="8115300" cy="1741820"/>
          </a:xfrm>
          <a:custGeom>
            <a:avLst/>
            <a:gdLst/>
            <a:ahLst/>
            <a:cxnLst/>
            <a:rect l="l" t="t" r="r" b="b"/>
            <a:pathLst>
              <a:path w="8115300" h="1741820">
                <a:moveTo>
                  <a:pt x="0" y="0"/>
                </a:moveTo>
                <a:lnTo>
                  <a:pt x="8115300" y="0"/>
                </a:lnTo>
                <a:lnTo>
                  <a:pt x="8115300" y="1741820"/>
                </a:lnTo>
                <a:lnTo>
                  <a:pt x="0" y="1741820"/>
                </a:lnTo>
                <a:lnTo>
                  <a:pt x="0" y="0"/>
                </a:lnTo>
                <a:close/>
              </a:path>
            </a:pathLst>
          </a:custGeom>
          <a:blipFill>
            <a:blip r:embed="rId6"/>
            <a:stretch>
              <a:fillRect/>
            </a:stretch>
          </a:blipFill>
        </p:spPr>
      </p:sp>
      <p:sp>
        <p:nvSpPr>
          <p:cNvPr id="7" name="Freeform 7"/>
          <p:cNvSpPr/>
          <p:nvPr/>
        </p:nvSpPr>
        <p:spPr>
          <a:xfrm>
            <a:off x="9144000" y="6869219"/>
            <a:ext cx="7799172" cy="2070815"/>
          </a:xfrm>
          <a:custGeom>
            <a:avLst/>
            <a:gdLst/>
            <a:ahLst/>
            <a:cxnLst/>
            <a:rect l="l" t="t" r="r" b="b"/>
            <a:pathLst>
              <a:path w="7799172" h="2070815">
                <a:moveTo>
                  <a:pt x="0" y="0"/>
                </a:moveTo>
                <a:lnTo>
                  <a:pt x="7799172" y="0"/>
                </a:lnTo>
                <a:lnTo>
                  <a:pt x="7799172" y="2070814"/>
                </a:lnTo>
                <a:lnTo>
                  <a:pt x="0" y="2070814"/>
                </a:lnTo>
                <a:lnTo>
                  <a:pt x="0" y="0"/>
                </a:lnTo>
                <a:close/>
              </a:path>
            </a:pathLst>
          </a:custGeom>
          <a:blipFill>
            <a:blip r:embed="rId7"/>
            <a:stretch>
              <a:fillRect/>
            </a:stretch>
          </a:blipFill>
        </p:spPr>
      </p:sp>
      <p:sp>
        <p:nvSpPr>
          <p:cNvPr id="8" name="Freeform 8"/>
          <p:cNvSpPr/>
          <p:nvPr/>
        </p:nvSpPr>
        <p:spPr>
          <a:xfrm>
            <a:off x="9624552" y="1680132"/>
            <a:ext cx="7104968" cy="2803015"/>
          </a:xfrm>
          <a:custGeom>
            <a:avLst/>
            <a:gdLst/>
            <a:ahLst/>
            <a:cxnLst/>
            <a:rect l="l" t="t" r="r" b="b"/>
            <a:pathLst>
              <a:path w="7104968" h="2803015">
                <a:moveTo>
                  <a:pt x="0" y="0"/>
                </a:moveTo>
                <a:lnTo>
                  <a:pt x="7104968" y="0"/>
                </a:lnTo>
                <a:lnTo>
                  <a:pt x="7104968" y="2803014"/>
                </a:lnTo>
                <a:lnTo>
                  <a:pt x="0" y="2803014"/>
                </a:lnTo>
                <a:lnTo>
                  <a:pt x="0" y="0"/>
                </a:lnTo>
                <a:close/>
              </a:path>
            </a:pathLst>
          </a:custGeom>
          <a:blipFill>
            <a:blip r:embed="rId8"/>
            <a:stretch>
              <a:fillRect/>
            </a:stretch>
          </a:blipFill>
        </p:spPr>
      </p:sp>
      <p:sp>
        <p:nvSpPr>
          <p:cNvPr id="9" name="TextBox 9"/>
          <p:cNvSpPr txBox="1"/>
          <p:nvPr/>
        </p:nvSpPr>
        <p:spPr>
          <a:xfrm>
            <a:off x="1028700" y="1632506"/>
            <a:ext cx="6819900" cy="512961"/>
          </a:xfrm>
          <a:prstGeom prst="rect">
            <a:avLst/>
          </a:prstGeom>
        </p:spPr>
        <p:txBody>
          <a:bodyPr wrap="square" lIns="0" tIns="0" rIns="0" bIns="0" rtlCol="0" anchor="t">
            <a:spAutoFit/>
          </a:bodyPr>
          <a:lstStyle/>
          <a:p>
            <a:pPr algn="ctr">
              <a:lnSpc>
                <a:spcPts val="3986"/>
              </a:lnSpc>
            </a:pPr>
            <a:r>
              <a:rPr lang="en-US" sz="2847" b="1" dirty="0">
                <a:solidFill>
                  <a:srgbClr val="000000"/>
                </a:solidFill>
                <a:latin typeface="Canva Sans Bold"/>
                <a:ea typeface="Canva Sans Bold"/>
                <a:cs typeface="Canva Sans Bold"/>
                <a:sym typeface="Canva Sans Bold"/>
              </a:rPr>
              <a:t>Squirrel Cage Rotor – Characteristics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0"/>
            <a:ext cx="11301259" cy="727248"/>
          </a:xfrm>
          <a:custGeom>
            <a:avLst/>
            <a:gdLst/>
            <a:ahLst/>
            <a:cxnLst/>
            <a:rect l="l" t="t" r="r" b="b"/>
            <a:pathLst>
              <a:path w="11301259" h="727248">
                <a:moveTo>
                  <a:pt x="0" y="0"/>
                </a:moveTo>
                <a:lnTo>
                  <a:pt x="11301258" y="0"/>
                </a:lnTo>
                <a:lnTo>
                  <a:pt x="11301258" y="727248"/>
                </a:lnTo>
                <a:lnTo>
                  <a:pt x="0" y="727248"/>
                </a:lnTo>
                <a:lnTo>
                  <a:pt x="0" y="0"/>
                </a:lnTo>
                <a:close/>
              </a:path>
            </a:pathLst>
          </a:custGeom>
          <a:blipFill>
            <a:blip r:embed="rId2"/>
            <a:stretch>
              <a:fillRect l="-7200" r="-7200"/>
            </a:stretch>
          </a:blipFill>
        </p:spPr>
      </p:sp>
      <p:sp>
        <p:nvSpPr>
          <p:cNvPr id="3" name="Freeform 3"/>
          <p:cNvSpPr/>
          <p:nvPr/>
        </p:nvSpPr>
        <p:spPr>
          <a:xfrm>
            <a:off x="3493371" y="866931"/>
            <a:ext cx="11301259" cy="670326"/>
          </a:xfrm>
          <a:custGeom>
            <a:avLst/>
            <a:gdLst/>
            <a:ahLst/>
            <a:cxnLst/>
            <a:rect l="l" t="t" r="r" b="b"/>
            <a:pathLst>
              <a:path w="11301259" h="670326">
                <a:moveTo>
                  <a:pt x="0" y="0"/>
                </a:moveTo>
                <a:lnTo>
                  <a:pt x="11301258" y="0"/>
                </a:lnTo>
                <a:lnTo>
                  <a:pt x="11301258" y="670326"/>
                </a:lnTo>
                <a:lnTo>
                  <a:pt x="0" y="670326"/>
                </a:lnTo>
                <a:lnTo>
                  <a:pt x="0" y="0"/>
                </a:lnTo>
                <a:close/>
              </a:path>
            </a:pathLst>
          </a:custGeom>
          <a:blipFill>
            <a:blip r:embed="rId3"/>
            <a:stretch>
              <a:fillRect l="-15904" r="-15904"/>
            </a:stretch>
          </a:blipFill>
        </p:spPr>
      </p:sp>
      <p:sp>
        <p:nvSpPr>
          <p:cNvPr id="4" name="Freeform 4"/>
          <p:cNvSpPr/>
          <p:nvPr/>
        </p:nvSpPr>
        <p:spPr>
          <a:xfrm>
            <a:off x="14067382" y="0"/>
            <a:ext cx="1454495" cy="1454495"/>
          </a:xfrm>
          <a:custGeom>
            <a:avLst/>
            <a:gdLst/>
            <a:ahLst/>
            <a:cxnLst/>
            <a:rect l="l" t="t" r="r" b="b"/>
            <a:pathLst>
              <a:path w="1454495" h="1454495">
                <a:moveTo>
                  <a:pt x="0" y="0"/>
                </a:moveTo>
                <a:lnTo>
                  <a:pt x="1454495" y="0"/>
                </a:lnTo>
                <a:lnTo>
                  <a:pt x="1454495" y="1454495"/>
                </a:lnTo>
                <a:lnTo>
                  <a:pt x="0" y="1454495"/>
                </a:lnTo>
                <a:lnTo>
                  <a:pt x="0" y="0"/>
                </a:lnTo>
                <a:close/>
              </a:path>
            </a:pathLst>
          </a:custGeom>
          <a:blipFill>
            <a:blip r:embed="rId4"/>
            <a:stretch>
              <a:fillRect/>
            </a:stretch>
          </a:blipFill>
        </p:spPr>
      </p:sp>
      <p:sp>
        <p:nvSpPr>
          <p:cNvPr id="5" name="Freeform 5"/>
          <p:cNvSpPr/>
          <p:nvPr/>
        </p:nvSpPr>
        <p:spPr>
          <a:xfrm>
            <a:off x="1349436" y="1680132"/>
            <a:ext cx="8907598" cy="2974336"/>
          </a:xfrm>
          <a:custGeom>
            <a:avLst/>
            <a:gdLst/>
            <a:ahLst/>
            <a:cxnLst/>
            <a:rect l="l" t="t" r="r" b="b"/>
            <a:pathLst>
              <a:path w="8907598" h="2974336">
                <a:moveTo>
                  <a:pt x="0" y="0"/>
                </a:moveTo>
                <a:lnTo>
                  <a:pt x="8907598" y="0"/>
                </a:lnTo>
                <a:lnTo>
                  <a:pt x="8907598" y="2974336"/>
                </a:lnTo>
                <a:lnTo>
                  <a:pt x="0" y="2974336"/>
                </a:lnTo>
                <a:lnTo>
                  <a:pt x="0" y="0"/>
                </a:lnTo>
                <a:close/>
              </a:path>
            </a:pathLst>
          </a:custGeom>
          <a:blipFill>
            <a:blip r:embed="rId5"/>
            <a:stretch>
              <a:fillRect/>
            </a:stretch>
          </a:blipFill>
        </p:spPr>
      </p:sp>
      <p:sp>
        <p:nvSpPr>
          <p:cNvPr id="6" name="Freeform 6"/>
          <p:cNvSpPr/>
          <p:nvPr/>
        </p:nvSpPr>
        <p:spPr>
          <a:xfrm>
            <a:off x="1511592" y="4654468"/>
            <a:ext cx="6028485" cy="1935616"/>
          </a:xfrm>
          <a:custGeom>
            <a:avLst/>
            <a:gdLst/>
            <a:ahLst/>
            <a:cxnLst/>
            <a:rect l="l" t="t" r="r" b="b"/>
            <a:pathLst>
              <a:path w="6028485" h="1935616">
                <a:moveTo>
                  <a:pt x="0" y="0"/>
                </a:moveTo>
                <a:lnTo>
                  <a:pt x="6028484" y="0"/>
                </a:lnTo>
                <a:lnTo>
                  <a:pt x="6028484" y="1935617"/>
                </a:lnTo>
                <a:lnTo>
                  <a:pt x="0" y="1935617"/>
                </a:lnTo>
                <a:lnTo>
                  <a:pt x="0" y="0"/>
                </a:lnTo>
                <a:close/>
              </a:path>
            </a:pathLst>
          </a:custGeom>
          <a:blipFill>
            <a:blip r:embed="rId6"/>
            <a:stretch>
              <a:fillRect/>
            </a:stretch>
          </a:blipFill>
        </p:spPr>
      </p:sp>
      <p:sp>
        <p:nvSpPr>
          <p:cNvPr id="7" name="Freeform 7"/>
          <p:cNvSpPr/>
          <p:nvPr/>
        </p:nvSpPr>
        <p:spPr>
          <a:xfrm>
            <a:off x="5562271" y="7905991"/>
            <a:ext cx="1482820" cy="572317"/>
          </a:xfrm>
          <a:custGeom>
            <a:avLst/>
            <a:gdLst/>
            <a:ahLst/>
            <a:cxnLst/>
            <a:rect l="l" t="t" r="r" b="b"/>
            <a:pathLst>
              <a:path w="1482820" h="572317">
                <a:moveTo>
                  <a:pt x="0" y="0"/>
                </a:moveTo>
                <a:lnTo>
                  <a:pt x="1482820" y="0"/>
                </a:lnTo>
                <a:lnTo>
                  <a:pt x="1482820" y="572317"/>
                </a:lnTo>
                <a:lnTo>
                  <a:pt x="0" y="572317"/>
                </a:lnTo>
                <a:lnTo>
                  <a:pt x="0" y="0"/>
                </a:lnTo>
                <a:close/>
              </a:path>
            </a:pathLst>
          </a:custGeom>
          <a:blipFill>
            <a:blip r:embed="rId7"/>
            <a:stretch>
              <a:fillRect/>
            </a:stretch>
          </a:blipFill>
        </p:spPr>
      </p:sp>
      <p:sp>
        <p:nvSpPr>
          <p:cNvPr id="8" name="Freeform 8"/>
          <p:cNvSpPr/>
          <p:nvPr/>
        </p:nvSpPr>
        <p:spPr>
          <a:xfrm>
            <a:off x="4147854" y="8808243"/>
            <a:ext cx="4802416" cy="1002566"/>
          </a:xfrm>
          <a:custGeom>
            <a:avLst/>
            <a:gdLst/>
            <a:ahLst/>
            <a:cxnLst/>
            <a:rect l="l" t="t" r="r" b="b"/>
            <a:pathLst>
              <a:path w="4802416" h="1002566">
                <a:moveTo>
                  <a:pt x="0" y="0"/>
                </a:moveTo>
                <a:lnTo>
                  <a:pt x="4802416" y="0"/>
                </a:lnTo>
                <a:lnTo>
                  <a:pt x="4802416" y="1002566"/>
                </a:lnTo>
                <a:lnTo>
                  <a:pt x="0" y="1002566"/>
                </a:lnTo>
                <a:lnTo>
                  <a:pt x="0" y="0"/>
                </a:lnTo>
                <a:close/>
              </a:path>
            </a:pathLst>
          </a:custGeom>
          <a:blipFill>
            <a:blip r:embed="rId8"/>
            <a:stretch>
              <a:fillRect/>
            </a:stretch>
          </a:blipFill>
        </p:spPr>
      </p:sp>
      <p:sp>
        <p:nvSpPr>
          <p:cNvPr id="9" name="Freeform 9"/>
          <p:cNvSpPr/>
          <p:nvPr/>
        </p:nvSpPr>
        <p:spPr>
          <a:xfrm>
            <a:off x="10257034" y="1902261"/>
            <a:ext cx="6763664" cy="3720015"/>
          </a:xfrm>
          <a:custGeom>
            <a:avLst/>
            <a:gdLst/>
            <a:ahLst/>
            <a:cxnLst/>
            <a:rect l="l" t="t" r="r" b="b"/>
            <a:pathLst>
              <a:path w="6763664" h="3720015">
                <a:moveTo>
                  <a:pt x="0" y="0"/>
                </a:moveTo>
                <a:lnTo>
                  <a:pt x="6763664" y="0"/>
                </a:lnTo>
                <a:lnTo>
                  <a:pt x="6763664" y="3720015"/>
                </a:lnTo>
                <a:lnTo>
                  <a:pt x="0" y="3720015"/>
                </a:lnTo>
                <a:lnTo>
                  <a:pt x="0" y="0"/>
                </a:lnTo>
                <a:close/>
              </a:path>
            </a:pathLst>
          </a:custGeom>
          <a:blipFill>
            <a:blip r:embed="rId9"/>
            <a:stretch>
              <a:fillRect/>
            </a:stretch>
          </a:blipFill>
        </p:spPr>
      </p:sp>
      <p:sp>
        <p:nvSpPr>
          <p:cNvPr id="10" name="TextBox 10"/>
          <p:cNvSpPr txBox="1"/>
          <p:nvPr/>
        </p:nvSpPr>
        <p:spPr>
          <a:xfrm>
            <a:off x="1511592" y="7092198"/>
            <a:ext cx="12122596" cy="2334070"/>
          </a:xfrm>
          <a:prstGeom prst="rect">
            <a:avLst/>
          </a:prstGeom>
        </p:spPr>
        <p:txBody>
          <a:bodyPr lIns="0" tIns="0" rIns="0" bIns="0" rtlCol="0" anchor="t">
            <a:spAutoFit/>
          </a:bodyPr>
          <a:lstStyle/>
          <a:p>
            <a:pPr marL="481996" lvl="1" indent="-240998" algn="l">
              <a:lnSpc>
                <a:spcPts val="3125"/>
              </a:lnSpc>
              <a:buFont typeface="Arial"/>
              <a:buChar char="•"/>
            </a:pPr>
            <a:r>
              <a:rPr lang="en-US" sz="2232">
                <a:solidFill>
                  <a:srgbClr val="000000"/>
                </a:solidFill>
                <a:latin typeface="Canva Sans"/>
                <a:ea typeface="Canva Sans"/>
                <a:cs typeface="Canva Sans"/>
                <a:sym typeface="Canva Sans"/>
              </a:rPr>
              <a:t>Rotor rotates in same direction as stator rotating magnetic field but at less than synchronous speed.Hence called asynchronous speed.</a:t>
            </a:r>
          </a:p>
          <a:p>
            <a:pPr algn="ctr">
              <a:lnSpc>
                <a:spcPts val="3125"/>
              </a:lnSpc>
            </a:pPr>
            <a:endParaRPr/>
          </a:p>
          <a:p>
            <a:pPr algn="ctr">
              <a:lnSpc>
                <a:spcPts val="3125"/>
              </a:lnSpc>
            </a:pPr>
            <a:r>
              <a:rPr lang="en-US" sz="2232">
                <a:solidFill>
                  <a:srgbClr val="000000"/>
                </a:solidFill>
                <a:latin typeface="Canva Sans"/>
                <a:ea typeface="Canva Sans"/>
                <a:cs typeface="Canva Sans"/>
                <a:sym typeface="Canva Sans"/>
              </a:rPr>
              <a:t>  At synchronous speed:</a:t>
            </a:r>
          </a:p>
          <a:p>
            <a:pPr algn="ctr">
              <a:lnSpc>
                <a:spcPts val="3125"/>
              </a:lnSpc>
            </a:pPr>
            <a:endParaRPr/>
          </a:p>
          <a:p>
            <a:pPr algn="ctr">
              <a:lnSpc>
                <a:spcPts val="3125"/>
              </a:lnSpc>
            </a:pPr>
            <a:endParaRPr/>
          </a:p>
        </p:txBody>
      </p:sp>
      <p:sp>
        <p:nvSpPr>
          <p:cNvPr id="11" name="TextBox 11"/>
          <p:cNvSpPr txBox="1"/>
          <p:nvPr/>
        </p:nvSpPr>
        <p:spPr>
          <a:xfrm>
            <a:off x="1734672" y="6532934"/>
            <a:ext cx="6113927" cy="474489"/>
          </a:xfrm>
          <a:prstGeom prst="rect">
            <a:avLst/>
          </a:prstGeom>
        </p:spPr>
        <p:txBody>
          <a:bodyPr wrap="square" lIns="0" tIns="0" rIns="0" bIns="0" rtlCol="0" anchor="t">
            <a:spAutoFit/>
          </a:bodyPr>
          <a:lstStyle/>
          <a:p>
            <a:pPr algn="ctr">
              <a:lnSpc>
                <a:spcPts val="3740"/>
              </a:lnSpc>
            </a:pPr>
            <a:r>
              <a:rPr lang="en-US" sz="2671" b="1" dirty="0">
                <a:solidFill>
                  <a:srgbClr val="000000"/>
                </a:solidFill>
                <a:latin typeface="Canva Sans Bold"/>
                <a:ea typeface="Canva Sans Bold"/>
                <a:cs typeface="Canva Sans Bold"/>
                <a:sym typeface="Canva Sans Bold"/>
              </a:rPr>
              <a:t>Induction Motor Speed Relations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0"/>
            <a:ext cx="11301259" cy="727248"/>
          </a:xfrm>
          <a:custGeom>
            <a:avLst/>
            <a:gdLst/>
            <a:ahLst/>
            <a:cxnLst/>
            <a:rect l="l" t="t" r="r" b="b"/>
            <a:pathLst>
              <a:path w="11301259" h="727248">
                <a:moveTo>
                  <a:pt x="0" y="0"/>
                </a:moveTo>
                <a:lnTo>
                  <a:pt x="11301258" y="0"/>
                </a:lnTo>
                <a:lnTo>
                  <a:pt x="11301258" y="727248"/>
                </a:lnTo>
                <a:lnTo>
                  <a:pt x="0" y="727248"/>
                </a:lnTo>
                <a:lnTo>
                  <a:pt x="0" y="0"/>
                </a:lnTo>
                <a:close/>
              </a:path>
            </a:pathLst>
          </a:custGeom>
          <a:blipFill>
            <a:blip r:embed="rId2"/>
            <a:stretch>
              <a:fillRect l="-7200" r="-7200"/>
            </a:stretch>
          </a:blipFill>
        </p:spPr>
      </p:sp>
      <p:sp>
        <p:nvSpPr>
          <p:cNvPr id="3" name="Freeform 3"/>
          <p:cNvSpPr/>
          <p:nvPr/>
        </p:nvSpPr>
        <p:spPr>
          <a:xfrm>
            <a:off x="3493371" y="866931"/>
            <a:ext cx="11301259" cy="670326"/>
          </a:xfrm>
          <a:custGeom>
            <a:avLst/>
            <a:gdLst/>
            <a:ahLst/>
            <a:cxnLst/>
            <a:rect l="l" t="t" r="r" b="b"/>
            <a:pathLst>
              <a:path w="11301259" h="670326">
                <a:moveTo>
                  <a:pt x="0" y="0"/>
                </a:moveTo>
                <a:lnTo>
                  <a:pt x="11301258" y="0"/>
                </a:lnTo>
                <a:lnTo>
                  <a:pt x="11301258" y="670326"/>
                </a:lnTo>
                <a:lnTo>
                  <a:pt x="0" y="670326"/>
                </a:lnTo>
                <a:lnTo>
                  <a:pt x="0" y="0"/>
                </a:lnTo>
                <a:close/>
              </a:path>
            </a:pathLst>
          </a:custGeom>
          <a:blipFill>
            <a:blip r:embed="rId3"/>
            <a:stretch>
              <a:fillRect l="-15904" r="-15904"/>
            </a:stretch>
          </a:blipFill>
        </p:spPr>
      </p:sp>
      <p:sp>
        <p:nvSpPr>
          <p:cNvPr id="4" name="Freeform 4"/>
          <p:cNvSpPr/>
          <p:nvPr/>
        </p:nvSpPr>
        <p:spPr>
          <a:xfrm>
            <a:off x="14067382" y="0"/>
            <a:ext cx="1454495" cy="1454495"/>
          </a:xfrm>
          <a:custGeom>
            <a:avLst/>
            <a:gdLst/>
            <a:ahLst/>
            <a:cxnLst/>
            <a:rect l="l" t="t" r="r" b="b"/>
            <a:pathLst>
              <a:path w="1454495" h="1454495">
                <a:moveTo>
                  <a:pt x="0" y="0"/>
                </a:moveTo>
                <a:lnTo>
                  <a:pt x="1454495" y="0"/>
                </a:lnTo>
                <a:lnTo>
                  <a:pt x="1454495" y="1454495"/>
                </a:lnTo>
                <a:lnTo>
                  <a:pt x="0" y="1454495"/>
                </a:lnTo>
                <a:lnTo>
                  <a:pt x="0" y="0"/>
                </a:lnTo>
                <a:close/>
              </a:path>
            </a:pathLst>
          </a:custGeom>
          <a:blipFill>
            <a:blip r:embed="rId4"/>
            <a:stretch>
              <a:fillRect/>
            </a:stretch>
          </a:blipFill>
        </p:spPr>
      </p:sp>
      <p:sp>
        <p:nvSpPr>
          <p:cNvPr id="5" name="Freeform 5"/>
          <p:cNvSpPr/>
          <p:nvPr/>
        </p:nvSpPr>
        <p:spPr>
          <a:xfrm>
            <a:off x="1271463" y="1147226"/>
            <a:ext cx="7147329" cy="3704090"/>
          </a:xfrm>
          <a:custGeom>
            <a:avLst/>
            <a:gdLst/>
            <a:ahLst/>
            <a:cxnLst/>
            <a:rect l="l" t="t" r="r" b="b"/>
            <a:pathLst>
              <a:path w="7147329" h="3704090">
                <a:moveTo>
                  <a:pt x="0" y="0"/>
                </a:moveTo>
                <a:lnTo>
                  <a:pt x="7147329" y="0"/>
                </a:lnTo>
                <a:lnTo>
                  <a:pt x="7147329" y="3704090"/>
                </a:lnTo>
                <a:lnTo>
                  <a:pt x="0" y="3704090"/>
                </a:lnTo>
                <a:lnTo>
                  <a:pt x="0" y="0"/>
                </a:lnTo>
                <a:close/>
              </a:path>
            </a:pathLst>
          </a:custGeom>
          <a:blipFill>
            <a:blip r:embed="rId5"/>
            <a:stretch>
              <a:fillRect b="-1128"/>
            </a:stretch>
          </a:blipFill>
        </p:spPr>
      </p:sp>
      <p:sp>
        <p:nvSpPr>
          <p:cNvPr id="6" name="Freeform 6"/>
          <p:cNvSpPr/>
          <p:nvPr/>
        </p:nvSpPr>
        <p:spPr>
          <a:xfrm>
            <a:off x="1028700" y="5143500"/>
            <a:ext cx="8886748" cy="5143500"/>
          </a:xfrm>
          <a:custGeom>
            <a:avLst/>
            <a:gdLst/>
            <a:ahLst/>
            <a:cxnLst/>
            <a:rect l="l" t="t" r="r" b="b"/>
            <a:pathLst>
              <a:path w="8886748" h="5143500">
                <a:moveTo>
                  <a:pt x="0" y="0"/>
                </a:moveTo>
                <a:lnTo>
                  <a:pt x="8886748" y="0"/>
                </a:lnTo>
                <a:lnTo>
                  <a:pt x="8886748" y="5143500"/>
                </a:lnTo>
                <a:lnTo>
                  <a:pt x="0" y="5143500"/>
                </a:lnTo>
                <a:lnTo>
                  <a:pt x="0" y="0"/>
                </a:lnTo>
                <a:close/>
              </a:path>
            </a:pathLst>
          </a:custGeom>
          <a:blipFill>
            <a:blip r:embed="rId6"/>
            <a:stretch>
              <a:fillRect/>
            </a:stretch>
          </a:blipFill>
        </p:spPr>
      </p:sp>
      <p:sp>
        <p:nvSpPr>
          <p:cNvPr id="7" name="Freeform 7"/>
          <p:cNvSpPr/>
          <p:nvPr/>
        </p:nvSpPr>
        <p:spPr>
          <a:xfrm>
            <a:off x="10557022" y="2641772"/>
            <a:ext cx="3510359" cy="864684"/>
          </a:xfrm>
          <a:custGeom>
            <a:avLst/>
            <a:gdLst/>
            <a:ahLst/>
            <a:cxnLst/>
            <a:rect l="l" t="t" r="r" b="b"/>
            <a:pathLst>
              <a:path w="3510359" h="864684">
                <a:moveTo>
                  <a:pt x="0" y="0"/>
                </a:moveTo>
                <a:lnTo>
                  <a:pt x="3510360" y="0"/>
                </a:lnTo>
                <a:lnTo>
                  <a:pt x="3510360" y="864684"/>
                </a:lnTo>
                <a:lnTo>
                  <a:pt x="0" y="864684"/>
                </a:lnTo>
                <a:lnTo>
                  <a:pt x="0" y="0"/>
                </a:lnTo>
                <a:close/>
              </a:path>
            </a:pathLst>
          </a:custGeom>
          <a:blipFill>
            <a:blip r:embed="rId7"/>
            <a:stretch>
              <a:fillRect/>
            </a:stretch>
          </a:blipFill>
        </p:spPr>
      </p:sp>
      <p:sp>
        <p:nvSpPr>
          <p:cNvPr id="8" name="TextBox 8"/>
          <p:cNvSpPr txBox="1"/>
          <p:nvPr/>
        </p:nvSpPr>
        <p:spPr>
          <a:xfrm>
            <a:off x="11171268" y="1834633"/>
            <a:ext cx="3095485" cy="454714"/>
          </a:xfrm>
          <a:prstGeom prst="rect">
            <a:avLst/>
          </a:prstGeom>
        </p:spPr>
        <p:txBody>
          <a:bodyPr lIns="0" tIns="0" rIns="0" bIns="0" rtlCol="0" anchor="t">
            <a:spAutoFit/>
          </a:bodyPr>
          <a:lstStyle/>
          <a:p>
            <a:pPr algn="ctr">
              <a:lnSpc>
                <a:spcPts val="3655"/>
              </a:lnSpc>
            </a:pPr>
            <a:r>
              <a:rPr lang="en-US" sz="2610" b="1">
                <a:solidFill>
                  <a:srgbClr val="000000"/>
                </a:solidFill>
                <a:latin typeface="Canva Sans Bold"/>
                <a:ea typeface="Canva Sans Bold"/>
                <a:cs typeface="Canva Sans Bold"/>
                <a:sym typeface="Canva Sans Bold"/>
              </a:rPr>
              <a:t>Rotor Induced EMF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0"/>
            <a:ext cx="11301259" cy="727248"/>
          </a:xfrm>
          <a:custGeom>
            <a:avLst/>
            <a:gdLst/>
            <a:ahLst/>
            <a:cxnLst/>
            <a:rect l="l" t="t" r="r" b="b"/>
            <a:pathLst>
              <a:path w="11301259" h="727248">
                <a:moveTo>
                  <a:pt x="0" y="0"/>
                </a:moveTo>
                <a:lnTo>
                  <a:pt x="11301258" y="0"/>
                </a:lnTo>
                <a:lnTo>
                  <a:pt x="11301258" y="727248"/>
                </a:lnTo>
                <a:lnTo>
                  <a:pt x="0" y="727248"/>
                </a:lnTo>
                <a:lnTo>
                  <a:pt x="0" y="0"/>
                </a:lnTo>
                <a:close/>
              </a:path>
            </a:pathLst>
          </a:custGeom>
          <a:blipFill>
            <a:blip r:embed="rId2"/>
            <a:stretch>
              <a:fillRect l="-7200" r="-7200"/>
            </a:stretch>
          </a:blipFill>
        </p:spPr>
      </p:sp>
      <p:sp>
        <p:nvSpPr>
          <p:cNvPr id="3" name="Freeform 3"/>
          <p:cNvSpPr/>
          <p:nvPr/>
        </p:nvSpPr>
        <p:spPr>
          <a:xfrm>
            <a:off x="3493371" y="866931"/>
            <a:ext cx="11301259" cy="670326"/>
          </a:xfrm>
          <a:custGeom>
            <a:avLst/>
            <a:gdLst/>
            <a:ahLst/>
            <a:cxnLst/>
            <a:rect l="l" t="t" r="r" b="b"/>
            <a:pathLst>
              <a:path w="11301259" h="670326">
                <a:moveTo>
                  <a:pt x="0" y="0"/>
                </a:moveTo>
                <a:lnTo>
                  <a:pt x="11301258" y="0"/>
                </a:lnTo>
                <a:lnTo>
                  <a:pt x="11301258" y="670326"/>
                </a:lnTo>
                <a:lnTo>
                  <a:pt x="0" y="670326"/>
                </a:lnTo>
                <a:lnTo>
                  <a:pt x="0" y="0"/>
                </a:lnTo>
                <a:close/>
              </a:path>
            </a:pathLst>
          </a:custGeom>
          <a:blipFill>
            <a:blip r:embed="rId3"/>
            <a:stretch>
              <a:fillRect l="-15904" r="-15904"/>
            </a:stretch>
          </a:blipFill>
        </p:spPr>
      </p:sp>
      <p:sp>
        <p:nvSpPr>
          <p:cNvPr id="4" name="Freeform 4"/>
          <p:cNvSpPr/>
          <p:nvPr/>
        </p:nvSpPr>
        <p:spPr>
          <a:xfrm>
            <a:off x="14067382" y="0"/>
            <a:ext cx="1454495" cy="1454495"/>
          </a:xfrm>
          <a:custGeom>
            <a:avLst/>
            <a:gdLst/>
            <a:ahLst/>
            <a:cxnLst/>
            <a:rect l="l" t="t" r="r" b="b"/>
            <a:pathLst>
              <a:path w="1454495" h="1454495">
                <a:moveTo>
                  <a:pt x="0" y="0"/>
                </a:moveTo>
                <a:lnTo>
                  <a:pt x="1454495" y="0"/>
                </a:lnTo>
                <a:lnTo>
                  <a:pt x="1454495" y="1454495"/>
                </a:lnTo>
                <a:lnTo>
                  <a:pt x="0" y="1454495"/>
                </a:lnTo>
                <a:lnTo>
                  <a:pt x="0" y="0"/>
                </a:lnTo>
                <a:close/>
              </a:path>
            </a:pathLst>
          </a:custGeom>
          <a:blipFill>
            <a:blip r:embed="rId4"/>
            <a:stretch>
              <a:fillRect/>
            </a:stretch>
          </a:blipFill>
        </p:spPr>
      </p:sp>
      <p:sp>
        <p:nvSpPr>
          <p:cNvPr id="5" name="Freeform 5"/>
          <p:cNvSpPr/>
          <p:nvPr/>
        </p:nvSpPr>
        <p:spPr>
          <a:xfrm>
            <a:off x="990600" y="2095500"/>
            <a:ext cx="11126475" cy="5159903"/>
          </a:xfrm>
          <a:custGeom>
            <a:avLst/>
            <a:gdLst/>
            <a:ahLst/>
            <a:cxnLst/>
            <a:rect l="l" t="t" r="r" b="b"/>
            <a:pathLst>
              <a:path w="11126475" h="5159903">
                <a:moveTo>
                  <a:pt x="0" y="0"/>
                </a:moveTo>
                <a:lnTo>
                  <a:pt x="11126475" y="0"/>
                </a:lnTo>
                <a:lnTo>
                  <a:pt x="11126475" y="5159903"/>
                </a:lnTo>
                <a:lnTo>
                  <a:pt x="0" y="5159903"/>
                </a:lnTo>
                <a:lnTo>
                  <a:pt x="0" y="0"/>
                </a:lnTo>
                <a:close/>
              </a:path>
            </a:pathLst>
          </a:custGeom>
          <a:blipFill>
            <a:blip r:embed="rId5"/>
            <a:stretch>
              <a:fillRect/>
            </a:stretch>
          </a:blipFill>
        </p:spPr>
      </p:sp>
      <p:sp>
        <p:nvSpPr>
          <p:cNvPr id="6" name="Freeform 6"/>
          <p:cNvSpPr/>
          <p:nvPr/>
        </p:nvSpPr>
        <p:spPr>
          <a:xfrm>
            <a:off x="1173507" y="7151510"/>
            <a:ext cx="9549496" cy="2973549"/>
          </a:xfrm>
          <a:custGeom>
            <a:avLst/>
            <a:gdLst/>
            <a:ahLst/>
            <a:cxnLst/>
            <a:rect l="l" t="t" r="r" b="b"/>
            <a:pathLst>
              <a:path w="9549496" h="2973549">
                <a:moveTo>
                  <a:pt x="0" y="0"/>
                </a:moveTo>
                <a:lnTo>
                  <a:pt x="9549495" y="0"/>
                </a:lnTo>
                <a:lnTo>
                  <a:pt x="9549495" y="2973550"/>
                </a:lnTo>
                <a:lnTo>
                  <a:pt x="0" y="2973550"/>
                </a:lnTo>
                <a:lnTo>
                  <a:pt x="0" y="0"/>
                </a:lnTo>
                <a:close/>
              </a:path>
            </a:pathLst>
          </a:custGeom>
          <a:blipFill>
            <a:blip r:embed="rId6"/>
            <a:stretch>
              <a:fillRect b="-605"/>
            </a:stretch>
          </a:blipFill>
        </p:spPr>
      </p:sp>
      <p:sp>
        <p:nvSpPr>
          <p:cNvPr id="7" name="TextBox 7"/>
          <p:cNvSpPr txBox="1"/>
          <p:nvPr/>
        </p:nvSpPr>
        <p:spPr>
          <a:xfrm>
            <a:off x="1447800" y="1485900"/>
            <a:ext cx="5181600" cy="526106"/>
          </a:xfrm>
          <a:prstGeom prst="rect">
            <a:avLst/>
          </a:prstGeom>
        </p:spPr>
        <p:txBody>
          <a:bodyPr wrap="square" lIns="0" tIns="0" rIns="0" bIns="0" rtlCol="0" anchor="t">
            <a:spAutoFit/>
          </a:bodyPr>
          <a:lstStyle/>
          <a:p>
            <a:pPr algn="ctr">
              <a:lnSpc>
                <a:spcPts val="4352"/>
              </a:lnSpc>
            </a:pPr>
            <a:r>
              <a:rPr lang="en-US" sz="3108" b="1" dirty="0">
                <a:solidFill>
                  <a:srgbClr val="000000"/>
                </a:solidFill>
                <a:latin typeface="Canva Sans Bold"/>
                <a:ea typeface="Canva Sans Bold"/>
                <a:cs typeface="Canva Sans Bold"/>
                <a:sym typeface="Canva Sans Bold"/>
              </a:rPr>
              <a:t>Rotating Magnetic Field</a:t>
            </a:r>
          </a:p>
        </p:txBody>
      </p:sp>
      <p:sp>
        <p:nvSpPr>
          <p:cNvPr id="8" name="TextBox 8"/>
          <p:cNvSpPr txBox="1"/>
          <p:nvPr/>
        </p:nvSpPr>
        <p:spPr>
          <a:xfrm>
            <a:off x="1497050" y="6482970"/>
            <a:ext cx="3836949" cy="577081"/>
          </a:xfrm>
          <a:prstGeom prst="rect">
            <a:avLst/>
          </a:prstGeom>
        </p:spPr>
        <p:txBody>
          <a:bodyPr wrap="square" lIns="0" tIns="0" rIns="0" bIns="0" rtlCol="0" anchor="t">
            <a:spAutoFit/>
          </a:bodyPr>
          <a:lstStyle/>
          <a:p>
            <a:pPr algn="ctr">
              <a:lnSpc>
                <a:spcPts val="4468"/>
              </a:lnSpc>
            </a:pPr>
            <a:r>
              <a:rPr lang="en-US" sz="3191" b="1" dirty="0">
                <a:solidFill>
                  <a:srgbClr val="000000"/>
                </a:solidFill>
                <a:latin typeface="Canva Sans Bold"/>
                <a:ea typeface="Canva Sans Bold"/>
                <a:cs typeface="Canva Sans Bold"/>
                <a:sym typeface="Canva Sans Bold"/>
              </a:rPr>
              <a:t>Torque Production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0"/>
            <a:ext cx="11301259" cy="727248"/>
          </a:xfrm>
          <a:custGeom>
            <a:avLst/>
            <a:gdLst/>
            <a:ahLst/>
            <a:cxnLst/>
            <a:rect l="l" t="t" r="r" b="b"/>
            <a:pathLst>
              <a:path w="11301259" h="727248">
                <a:moveTo>
                  <a:pt x="0" y="0"/>
                </a:moveTo>
                <a:lnTo>
                  <a:pt x="11301258" y="0"/>
                </a:lnTo>
                <a:lnTo>
                  <a:pt x="11301258" y="727248"/>
                </a:lnTo>
                <a:lnTo>
                  <a:pt x="0" y="727248"/>
                </a:lnTo>
                <a:lnTo>
                  <a:pt x="0" y="0"/>
                </a:lnTo>
                <a:close/>
              </a:path>
            </a:pathLst>
          </a:custGeom>
          <a:blipFill>
            <a:blip r:embed="rId2"/>
            <a:stretch>
              <a:fillRect l="-7200" r="-7200"/>
            </a:stretch>
          </a:blipFill>
        </p:spPr>
      </p:sp>
      <p:sp>
        <p:nvSpPr>
          <p:cNvPr id="3" name="Freeform 3"/>
          <p:cNvSpPr/>
          <p:nvPr/>
        </p:nvSpPr>
        <p:spPr>
          <a:xfrm>
            <a:off x="3493371" y="866931"/>
            <a:ext cx="11301259" cy="670326"/>
          </a:xfrm>
          <a:custGeom>
            <a:avLst/>
            <a:gdLst/>
            <a:ahLst/>
            <a:cxnLst/>
            <a:rect l="l" t="t" r="r" b="b"/>
            <a:pathLst>
              <a:path w="11301259" h="670326">
                <a:moveTo>
                  <a:pt x="0" y="0"/>
                </a:moveTo>
                <a:lnTo>
                  <a:pt x="11301258" y="0"/>
                </a:lnTo>
                <a:lnTo>
                  <a:pt x="11301258" y="670326"/>
                </a:lnTo>
                <a:lnTo>
                  <a:pt x="0" y="670326"/>
                </a:lnTo>
                <a:lnTo>
                  <a:pt x="0" y="0"/>
                </a:lnTo>
                <a:close/>
              </a:path>
            </a:pathLst>
          </a:custGeom>
          <a:blipFill>
            <a:blip r:embed="rId3"/>
            <a:stretch>
              <a:fillRect l="-15904" r="-15904"/>
            </a:stretch>
          </a:blipFill>
        </p:spPr>
      </p:sp>
      <p:sp>
        <p:nvSpPr>
          <p:cNvPr id="4" name="Freeform 4"/>
          <p:cNvSpPr/>
          <p:nvPr/>
        </p:nvSpPr>
        <p:spPr>
          <a:xfrm>
            <a:off x="14067382" y="0"/>
            <a:ext cx="1454495" cy="1454495"/>
          </a:xfrm>
          <a:custGeom>
            <a:avLst/>
            <a:gdLst/>
            <a:ahLst/>
            <a:cxnLst/>
            <a:rect l="l" t="t" r="r" b="b"/>
            <a:pathLst>
              <a:path w="1454495" h="1454495">
                <a:moveTo>
                  <a:pt x="0" y="0"/>
                </a:moveTo>
                <a:lnTo>
                  <a:pt x="1454495" y="0"/>
                </a:lnTo>
                <a:lnTo>
                  <a:pt x="1454495" y="1454495"/>
                </a:lnTo>
                <a:lnTo>
                  <a:pt x="0" y="1454495"/>
                </a:lnTo>
                <a:lnTo>
                  <a:pt x="0" y="0"/>
                </a:lnTo>
                <a:close/>
              </a:path>
            </a:pathLst>
          </a:custGeom>
          <a:blipFill>
            <a:blip r:embed="rId4"/>
            <a:stretch>
              <a:fillRect/>
            </a:stretch>
          </a:blipFill>
        </p:spPr>
      </p:sp>
      <p:sp>
        <p:nvSpPr>
          <p:cNvPr id="5" name="Freeform 5"/>
          <p:cNvSpPr/>
          <p:nvPr/>
        </p:nvSpPr>
        <p:spPr>
          <a:xfrm>
            <a:off x="1342237" y="1680132"/>
            <a:ext cx="7002111" cy="6015898"/>
          </a:xfrm>
          <a:custGeom>
            <a:avLst/>
            <a:gdLst/>
            <a:ahLst/>
            <a:cxnLst/>
            <a:rect l="l" t="t" r="r" b="b"/>
            <a:pathLst>
              <a:path w="7002111" h="6015898">
                <a:moveTo>
                  <a:pt x="0" y="0"/>
                </a:moveTo>
                <a:lnTo>
                  <a:pt x="7002111" y="0"/>
                </a:lnTo>
                <a:lnTo>
                  <a:pt x="7002111" y="6015898"/>
                </a:lnTo>
                <a:lnTo>
                  <a:pt x="0" y="6015898"/>
                </a:lnTo>
                <a:lnTo>
                  <a:pt x="0" y="0"/>
                </a:lnTo>
                <a:close/>
              </a:path>
            </a:pathLst>
          </a:custGeom>
          <a:blipFill>
            <a:blip r:embed="rId5"/>
            <a:stretch>
              <a:fillRect/>
            </a:stretch>
          </a:blipFill>
        </p:spPr>
      </p:sp>
      <p:sp>
        <p:nvSpPr>
          <p:cNvPr id="6" name="Freeform 6"/>
          <p:cNvSpPr/>
          <p:nvPr/>
        </p:nvSpPr>
        <p:spPr>
          <a:xfrm>
            <a:off x="1488995" y="7696030"/>
            <a:ext cx="8286479" cy="2263624"/>
          </a:xfrm>
          <a:custGeom>
            <a:avLst/>
            <a:gdLst/>
            <a:ahLst/>
            <a:cxnLst/>
            <a:rect l="l" t="t" r="r" b="b"/>
            <a:pathLst>
              <a:path w="8286479" h="2263624">
                <a:moveTo>
                  <a:pt x="0" y="0"/>
                </a:moveTo>
                <a:lnTo>
                  <a:pt x="8286479" y="0"/>
                </a:lnTo>
                <a:lnTo>
                  <a:pt x="8286479" y="2263624"/>
                </a:lnTo>
                <a:lnTo>
                  <a:pt x="0" y="2263624"/>
                </a:lnTo>
                <a:lnTo>
                  <a:pt x="0" y="0"/>
                </a:lnTo>
                <a:close/>
              </a:path>
            </a:pathLst>
          </a:custGeom>
          <a:blipFill>
            <a:blip r:embed="rId6"/>
            <a:stretch>
              <a:fillRect/>
            </a:stretch>
          </a:blipFill>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0"/>
            <a:ext cx="11301259" cy="727248"/>
          </a:xfrm>
          <a:custGeom>
            <a:avLst/>
            <a:gdLst/>
            <a:ahLst/>
            <a:cxnLst/>
            <a:rect l="l" t="t" r="r" b="b"/>
            <a:pathLst>
              <a:path w="11301259" h="727248">
                <a:moveTo>
                  <a:pt x="0" y="0"/>
                </a:moveTo>
                <a:lnTo>
                  <a:pt x="11301258" y="0"/>
                </a:lnTo>
                <a:lnTo>
                  <a:pt x="11301258" y="727248"/>
                </a:lnTo>
                <a:lnTo>
                  <a:pt x="0" y="727248"/>
                </a:lnTo>
                <a:lnTo>
                  <a:pt x="0" y="0"/>
                </a:lnTo>
                <a:close/>
              </a:path>
            </a:pathLst>
          </a:custGeom>
          <a:blipFill>
            <a:blip r:embed="rId2"/>
            <a:stretch>
              <a:fillRect l="-7200" r="-7200"/>
            </a:stretch>
          </a:blipFill>
        </p:spPr>
      </p:sp>
      <p:sp>
        <p:nvSpPr>
          <p:cNvPr id="3" name="Freeform 3"/>
          <p:cNvSpPr/>
          <p:nvPr/>
        </p:nvSpPr>
        <p:spPr>
          <a:xfrm>
            <a:off x="3493371" y="866931"/>
            <a:ext cx="11301259" cy="670326"/>
          </a:xfrm>
          <a:custGeom>
            <a:avLst/>
            <a:gdLst/>
            <a:ahLst/>
            <a:cxnLst/>
            <a:rect l="l" t="t" r="r" b="b"/>
            <a:pathLst>
              <a:path w="11301259" h="670326">
                <a:moveTo>
                  <a:pt x="0" y="0"/>
                </a:moveTo>
                <a:lnTo>
                  <a:pt x="11301258" y="0"/>
                </a:lnTo>
                <a:lnTo>
                  <a:pt x="11301258" y="670326"/>
                </a:lnTo>
                <a:lnTo>
                  <a:pt x="0" y="670326"/>
                </a:lnTo>
                <a:lnTo>
                  <a:pt x="0" y="0"/>
                </a:lnTo>
                <a:close/>
              </a:path>
            </a:pathLst>
          </a:custGeom>
          <a:blipFill>
            <a:blip r:embed="rId3"/>
            <a:stretch>
              <a:fillRect l="-15904" r="-15904"/>
            </a:stretch>
          </a:blipFill>
        </p:spPr>
      </p:sp>
      <p:sp>
        <p:nvSpPr>
          <p:cNvPr id="4" name="Freeform 4"/>
          <p:cNvSpPr/>
          <p:nvPr/>
        </p:nvSpPr>
        <p:spPr>
          <a:xfrm>
            <a:off x="14067382" y="0"/>
            <a:ext cx="1454495" cy="1454495"/>
          </a:xfrm>
          <a:custGeom>
            <a:avLst/>
            <a:gdLst/>
            <a:ahLst/>
            <a:cxnLst/>
            <a:rect l="l" t="t" r="r" b="b"/>
            <a:pathLst>
              <a:path w="1454495" h="1454495">
                <a:moveTo>
                  <a:pt x="0" y="0"/>
                </a:moveTo>
                <a:lnTo>
                  <a:pt x="1454495" y="0"/>
                </a:lnTo>
                <a:lnTo>
                  <a:pt x="1454495" y="1454495"/>
                </a:lnTo>
                <a:lnTo>
                  <a:pt x="0" y="1454495"/>
                </a:lnTo>
                <a:lnTo>
                  <a:pt x="0" y="0"/>
                </a:lnTo>
                <a:close/>
              </a:path>
            </a:pathLst>
          </a:custGeom>
          <a:blipFill>
            <a:blip r:embed="rId4"/>
            <a:stretch>
              <a:fillRect/>
            </a:stretch>
          </a:blipFill>
        </p:spPr>
      </p:sp>
      <p:sp>
        <p:nvSpPr>
          <p:cNvPr id="5" name="Freeform 5"/>
          <p:cNvSpPr/>
          <p:nvPr/>
        </p:nvSpPr>
        <p:spPr>
          <a:xfrm>
            <a:off x="857256" y="2082233"/>
            <a:ext cx="8286744" cy="4700350"/>
          </a:xfrm>
          <a:custGeom>
            <a:avLst/>
            <a:gdLst/>
            <a:ahLst/>
            <a:cxnLst/>
            <a:rect l="l" t="t" r="r" b="b"/>
            <a:pathLst>
              <a:path w="8286744" h="4700350">
                <a:moveTo>
                  <a:pt x="0" y="0"/>
                </a:moveTo>
                <a:lnTo>
                  <a:pt x="8286744" y="0"/>
                </a:lnTo>
                <a:lnTo>
                  <a:pt x="8286744" y="4700350"/>
                </a:lnTo>
                <a:lnTo>
                  <a:pt x="0" y="4700350"/>
                </a:lnTo>
                <a:lnTo>
                  <a:pt x="0" y="0"/>
                </a:lnTo>
                <a:close/>
              </a:path>
            </a:pathLst>
          </a:custGeom>
          <a:blipFill>
            <a:blip r:embed="rId5"/>
            <a:stretch>
              <a:fillRect/>
            </a:stretch>
          </a:blipFill>
        </p:spPr>
      </p:sp>
      <p:sp>
        <p:nvSpPr>
          <p:cNvPr id="6" name="Freeform 6"/>
          <p:cNvSpPr/>
          <p:nvPr/>
        </p:nvSpPr>
        <p:spPr>
          <a:xfrm>
            <a:off x="9485173" y="2236617"/>
            <a:ext cx="7774127" cy="4833913"/>
          </a:xfrm>
          <a:custGeom>
            <a:avLst/>
            <a:gdLst/>
            <a:ahLst/>
            <a:cxnLst/>
            <a:rect l="l" t="t" r="r" b="b"/>
            <a:pathLst>
              <a:path w="7774127" h="4833913">
                <a:moveTo>
                  <a:pt x="0" y="0"/>
                </a:moveTo>
                <a:lnTo>
                  <a:pt x="7774127" y="0"/>
                </a:lnTo>
                <a:lnTo>
                  <a:pt x="7774127" y="4833913"/>
                </a:lnTo>
                <a:lnTo>
                  <a:pt x="0" y="4833913"/>
                </a:lnTo>
                <a:lnTo>
                  <a:pt x="0" y="0"/>
                </a:lnTo>
                <a:close/>
              </a:path>
            </a:pathLst>
          </a:custGeom>
          <a:blipFill>
            <a:blip r:embed="rId6"/>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TotalTime>
  <Words>4218</Words>
  <Application>Microsoft Office PowerPoint</Application>
  <PresentationFormat>Custom</PresentationFormat>
  <Paragraphs>494</Paragraphs>
  <Slides>31</Slides>
  <Notes>9</Notes>
  <HiddenSlides>0</HiddenSlides>
  <MMClips>0</MMClips>
  <ScaleCrop>false</ScaleCrop>
  <HeadingPairs>
    <vt:vector size="8" baseType="variant">
      <vt:variant>
        <vt:lpstr>Fonts Used</vt:lpstr>
      </vt:variant>
      <vt:variant>
        <vt:i4>10</vt:i4>
      </vt:variant>
      <vt:variant>
        <vt:lpstr>Theme</vt:lpstr>
      </vt:variant>
      <vt:variant>
        <vt:i4>3</vt:i4>
      </vt:variant>
      <vt:variant>
        <vt:lpstr>Embedded OLE Servers</vt:lpstr>
      </vt:variant>
      <vt:variant>
        <vt:i4>1</vt:i4>
      </vt:variant>
      <vt:variant>
        <vt:lpstr>Slide Titles</vt:lpstr>
      </vt:variant>
      <vt:variant>
        <vt:i4>31</vt:i4>
      </vt:variant>
    </vt:vector>
  </HeadingPairs>
  <TitlesOfParts>
    <vt:vector size="45" baseType="lpstr">
      <vt:lpstr>Courier New</vt:lpstr>
      <vt:lpstr>Canva Sans Bold</vt:lpstr>
      <vt:lpstr>Calibri</vt:lpstr>
      <vt:lpstr>Arial</vt:lpstr>
      <vt:lpstr>Times New Roman</vt:lpstr>
      <vt:lpstr>Times New Roman Bold</vt:lpstr>
      <vt:lpstr>Cambria Math</vt:lpstr>
      <vt:lpstr>Canva Sans</vt:lpstr>
      <vt:lpstr>Wingdings</vt:lpstr>
      <vt:lpstr>Calibri Light</vt:lpstr>
      <vt:lpstr>Office Theme</vt:lpstr>
      <vt:lpstr>Office Theme</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ppt.pptx</dc:title>
  <dc:creator>HP</dc:creator>
  <cp:lastModifiedBy>ABHINAB RATH</cp:lastModifiedBy>
  <cp:revision>8</cp:revision>
  <dcterms:created xsi:type="dcterms:W3CDTF">2006-08-16T00:00:00Z</dcterms:created>
  <dcterms:modified xsi:type="dcterms:W3CDTF">2026-03-23T12:33:40Z</dcterms:modified>
  <dc:identifier>DAG-NdM3uq0</dc:identifier>
</cp:coreProperties>
</file>